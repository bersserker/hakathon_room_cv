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38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OM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22C55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rsserker/hakathon_room_cv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rsserker/hakathon_room_cv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457200"/>
            <a:ext cx="3840480" cy="3840480"/>
          </a:xfrm>
          <a:prstGeom prst="arc">
            <a:avLst/>
          </a:prstGeom>
          <a:solidFill>
            <a:srgbClr val="DBEAFE">
              <a:alpha val="9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14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Room Type Classification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21792" y="14813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Классификация изображений помещений на 20 классов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" y="1993392"/>
            <a:ext cx="3840480" cy="329184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756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Финальная защита | 8 минут pitch + 7 минут Q&amp;A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99339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07568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• PyTorch • ConvNeXt • MLflow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" y="28346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0175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0.7934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86384" y="3456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лучшая модель-кандидат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36941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OOF macro F1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01568" y="28346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0175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3566160" y="3456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классов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6941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схема 0..19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81344" y="28346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30175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45936" y="34564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 ответа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45936" y="36941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+ probability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" y="4736592"/>
            <a:ext cx="10267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Команда: 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Давид Сухашвили</a:t>
            </a: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Алексей Тепляков</a:t>
            </a: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Лина Цаплева</a:t>
            </a: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Дарья Вдовина</a:t>
            </a: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Михаил Калмыков</a:t>
            </a: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Глеб Медведев</a:t>
            </a:r>
            <a:endParaRPr lang="en-US" sz="1400" b="1" dirty="0"/>
          </a:p>
        </p:txBody>
      </p:sp>
      <p:sp>
        <p:nvSpPr>
          <p:cNvPr id="23" name="Text 21">
            <a:hlinkClick r:id="rId3"/>
          </p:cNvPr>
          <p:cNvSpPr/>
          <p:nvPr/>
        </p:nvSpPr>
        <p:spPr>
          <a:xfrm>
            <a:off x="621792" y="523036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Репозиторий: https://github.com/Bersserker/hakathon_room_cv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1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Бизнес-контекст и задача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заказчик получает от автоматической классификации помещений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9903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Боль сейчас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1764792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учная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проверка и разметка объявлений занимает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время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шибки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в типах комнат ухудшают фильтры и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изуально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близкие классы путаются даже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человеком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исбаланс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классов усложняет стабильную автоматизацию.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7408" y="12344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8576" y="139903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ML-решение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09160" y="1764792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 входе - фотография помещения или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объекта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одель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возвращает ID класса, название и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вероятности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 помогает использовать модель как подсказку для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модерации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воспроизводим: данные, обучение, инференс, артефакты.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0456" y="123444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21624" y="139903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Бизнес-эффект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22208" y="1764792"/>
            <a:ext cx="288036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скорение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обработки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объявлений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олее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точные фильтры и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рекомендации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ост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качества данных для аналитики и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модерации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снова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для полуавтоматической проверки карточек.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2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49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Как решение работает в продукте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фотографии объявления до результата для модерации, поиска и аналитики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Фото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объявления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12848" y="2148840"/>
            <a:ext cx="48463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0" y="18288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512×512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16552" y="2148840"/>
            <a:ext cx="47548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37760" y="182880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ConvNeXt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84848" y="2148840"/>
            <a:ext cx="48463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18288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D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79408" y="2148840"/>
            <a:ext cx="484632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09760" y="182880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Модерация 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поиск / API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3246120"/>
            <a:ext cx="101498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Выход модели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926080" y="347472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class_id, class_name, probability, top_k }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50208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Режим внедрения: сначала decision support, затем автоматизация для уверенных предсказаний</a:t>
            </a: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3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6191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Данные и сложности классификации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macro F1 выбран как главная метрика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173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96112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</a:t>
            </a:r>
            <a:r>
              <a:rPr lang="en-US" sz="1400" b="1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лассов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в схеме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0939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0..19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84448" y="12344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4173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749040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</a:t>
            </a:r>
            <a:r>
              <a:rPr lang="en-US" sz="1400" b="1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сновной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20939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фото помещения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37376" y="12344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4173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C489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macro F1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601968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</a:t>
            </a:r>
            <a:r>
              <a:rPr lang="en-US" sz="1400" b="1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лавная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метрика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01968" y="20939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устойчива к дисбалансу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90304" y="1234440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54896" y="141732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Top-K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454896" y="18562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</a:t>
            </a:r>
            <a:r>
              <a:rPr lang="en-US" sz="1400" b="1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ложные</a:t>
            </a: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зоны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54896" y="209397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похожие классы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2907792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07238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Основные риски данных</a:t>
            </a:r>
            <a:endParaRPr lang="en-US" u="sng" dirty="0"/>
          </a:p>
        </p:txBody>
      </p:sp>
      <p:sp>
        <p:nvSpPr>
          <p:cNvPr id="22" name="Text 20"/>
          <p:cNvSpPr/>
          <p:nvPr/>
        </p:nvSpPr>
        <p:spPr>
          <a:xfrm>
            <a:off x="1033272" y="3438144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исбаланс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по классам;</a:t>
            </a: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азное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качество и ракурсы фотографий;</a:t>
            </a: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охожие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визуальные признаки между комнатами;</a:t>
            </a: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лассы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“не ясно” и “комната без мебели”.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98848" y="2907792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307238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сделали</a:t>
            </a:r>
            <a:endParaRPr lang="en-US" u="sng" dirty="0"/>
          </a:p>
        </p:txBody>
      </p:sp>
      <p:sp>
        <p:nvSpPr>
          <p:cNvPr id="25" name="Text 23"/>
          <p:cNvSpPr/>
          <p:nvPr/>
        </p:nvSpPr>
        <p:spPr>
          <a:xfrm>
            <a:off x="4800600" y="3438144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и аудит файлов;</a:t>
            </a: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иксированные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split-ы / folds;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sampler;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Focal Loss для сложных и редких классов.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66176" y="2907792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7344" y="3072384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u="sng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macro F1</a:t>
            </a:r>
            <a:endParaRPr lang="en-US" u="sng" dirty="0"/>
          </a:p>
        </p:txBody>
      </p:sp>
      <p:sp>
        <p:nvSpPr>
          <p:cNvPr id="28" name="Text 26"/>
          <p:cNvSpPr/>
          <p:nvPr/>
        </p:nvSpPr>
        <p:spPr>
          <a:xfrm>
            <a:off x="8567928" y="3438144"/>
            <a:ext cx="2651760" cy="1691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может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скрыть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ровалы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на редких классах;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F1 усредняет качество по классам;</a:t>
            </a: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учше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отражает качество для бизнес-категорий.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4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Этапы работы и принятые решения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Путь от сырого датасета до воспроизводимого inference-пайплайна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audit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1261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manifest, hash, проверка путей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2331720"/>
            <a:ext cx="3200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42032" y="141732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1572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06624" y="19202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strategy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06624" y="2331720"/>
            <a:ext cx="1261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validation / shadow holdout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9664" y="2331720"/>
            <a:ext cx="3200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43984" y="141732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D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1572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08576" y="19202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608576" y="2331720"/>
            <a:ext cx="1261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Dataset, transforms, loss, sampler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71616" y="2331720"/>
            <a:ext cx="3200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45936" y="141732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1572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0528" y="19202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10528" y="2331720"/>
            <a:ext cx="1261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MLflow: params, tags, metrics, artifacts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73568" y="2331720"/>
            <a:ext cx="3200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47888" y="141732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1572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0" y="19202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412480" y="2331720"/>
            <a:ext cx="1261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OOF, shadow predictions, reports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75520" y="2331720"/>
            <a:ext cx="3200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49840" y="141732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D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0" y="1572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314432" y="192024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10314432" y="2331720"/>
            <a:ext cx="12618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+ release config + demo/API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0690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4233672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Ключевое инженерное решение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24128" y="4599432"/>
            <a:ext cx="462686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делать “одноразовый notebook-only” результат: весь pipeline вынесен в скрипты, конфиги, MLflow-логирование и release config для инференса.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55080" y="406908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4233672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это даёт заказчику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556248" y="4599432"/>
            <a:ext cx="462686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 можно повторить, проверить, дообучить на новых данных и развернуть как API/demo без ручного восстановления эксперимента.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5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Финальная модель и rationale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выбран тяжёлый ConvNeXt pipeline для финального решения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3440" y="153059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Финальная конфигурация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1984248"/>
            <a:ext cx="292608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Backbone: ConvNeXt XLarge;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size: 512×512;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Loss: Focal Loss;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Sampler: balanced sampler;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stopping;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 + gradient checkpointing</a:t>
            </a: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39903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так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36592" y="1982755"/>
            <a:ext cx="292608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ольшая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модель лучше извлекает визуальные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детали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512×512 сохраняет больше признаков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интерьера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Focal Loss помогает фокусироваться на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сложных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ru-RU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имерах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sampler снижает перекос в сторону частых классов.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3154680" cy="4434840"/>
          </a:xfrm>
          <a:prstGeom prst="roundRect">
            <a:avLst>
              <a:gd name="adj" fmla="val 2319"/>
            </a:avLst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5048" y="139903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C48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Контроль качества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85632" y="1984248"/>
            <a:ext cx="265176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алидация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на folds;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OOF-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предсказания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Shadow holdout;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 для параметров и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метрик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config для воспроизводимого inference.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6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Результаты экспериментов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#1 выбран как основной кандидат по OOF macro F1</a:t>
            </a:r>
            <a:endParaRPr lang="en-US" sz="1400" dirty="0"/>
          </a:p>
        </p:txBody>
      </p:sp>
      <p:pic>
        <p:nvPicPr>
          <p:cNvPr id="4" name="Image 0" descr="/mnt/data/room_cv_assets/macro_f1_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15568"/>
            <a:ext cx="690372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298448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82712" y="148132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0.7934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982712" y="192024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best_val_macro_f1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82712" y="2157984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#1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18120" y="2670048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82712" y="285292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0.7934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982712" y="329184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final_oof_macro_f1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82712" y="3529584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#1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18120" y="4041648"/>
            <a:ext cx="2560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82712" y="422452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0.8024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982712" y="466344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shadow accuracy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82712" y="4901184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#5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77240" y="5257799"/>
            <a:ext cx="10652760" cy="1031033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8408" y="5422392"/>
            <a:ext cx="10250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78408" y="5788152"/>
            <a:ext cx="10250424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#1 лучше по целевой метрике macro F1 на OOF. Run #5 показывает лучшую accuracy на shadow, но более низкий macro F1 - это сигнал возможного смещения в сторону частых классов.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7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92608"/>
            <a:ext cx="113376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Анализ качества: accuracy недостаточно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финальный выбор делаем по macro F1, а не только по accuracy</a:t>
            </a:r>
            <a:endParaRPr lang="en-US" sz="1400" dirty="0"/>
          </a:p>
        </p:txBody>
      </p:sp>
      <p:pic>
        <p:nvPicPr>
          <p:cNvPr id="4" name="Image 0" descr="/mnt/data/room_cv_assets/shadow_accuracy_vs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603504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59168" y="1234440"/>
            <a:ext cx="4389120" cy="1655064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60336" y="1399032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Интерпретация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260336" y="1764792"/>
            <a:ext cx="3986784" cy="1124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shadow holdout Run #5 даёт максимальную accuracy, но не лучший macro F1. Для продуктовой классификации важно не только хорошо угадывать частые классы, но и сохранять качество на редких категориях.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059168" y="2944368"/>
            <a:ext cx="4389120" cy="2148840"/>
          </a:xfrm>
          <a:prstGeom prst="roundRect">
            <a:avLst>
              <a:gd name="adj" fmla="val 3404"/>
            </a:avLst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0336" y="310896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48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Типовые зоны ошибок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360920" y="3474720"/>
            <a:ext cx="388620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спальня / гостиная /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студия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кухня /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кухня-гостиная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гардеробная / кладовая / постирочная;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ванная / совмещённый санузел;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неясные фото и комнаты без мебели.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8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199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Прототип и production-интерфейс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Модель подготовлена к demo-режиму и API-интеграции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337560" cy="4526280"/>
          </a:xfrm>
          <a:prstGeom prst="roundRect">
            <a:avLst>
              <a:gd name="adj" fmla="val 2192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30759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673352"/>
            <a:ext cx="283464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Gradio demo для ручной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агрузка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изображения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изуальный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просмотр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предсказания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добно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для защиты и внутреннего QA</a:t>
            </a: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434840" y="1143000"/>
            <a:ext cx="3337560" cy="4526280"/>
          </a:xfrm>
          <a:prstGeom prst="roundRect">
            <a:avLst>
              <a:gd name="adj" fmla="val 2192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30759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36592" y="1673352"/>
            <a:ext cx="283464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/predict;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Multipart/form-data image;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Response: class_id, class_name, probability,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top_k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RoomPredictor как единая inference-обёртка.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1143000"/>
            <a:ext cx="3154680" cy="4526280"/>
          </a:xfrm>
          <a:prstGeom prst="roundRect">
            <a:avLst>
              <a:gd name="adj" fmla="val 231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389888"/>
            <a:ext cx="2791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JSON ответа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5048" y="1874520"/>
            <a:ext cx="269748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"class_id": 3,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"class_name": "kitchen",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"probability": 0.87,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"top_k": 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{"kitchen": 0.87},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{"living_room": 0.08},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{"studio": 0.03}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9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92608"/>
            <a:ext cx="11496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Воспроизводимость и материалы проекта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заказчик может проверить после защиты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36441"/>
              </p:ext>
            </p:extLst>
          </p:nvPr>
        </p:nvGraphicFramePr>
        <p:xfrm>
          <a:off x="640080" y="1234440"/>
          <a:ext cx="10927080" cy="3200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Блок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Где лежит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Что содержит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Код проекта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GitHub repo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github.com/Bersserker/hakathon_room_cv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Документация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docs/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ход работы, MLflow, pipeline decisions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Отчёты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reports/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метрики, аудит схемы, финальные результаты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Эксперименты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mlflow_runs.csv / mlruns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параметры, метрики, артефакты запусков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demo/app.py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локальный запуск Gradio demo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Release</a:t>
                      </a:r>
                      <a:endParaRPr lang="en-US" sz="16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configs/release/rc1.yaml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конфиг финального инференса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507492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3">
            <a:hlinkClick r:id="rId3"/>
          </p:cNvPr>
          <p:cNvSpPr/>
          <p:nvPr/>
        </p:nvSpPr>
        <p:spPr>
          <a:xfrm>
            <a:off x="914400" y="5349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Главная ссылка: https://github.com/Bersserker/hakathon_room_cv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3429" y="6463315"/>
            <a:ext cx="989411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10</a:t>
            </a:fld>
            <a:r>
              <a:rPr lang="en-US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Внедрение и бизнес-метрики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перевести ML-результат в продуктовую пользу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39903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MVP-режим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764792"/>
            <a:ext cx="2926080" cy="3703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спользовать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модель как подсказку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модератору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втоматизировать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только high-confidence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предсказания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огировать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top-k и feedback;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собирать ошибки для дообучения.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39903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для заказчика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36592" y="1764792"/>
            <a:ext cx="2926080" cy="3703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окращение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времени ручной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разметки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оля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карточек с корректным типом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помещения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нижение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числа ручных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исправлений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F1 по новым данным;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при заданном confidence threshold.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3154680" cy="4343400"/>
          </a:xfrm>
          <a:prstGeom prst="roundRect">
            <a:avLst>
              <a:gd name="adj" fmla="val 2319"/>
            </a:avLst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5048" y="1399032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C48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Следующие шаги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85632" y="1764792"/>
            <a:ext cx="2651760" cy="3703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обавить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confusion matrix в регулярный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отчёт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астроить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active learning для сложных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классов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алибровать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вероятности;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добавить мониторинг drift;</a:t>
            </a:r>
            <a:b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ровести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A/B или offline impact analysis</a:t>
            </a:r>
            <a:r>
              <a:rPr lang="en-US" sz="10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64808"/>
            <a:ext cx="955448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11</a:t>
            </a:fld>
            <a:r>
              <a:rPr lang="en-US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742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Команда, вклад и формат защиты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спикер, централизованная стратегия ответов на вопросы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382855"/>
              </p:ext>
            </p:extLst>
          </p:nvPr>
        </p:nvGraphicFramePr>
        <p:xfrm>
          <a:off x="594360" y="1143000"/>
          <a:ext cx="11018520" cy="31699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Участник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Роль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Вклад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Давид Сухашвили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Lead / ML pipeline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архитектура pipeline, финальная модель, интеграция результатов, защита и Q&amp;A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Алексей Тепляков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/ EDA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аудит данных, manifest, анализ классов и проблем качества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Лина Цаплева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Experiments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подготовка конфигов, запуск экспериментов, фиксация параметров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Дарья Вдовина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Evaluation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метрики, OOF/shadow evaluation, интерпретация результатов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Михаил Калмыков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Inference / API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RoomPredictor, release config, API/Docker направление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Глеб Медведев</a:t>
                      </a:r>
                      <a:endParaRPr lang="en-US" sz="140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Docs / Demo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документация, demo-сценарий, презентационные материалы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" y="5349240"/>
            <a:ext cx="5074920" cy="939592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5513832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 выступления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78408" y="5879592"/>
            <a:ext cx="4672584" cy="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спикер: Давид. Структура pitch рассчитана на 8 минут.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5349239"/>
            <a:ext cx="5074920" cy="939593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4808" y="5513832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64808" y="5879592"/>
            <a:ext cx="4672584" cy="18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Давид отвечает за все вопросы; при необходимости ссылается на блоки: данные, модель, метрики, API, docs.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64808"/>
            <a:ext cx="955448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12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Итог: что готово к финальной защите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 закрывает бизнес-задачу и имеет воспроизводимый ML/CV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5331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Готово сейчас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1832" y="1719072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атасет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проверен через manifest и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аудит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бучение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через fold pipeline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реализовано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ксперименты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логируются в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MLflow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OOF/shadow predictions 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экспортируются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инальная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модель выбрана по macro F1;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demo/API направление подготовлено.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135331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Финальный результат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11112" y="1719072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сновной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кандидат: ConvNeXt XLarge 512;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Focal Loss + balanced sampler;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Final_oof_macro_f1 ≈ 0.7934;</a:t>
            </a:r>
            <a:b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sz="1400" dirty="0"/>
          </a:p>
          <a:p>
            <a:r>
              <a:rPr lang="ru-RU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</a:t>
            </a:r>
            <a:r>
              <a:rPr lang="en-US" sz="14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ешение</a:t>
            </a: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подходит как помощник модерации и основа для product integration.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80060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Ключевой тезис для заказчика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5020056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Мы собрали не только модель, а воспроизводимый путь до внедрения: данные → обучение → оценка → артефакты → demo/API.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60624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Спасибо! Готовы к вопросам.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Type Classification | финальная защита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3429" y="6464808"/>
            <a:ext cx="989411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2400" b="0" smtClean="0"/>
              <a:t>13</a:t>
            </a:fld>
            <a:r>
              <a:rPr lang="ru-RU" sz="2400" b="0" dirty="0"/>
              <a:t>/13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1542</Words>
  <Application>Microsoft Office PowerPoint</Application>
  <PresentationFormat>Широкоэкранный</PresentationFormat>
  <Paragraphs>291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Hackathon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 Type Classification - финальная защита</dc:title>
  <dc:subject>Room Type Classification final defense</dc:subject>
  <dc:creator>David Zigrid / ChatGPT</dc:creator>
  <cp:lastModifiedBy>Калмыков Михаил</cp:lastModifiedBy>
  <cp:revision>17</cp:revision>
  <dcterms:created xsi:type="dcterms:W3CDTF">2026-05-12T17:08:19Z</dcterms:created>
  <dcterms:modified xsi:type="dcterms:W3CDTF">2026-05-13T13:40:25Z</dcterms:modified>
</cp:coreProperties>
</file>