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 type="screen4x3"/>
  <p:notesSz cx="12192000" cy="68580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 bwMode="auto">
          <a:xfrm>
            <a:off x="0" y="-1762125"/>
            <a:ext cx="12811125" cy="8620125"/>
            <a:chOff x="0" y="-1762125"/>
            <a:chExt cx="12811125" cy="8620125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76200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57999">
                  <a:srgbClr val="1565C0"/>
                </a:gs>
                <a:gs pos="100000">
                  <a:srgbClr val="00A6D6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 bwMode="auto">
            <a:xfrm>
              <a:off x="6524625" y="-1762125"/>
              <a:ext cx="6286500" cy="6286500"/>
            </a:xfrm>
            <a:prstGeom prst="ellipse">
              <a:avLst/>
            </a:prstGeom>
            <a:gradFill>
              <a:gsLst>
                <a:gs pos="0">
                  <a:srgbClr val="00A6D6">
                    <a:alpha val="16000"/>
                  </a:srgbClr>
                </a:gs>
                <a:gs pos="100000">
                  <a:srgbClr val="00A6D6">
                    <a:alpha val="0"/>
                  </a:srgbClr>
                </a:gs>
              </a:gsLst>
              <a:path path="circle"/>
            </a:gradFill>
            <a:ln>
              <a:noFill/>
            </a:ln>
          </p:spPr>
        </p:sp>
        <p:sp>
          <p:nvSpPr>
            <p:cNvPr id="5" name="Freeform 5"/>
            <p:cNvSpPr/>
            <p:nvPr/>
          </p:nvSpPr>
          <p:spPr bwMode="auto">
            <a:xfrm>
              <a:off x="7810500" y="762000"/>
              <a:ext cx="3429000" cy="4714875"/>
            </a:xfrm>
            <a:custGeom>
              <a:avLst/>
              <a:gdLst/>
              <a:ahLst/>
              <a:cxnLst/>
              <a:rect l="l" t="t" r="r" b="b"/>
              <a:pathLst>
                <a:path w="3429000" h="4714875" fill="norm" stroke="1" extrusionOk="0">
                  <a:moveTo>
                    <a:pt x="0" y="666750"/>
                  </a:moveTo>
                  <a:lnTo>
                    <a:pt x="1714500" y="0"/>
                  </a:lnTo>
                  <a:lnTo>
                    <a:pt x="3429000" y="666750"/>
                  </a:lnTo>
                  <a:lnTo>
                    <a:pt x="3429000" y="4714875"/>
                  </a:lnTo>
                  <a:lnTo>
                    <a:pt x="0" y="471487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D8E1EA"/>
              </a:solidFill>
            </a:ln>
          </p:spPr>
        </p:sp>
        <p:sp>
          <p:nvSpPr>
            <p:cNvPr id="6" name="Freeform 6"/>
            <p:cNvSpPr/>
            <p:nvPr/>
          </p:nvSpPr>
          <p:spPr bwMode="auto">
            <a:xfrm>
              <a:off x="8239125" y="1952625"/>
              <a:ext cx="857250" cy="857250"/>
            </a:xfrm>
            <a:custGeom>
              <a:avLst/>
              <a:gdLst/>
              <a:ahLst/>
              <a:cxnLst/>
              <a:rect l="l" t="t" r="r" b="b"/>
              <a:pathLst>
                <a:path w="857250" h="857250" fill="norm" stroke="1" extrusionOk="0">
                  <a:moveTo>
                    <a:pt x="0" y="0"/>
                  </a:moveTo>
                  <a:lnTo>
                    <a:pt x="857250" y="0"/>
                  </a:lnTo>
                  <a:lnTo>
                    <a:pt x="857250" y="857250"/>
                  </a:lnTo>
                  <a:lnTo>
                    <a:pt x="0" y="857250"/>
                  </a:lnTo>
                  <a:close/>
                </a:path>
              </a:pathLst>
            </a:custGeom>
            <a:solidFill>
              <a:srgbClr val="EAF3FB"/>
            </a:solidFill>
            <a:ln w="19050">
              <a:solidFill>
                <a:srgbClr val="D8E1EA"/>
              </a:solidFill>
            </a:ln>
          </p:spPr>
        </p:sp>
        <p:sp>
          <p:nvSpPr>
            <p:cNvPr id="7" name="Freeform 7"/>
            <p:cNvSpPr/>
            <p:nvPr/>
          </p:nvSpPr>
          <p:spPr bwMode="auto">
            <a:xfrm>
              <a:off x="9525000" y="1952625"/>
              <a:ext cx="857250" cy="857250"/>
            </a:xfrm>
            <a:custGeom>
              <a:avLst/>
              <a:gdLst/>
              <a:ahLst/>
              <a:cxnLst/>
              <a:rect l="l" t="t" r="r" b="b"/>
              <a:pathLst>
                <a:path w="857250" h="857250" fill="norm" stroke="1" extrusionOk="0">
                  <a:moveTo>
                    <a:pt x="0" y="0"/>
                  </a:moveTo>
                  <a:lnTo>
                    <a:pt x="857250" y="0"/>
                  </a:lnTo>
                  <a:lnTo>
                    <a:pt x="857250" y="857250"/>
                  </a:lnTo>
                  <a:lnTo>
                    <a:pt x="0" y="857250"/>
                  </a:lnTo>
                  <a:close/>
                </a:path>
              </a:pathLst>
            </a:custGeom>
            <a:solidFill>
              <a:srgbClr val="EAF3FB"/>
            </a:solidFill>
            <a:ln w="19050">
              <a:solidFill>
                <a:srgbClr val="D8E1EA"/>
              </a:solidFill>
            </a:ln>
          </p:spPr>
        </p:sp>
        <p:sp>
          <p:nvSpPr>
            <p:cNvPr id="8" name="Freeform 8"/>
            <p:cNvSpPr/>
            <p:nvPr/>
          </p:nvSpPr>
          <p:spPr bwMode="auto">
            <a:xfrm>
              <a:off x="8239125" y="3238500"/>
              <a:ext cx="857250" cy="1095375"/>
            </a:xfrm>
            <a:custGeom>
              <a:avLst/>
              <a:gdLst/>
              <a:ahLst/>
              <a:cxnLst/>
              <a:rect l="l" t="t" r="r" b="b"/>
              <a:pathLst>
                <a:path w="857250" h="1095375" fill="norm" stroke="1" extrusionOk="0">
                  <a:moveTo>
                    <a:pt x="0" y="0"/>
                  </a:moveTo>
                  <a:lnTo>
                    <a:pt x="857250" y="0"/>
                  </a:lnTo>
                  <a:lnTo>
                    <a:pt x="857250" y="1095375"/>
                  </a:lnTo>
                  <a:lnTo>
                    <a:pt x="0" y="1095375"/>
                  </a:lnTo>
                  <a:close/>
                </a:path>
              </a:pathLst>
            </a:custGeom>
            <a:solidFill>
              <a:srgbClr val="F8FAFC"/>
            </a:solidFill>
            <a:ln w="19050">
              <a:solidFill>
                <a:srgbClr val="D8E1EA"/>
              </a:solidFill>
            </a:ln>
          </p:spPr>
        </p:sp>
        <p:sp>
          <p:nvSpPr>
            <p:cNvPr id="9" name="Freeform 9"/>
            <p:cNvSpPr/>
            <p:nvPr/>
          </p:nvSpPr>
          <p:spPr bwMode="auto">
            <a:xfrm>
              <a:off x="9525000" y="3238500"/>
              <a:ext cx="857250" cy="1095375"/>
            </a:xfrm>
            <a:custGeom>
              <a:avLst/>
              <a:gdLst/>
              <a:ahLst/>
              <a:cxnLst/>
              <a:rect l="l" t="t" r="r" b="b"/>
              <a:pathLst>
                <a:path w="857250" h="1095375" fill="norm" stroke="1" extrusionOk="0">
                  <a:moveTo>
                    <a:pt x="0" y="0"/>
                  </a:moveTo>
                  <a:lnTo>
                    <a:pt x="857250" y="0"/>
                  </a:lnTo>
                  <a:lnTo>
                    <a:pt x="857250" y="1095375"/>
                  </a:lnTo>
                  <a:lnTo>
                    <a:pt x="0" y="1095375"/>
                  </a:lnTo>
                  <a:close/>
                </a:path>
              </a:pathLst>
            </a:custGeom>
            <a:solidFill>
              <a:srgbClr val="F8FAFC"/>
            </a:solidFill>
            <a:ln w="19050">
              <a:solidFill>
                <a:srgbClr val="D8E1EA"/>
              </a:solidFill>
            </a:ln>
          </p:spPr>
        </p:sp>
        <p:sp>
          <p:nvSpPr>
            <p:cNvPr id="10" name="Freeform 10"/>
            <p:cNvSpPr/>
            <p:nvPr/>
          </p:nvSpPr>
          <p:spPr bwMode="auto">
            <a:xfrm>
              <a:off x="10668000" y="2000250"/>
              <a:ext cx="857250" cy="2476500"/>
            </a:xfrm>
            <a:custGeom>
              <a:avLst/>
              <a:gdLst/>
              <a:ahLst/>
              <a:cxnLst/>
              <a:rect l="l" t="t" r="r" b="b"/>
              <a:pathLst>
                <a:path w="857250" h="2476500" fill="norm" stroke="1" extrusionOk="0">
                  <a:moveTo>
                    <a:pt x="0" y="0"/>
                  </a:moveTo>
                  <a:cubicBezTo>
                    <a:pt x="857250" y="333375"/>
                    <a:pt x="857250" y="2095500"/>
                    <a:pt x="0" y="2476500"/>
                  </a:cubicBezTo>
                </a:path>
              </a:pathLst>
            </a:custGeom>
            <a:noFill/>
            <a:ln w="28575">
              <a:solidFill>
                <a:srgbClr val="1565C0">
                  <a:alpha val="18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 bwMode="auto">
            <a:xfrm>
              <a:off x="10601325" y="1933575"/>
              <a:ext cx="133350" cy="133350"/>
            </a:xfrm>
            <a:prstGeom prst="ellipse">
              <a:avLst/>
            </a:prstGeom>
            <a:solidFill>
              <a:srgbClr val="1565C0">
                <a:alpha val="22000"/>
              </a:srgbClr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 bwMode="auto">
            <a:xfrm>
              <a:off x="11458575" y="3171825"/>
              <a:ext cx="133350" cy="133350"/>
            </a:xfrm>
            <a:prstGeom prst="ellipse">
              <a:avLst/>
            </a:prstGeom>
            <a:solidFill>
              <a:srgbClr val="00A6D6">
                <a:alpha val="260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 bwMode="auto">
            <a:xfrm>
              <a:off x="10601325" y="4410075"/>
              <a:ext cx="133350" cy="133350"/>
            </a:xfrm>
            <a:prstGeom prst="ellipse">
              <a:avLst/>
            </a:prstGeom>
            <a:solidFill>
              <a:srgbClr val="1565C0">
                <a:alpha val="22000"/>
              </a:srgbClr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 bwMode="auto">
          <a:xfrm>
            <a:off x="470535" y="990600"/>
            <a:ext cx="8096226" cy="4388644"/>
            <a:chOff x="470535" y="990600"/>
            <a:chExt cx="8096226" cy="4388644"/>
          </a:xfrm>
        </p:grpSpPr>
        <p:sp>
          <p:nvSpPr>
            <p:cNvPr id="15" name="Rectangle 15"/>
            <p:cNvSpPr/>
            <p:nvPr/>
          </p:nvSpPr>
          <p:spPr bwMode="auto">
            <a:xfrm>
              <a:off x="533400" y="990600"/>
              <a:ext cx="1352550" cy="304800"/>
            </a:xfrm>
            <a:prstGeom prst="roundRect">
              <a:avLst>
                <a:gd name="adj" fmla="val 50000"/>
              </a:avLst>
            </a:prstGeom>
            <a:solidFill>
              <a:srgbClr val="EAF3FB"/>
            </a:solidFill>
            <a:ln w="9525">
              <a:solidFill>
                <a:srgbClr val="D8E1EA"/>
              </a:solidFill>
            </a:ln>
          </p:spPr>
        </p:sp>
        <p:sp>
          <p:nvSpPr>
            <p:cNvPr id="16" name="TextBox 16"/>
            <p:cNvSpPr txBox="1"/>
            <p:nvPr/>
          </p:nvSpPr>
          <p:spPr bwMode="auto">
            <a:xfrm>
              <a:off x="729615" y="1086802"/>
              <a:ext cx="10974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050" b="1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FINAL DEFENSE</a:t>
              </a:r>
              <a:endParaRPr/>
            </a:p>
          </p:txBody>
        </p:sp>
        <p:sp>
          <p:nvSpPr>
            <p:cNvPr id="17" name="TextBox 17"/>
            <p:cNvSpPr txBox="1"/>
            <p:nvPr/>
          </p:nvSpPr>
          <p:spPr bwMode="auto">
            <a:xfrm>
              <a:off x="470535" y="1580198"/>
              <a:ext cx="5553258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4950" b="1">
                  <a:solidFill>
                    <a:srgbClr val="0F2A44"/>
                  </a:solidFill>
                  <a:latin typeface="Georgia"/>
                  <a:ea typeface="SimSun"/>
                  <a:cs typeface="Georgia"/>
                </a:rPr>
                <a:t>Классификация</a:t>
              </a:r>
              <a:endParaRPr/>
            </a:p>
          </p:txBody>
        </p:sp>
        <p:sp>
          <p:nvSpPr>
            <p:cNvPr id="18" name="TextBox 18"/>
            <p:cNvSpPr txBox="1"/>
            <p:nvPr/>
          </p:nvSpPr>
          <p:spPr bwMode="auto">
            <a:xfrm>
              <a:off x="470535" y="2285048"/>
              <a:ext cx="6198489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4950" b="1">
                  <a:solidFill>
                    <a:srgbClr val="0F2A44"/>
                  </a:solidFill>
                  <a:latin typeface="Georgia"/>
                  <a:ea typeface="SimSun"/>
                  <a:cs typeface="Georgia"/>
                </a:rPr>
                <a:t>типов помещений</a:t>
              </a:r>
              <a:endParaRPr/>
            </a:p>
          </p:txBody>
        </p:sp>
        <p:sp>
          <p:nvSpPr>
            <p:cNvPr id="19" name="TextBox 19"/>
            <p:cNvSpPr txBox="1"/>
            <p:nvPr/>
          </p:nvSpPr>
          <p:spPr bwMode="auto">
            <a:xfrm>
              <a:off x="470535" y="2989898"/>
              <a:ext cx="8096226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4950" b="1">
                  <a:solidFill>
                    <a:srgbClr val="0F2A44"/>
                  </a:solidFill>
                  <a:latin typeface="Georgia"/>
                  <a:ea typeface="SimSun"/>
                  <a:cs typeface="Georgia"/>
                </a:rPr>
                <a:t>по фото недвижимости</a:t>
              </a:r>
              <a:endParaRPr/>
            </a:p>
          </p:txBody>
        </p:sp>
        <p:sp>
          <p:nvSpPr>
            <p:cNvPr id="20" name="Rectangle 20"/>
            <p:cNvSpPr/>
            <p:nvPr/>
          </p:nvSpPr>
          <p:spPr bwMode="auto">
            <a:xfrm>
              <a:off x="533400" y="4476750"/>
              <a:ext cx="6715125" cy="190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 bwMode="auto">
            <a:xfrm>
              <a:off x="509588" y="4674394"/>
              <a:ext cx="6072188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900">
                  <a:solidFill>
                    <a:srgbClr val="111827"/>
                  </a:solidFill>
                  <a:latin typeface="Arial"/>
                  <a:ea typeface="Microsoft YaHei"/>
                  <a:cs typeface="Arial"/>
                </a:rPr>
                <a:t>Воспроизводимое ML-решение для модерации,</a:t>
              </a:r>
              <a:endParaRPr/>
            </a:p>
          </p:txBody>
        </p:sp>
        <p:sp>
          <p:nvSpPr>
            <p:cNvPr id="22" name="TextBox 22"/>
            <p:cNvSpPr txBox="1"/>
            <p:nvPr/>
          </p:nvSpPr>
          <p:spPr bwMode="auto">
            <a:xfrm>
              <a:off x="509588" y="4998244"/>
              <a:ext cx="421005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900">
                  <a:solidFill>
                    <a:srgbClr val="111827"/>
                  </a:solidFill>
                  <a:latin typeface="Arial"/>
                  <a:ea typeface="Microsoft YaHei"/>
                  <a:cs typeface="Arial"/>
                </a:rPr>
                <a:t>поиска и аналитики объявлений</a:t>
              </a:r>
              <a:endParaRPr/>
            </a:p>
          </p:txBody>
        </p:sp>
      </p:grpSp>
      <p:sp>
        <p:nvSpPr>
          <p:cNvPr id="36" name="TextBox 36"/>
          <p:cNvSpPr txBox="1"/>
          <p:nvPr/>
        </p:nvSpPr>
        <p:spPr bwMode="auto">
          <a:xfrm rot="0" flipH="0" flipV="0">
            <a:off x="11827644" y="13118782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01 /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" name="TextBox 71"/>
          <p:cNvSpPr txBox="1"/>
          <p:nvPr/>
        </p:nvSpPr>
        <p:spPr bwMode="auto">
          <a:xfrm rot="0" flipH="0" flipV="0">
            <a:off x="11797522" y="13118782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02 / 13</a:t>
            </a:r>
            <a:endParaRPr/>
          </a:p>
        </p:txBody>
      </p:sp>
      <p:sp>
        <p:nvSpPr>
          <p:cNvPr id="5" name="TextBox 5"/>
          <p:cNvSpPr txBox="1"/>
          <p:nvPr/>
        </p:nvSpPr>
        <p:spPr bwMode="auto">
          <a:xfrm rot="0" flipH="0" flipV="0">
            <a:off x="501014" y="258128"/>
            <a:ext cx="11296867" cy="3889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Ручная проверка типов помещений замедляет модерацию и ухудшает качество данных</a:t>
            </a:r>
            <a:endParaRPr/>
          </a:p>
        </p:txBody>
      </p:sp>
      <p:grpSp>
        <p:nvGrpSpPr>
          <p:cNvPr id="1111131142" name="Group 33"/>
          <p:cNvGrpSpPr/>
          <p:nvPr/>
        </p:nvGrpSpPr>
        <p:grpSpPr bwMode="auto">
          <a:xfrm flipH="0" flipV="0">
            <a:off x="2986654" y="1347586"/>
            <a:ext cx="6673461" cy="4899680"/>
            <a:chOff x="0" y="0"/>
            <a:chExt cx="6673461" cy="4899680"/>
          </a:xfrm>
        </p:grpSpPr>
        <p:sp>
          <p:nvSpPr>
            <p:cNvPr id="574091659" name="Rectangle 9"/>
            <p:cNvSpPr/>
            <p:nvPr/>
          </p:nvSpPr>
          <p:spPr bwMode="auto">
            <a:xfrm>
              <a:off x="0" y="0"/>
              <a:ext cx="6336128" cy="4899680"/>
            </a:xfrm>
            <a:prstGeom prst="roundRect">
              <a:avLst>
                <a:gd name="adj" fmla="val 3863"/>
              </a:avLst>
            </a:prstGeom>
            <a:solidFill>
              <a:srgbClr val="FFFFFF"/>
            </a:solidFill>
            <a:ln w="9525">
              <a:solidFill>
                <a:srgbClr val="D8E1EA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9409072" name="Rectangle 10"/>
            <p:cNvSpPr/>
            <p:nvPr/>
          </p:nvSpPr>
          <p:spPr bwMode="auto">
            <a:xfrm>
              <a:off x="0" y="0"/>
              <a:ext cx="6336128" cy="588801"/>
            </a:xfrm>
            <a:prstGeom prst="roundRect">
              <a:avLst>
                <a:gd name="adj" fmla="val 32143"/>
              </a:avLst>
            </a:prstGeom>
            <a:solidFill>
              <a:srgbClr val="FFF4ED"/>
            </a:solidFill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1262064372" name="TextBox 11"/>
            <p:cNvSpPr txBox="1"/>
            <p:nvPr/>
          </p:nvSpPr>
          <p:spPr bwMode="auto">
            <a:xfrm>
              <a:off x="338738" y="181896"/>
              <a:ext cx="2728282" cy="251819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650" b="1">
                  <a:solidFill>
                    <a:srgbClr val="D04A02"/>
                  </a:solidFill>
                  <a:latin typeface="Arial"/>
                  <a:ea typeface="Microsoft YaHei"/>
                  <a:cs typeface="Arial"/>
                </a:rPr>
                <a:t>Бизнес-проблема</a:t>
              </a:r>
              <a:endParaRPr/>
            </a:p>
          </p:txBody>
        </p:sp>
        <p:grpSp>
          <p:nvGrpSpPr>
            <p:cNvPr id="2093297236" name="Group 18"/>
            <p:cNvGrpSpPr/>
            <p:nvPr/>
          </p:nvGrpSpPr>
          <p:grpSpPr bwMode="auto">
            <a:xfrm flipH="0" flipV="0">
              <a:off x="417327" y="965740"/>
              <a:ext cx="6256133" cy="725253"/>
              <a:chOff x="0" y="0"/>
              <a:chExt cx="6256133" cy="725253"/>
            </a:xfrm>
          </p:grpSpPr>
          <p:grpSp>
            <p:nvGrpSpPr>
              <p:cNvPr id="1742161680" name="Group 14"/>
              <p:cNvGrpSpPr/>
              <p:nvPr/>
            </p:nvGrpSpPr>
            <p:grpSpPr bwMode="auto">
              <a:xfrm flipH="0" flipV="0">
                <a:off x="0" y="33177"/>
                <a:ext cx="310714" cy="281199"/>
                <a:chOff x="0" y="0"/>
                <a:chExt cx="310714" cy="281199"/>
              </a:xfrm>
            </p:grpSpPr>
            <p:sp>
              <p:nvSpPr>
                <p:cNvPr id="495935710" name="Freeform 12"/>
                <p:cNvSpPr/>
                <p:nvPr/>
              </p:nvSpPr>
              <p:spPr bwMode="auto">
                <a:xfrm>
                  <a:off x="12947" y="12108"/>
                  <a:ext cx="284824" cy="2579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650" h="233651" fill="norm" stroke="1" extrusionOk="0">
                      <a:moveTo>
                        <a:pt x="222647" y="106565"/>
                      </a:moveTo>
                      <a:lnTo>
                        <a:pt x="222647" y="223530"/>
                      </a:lnTo>
                      <a:cubicBezTo>
                        <a:pt x="222647" y="229120"/>
                        <a:pt x="218116" y="233651"/>
                        <a:pt x="212527" y="233651"/>
                      </a:cubicBezTo>
                      <a:lnTo>
                        <a:pt x="151805" y="233651"/>
                      </a:lnTo>
                      <a:cubicBezTo>
                        <a:pt x="146215" y="233651"/>
                        <a:pt x="141684" y="229120"/>
                        <a:pt x="141684" y="223530"/>
                      </a:cubicBezTo>
                      <a:lnTo>
                        <a:pt x="141684" y="162808"/>
                      </a:lnTo>
                      <a:cubicBezTo>
                        <a:pt x="141684" y="157219"/>
                        <a:pt x="137153" y="152688"/>
                        <a:pt x="131564" y="152688"/>
                      </a:cubicBezTo>
                      <a:lnTo>
                        <a:pt x="91083" y="152688"/>
                      </a:lnTo>
                      <a:cubicBezTo>
                        <a:pt x="85494" y="152688"/>
                        <a:pt x="80962" y="157219"/>
                        <a:pt x="80962" y="162808"/>
                      </a:cubicBezTo>
                      <a:lnTo>
                        <a:pt x="80962" y="223530"/>
                      </a:lnTo>
                      <a:cubicBezTo>
                        <a:pt x="80962" y="229120"/>
                        <a:pt x="76431" y="233651"/>
                        <a:pt x="70842" y="233651"/>
                      </a:cubicBezTo>
                      <a:lnTo>
                        <a:pt x="10120" y="233651"/>
                      </a:lnTo>
                      <a:cubicBezTo>
                        <a:pt x="4531" y="233651"/>
                        <a:pt x="0" y="229120"/>
                        <a:pt x="0" y="223530"/>
                      </a:cubicBezTo>
                      <a:lnTo>
                        <a:pt x="0" y="106565"/>
                      </a:lnTo>
                      <a:cubicBezTo>
                        <a:pt x="0" y="103713"/>
                        <a:pt x="1204" y="100994"/>
                        <a:pt x="3314" y="99076"/>
                      </a:cubicBezTo>
                      <a:lnTo>
                        <a:pt x="104518" y="3515"/>
                      </a:lnTo>
                      <a:cubicBezTo>
                        <a:pt x="108379" y="0"/>
                        <a:pt x="114281" y="0"/>
                        <a:pt x="118142" y="3515"/>
                      </a:cubicBezTo>
                      <a:lnTo>
                        <a:pt x="219345" y="99076"/>
                      </a:lnTo>
                      <a:cubicBezTo>
                        <a:pt x="221451" y="100996"/>
                        <a:pt x="222650" y="103715"/>
                        <a:pt x="222647" y="106565"/>
                      </a:cubicBezTo>
                      <a:close/>
                    </a:path>
                  </a:pathLst>
                </a:custGeom>
                <a:solidFill>
                  <a:srgbClr val="D04A02">
                    <a:alpha val="20000"/>
                  </a:srgbClr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  <p:sp>
              <p:nvSpPr>
                <p:cNvPr id="1735704126" name="Freeform 13"/>
                <p:cNvSpPr/>
                <p:nvPr/>
              </p:nvSpPr>
              <p:spPr bwMode="auto">
                <a:xfrm>
                  <a:off x="0" y="0"/>
                  <a:ext cx="310714" cy="2811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89" h="254742" fill="norm" stroke="1" extrusionOk="0">
                      <a:moveTo>
                        <a:pt x="236348" y="102646"/>
                      </a:moveTo>
                      <a:lnTo>
                        <a:pt x="135145" y="7161"/>
                      </a:lnTo>
                      <a:cubicBezTo>
                        <a:pt x="135095" y="7118"/>
                        <a:pt x="135049" y="7071"/>
                        <a:pt x="135006" y="7022"/>
                      </a:cubicBezTo>
                      <a:cubicBezTo>
                        <a:pt x="127285" y="0"/>
                        <a:pt x="115491" y="0"/>
                        <a:pt x="107770" y="7022"/>
                      </a:cubicBezTo>
                      <a:lnTo>
                        <a:pt x="107630" y="7161"/>
                      </a:lnTo>
                      <a:lnTo>
                        <a:pt x="6541" y="102646"/>
                      </a:lnTo>
                      <a:cubicBezTo>
                        <a:pt x="2372" y="106480"/>
                        <a:pt x="0" y="111885"/>
                        <a:pt x="1" y="117548"/>
                      </a:cubicBezTo>
                      <a:lnTo>
                        <a:pt x="1" y="234501"/>
                      </a:lnTo>
                      <a:cubicBezTo>
                        <a:pt x="1" y="245680"/>
                        <a:pt x="9063" y="254742"/>
                        <a:pt x="20241" y="254742"/>
                      </a:cubicBezTo>
                      <a:lnTo>
                        <a:pt x="80963" y="254742"/>
                      </a:lnTo>
                      <a:cubicBezTo>
                        <a:pt x="92142" y="254742"/>
                        <a:pt x="101204" y="245680"/>
                        <a:pt x="101204" y="234501"/>
                      </a:cubicBezTo>
                      <a:lnTo>
                        <a:pt x="101204" y="173779"/>
                      </a:lnTo>
                      <a:lnTo>
                        <a:pt x="141685" y="173779"/>
                      </a:lnTo>
                      <a:lnTo>
                        <a:pt x="141685" y="234501"/>
                      </a:lnTo>
                      <a:cubicBezTo>
                        <a:pt x="141685" y="245680"/>
                        <a:pt x="150747" y="254742"/>
                        <a:pt x="161926" y="254742"/>
                      </a:cubicBezTo>
                      <a:lnTo>
                        <a:pt x="222648" y="254742"/>
                      </a:lnTo>
                      <a:cubicBezTo>
                        <a:pt x="233826" y="254742"/>
                        <a:pt x="242888" y="245680"/>
                        <a:pt x="242888" y="234501"/>
                      </a:cubicBezTo>
                      <a:lnTo>
                        <a:pt x="242888" y="117548"/>
                      </a:lnTo>
                      <a:cubicBezTo>
                        <a:pt x="242889" y="111885"/>
                        <a:pt x="240517" y="106480"/>
                        <a:pt x="236348" y="102646"/>
                      </a:cubicBezTo>
                      <a:close/>
                      <a:moveTo>
                        <a:pt x="222648" y="234501"/>
                      </a:moveTo>
                      <a:lnTo>
                        <a:pt x="161926" y="234501"/>
                      </a:lnTo>
                      <a:lnTo>
                        <a:pt x="161926" y="173779"/>
                      </a:lnTo>
                      <a:cubicBezTo>
                        <a:pt x="161926" y="162601"/>
                        <a:pt x="152864" y="153539"/>
                        <a:pt x="141685" y="153539"/>
                      </a:cubicBezTo>
                      <a:lnTo>
                        <a:pt x="101204" y="153539"/>
                      </a:lnTo>
                      <a:cubicBezTo>
                        <a:pt x="90025" y="153539"/>
                        <a:pt x="80963" y="162601"/>
                        <a:pt x="80963" y="173779"/>
                      </a:cubicBezTo>
                      <a:lnTo>
                        <a:pt x="80963" y="234501"/>
                      </a:lnTo>
                      <a:lnTo>
                        <a:pt x="20241" y="234501"/>
                      </a:lnTo>
                      <a:lnTo>
                        <a:pt x="20241" y="117548"/>
                      </a:lnTo>
                      <a:lnTo>
                        <a:pt x="20381" y="117422"/>
                      </a:lnTo>
                      <a:lnTo>
                        <a:pt x="121445" y="21975"/>
                      </a:lnTo>
                      <a:lnTo>
                        <a:pt x="222521" y="117396"/>
                      </a:lnTo>
                      <a:lnTo>
                        <a:pt x="222660" y="117523"/>
                      </a:lnTo>
                      <a:close/>
                    </a:path>
                  </a:pathLst>
                </a:custGeom>
                <a:solidFill>
                  <a:srgbClr val="D04A02"/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</p:grpSp>
          <p:sp>
            <p:nvSpPr>
              <p:cNvPr id="916020339" name="TextBox 15"/>
              <p:cNvSpPr txBox="1"/>
              <p:nvPr/>
            </p:nvSpPr>
            <p:spPr bwMode="auto">
              <a:xfrm>
                <a:off x="558676" y="0"/>
                <a:ext cx="5697456" cy="22133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Тип помещения влияет на клиентский опыт</a:t>
                </a:r>
                <a:endParaRPr/>
              </a:p>
            </p:txBody>
          </p:sp>
          <p:sp>
            <p:nvSpPr>
              <p:cNvPr id="1129483279" name="TextBox 16"/>
              <p:cNvSpPr txBox="1"/>
              <p:nvPr/>
            </p:nvSpPr>
            <p:spPr bwMode="auto">
              <a:xfrm>
                <a:off x="562332" y="310697"/>
                <a:ext cx="3888266" cy="1832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Ошибки в разметке ломают фильтры,</a:t>
                </a:r>
                <a:endParaRPr/>
              </a:p>
            </p:txBody>
          </p:sp>
          <p:sp>
            <p:nvSpPr>
              <p:cNvPr id="949991260" name="TextBox 17"/>
              <p:cNvSpPr txBox="1"/>
              <p:nvPr/>
            </p:nvSpPr>
            <p:spPr bwMode="auto">
              <a:xfrm>
                <a:off x="562332" y="542013"/>
                <a:ext cx="3821005" cy="1832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поиск, рекомендации и аналитику.</a:t>
                </a:r>
                <a:endParaRPr/>
              </a:p>
            </p:txBody>
          </p:sp>
        </p:grpSp>
        <p:grpSp>
          <p:nvGrpSpPr>
            <p:cNvPr id="2134730022" name="Group 25"/>
            <p:cNvGrpSpPr/>
            <p:nvPr/>
          </p:nvGrpSpPr>
          <p:grpSpPr bwMode="auto">
            <a:xfrm flipH="0" flipV="0">
              <a:off x="404382" y="1975116"/>
              <a:ext cx="4833474" cy="725253"/>
              <a:chOff x="0" y="0"/>
              <a:chExt cx="4833474" cy="725253"/>
            </a:xfrm>
          </p:grpSpPr>
          <p:grpSp>
            <p:nvGrpSpPr>
              <p:cNvPr id="973441733" name="Group 21"/>
              <p:cNvGrpSpPr/>
              <p:nvPr/>
            </p:nvGrpSpPr>
            <p:grpSpPr bwMode="auto">
              <a:xfrm flipH="0" flipV="0">
                <a:off x="0" y="57432"/>
                <a:ext cx="336605" cy="245772"/>
                <a:chOff x="0" y="0"/>
                <a:chExt cx="336605" cy="245772"/>
              </a:xfrm>
            </p:grpSpPr>
            <p:sp>
              <p:nvSpPr>
                <p:cNvPr id="375511469" name="Freeform 19"/>
                <p:cNvSpPr/>
                <p:nvPr/>
              </p:nvSpPr>
              <p:spPr bwMode="auto">
                <a:xfrm>
                  <a:off x="12944" y="11169"/>
                  <a:ext cx="310713" cy="1816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88" h="164531" fill="norm" stroke="1" extrusionOk="0">
                      <a:moveTo>
                        <a:pt x="242888" y="10120"/>
                      </a:moveTo>
                      <a:lnTo>
                        <a:pt x="242888" y="164531"/>
                      </a:lnTo>
                      <a:lnTo>
                        <a:pt x="192640" y="114284"/>
                      </a:lnTo>
                      <a:cubicBezTo>
                        <a:pt x="188688" y="110335"/>
                        <a:pt x="182284" y="110335"/>
                        <a:pt x="178333" y="114284"/>
                      </a:cubicBezTo>
                      <a:lnTo>
                        <a:pt x="145872" y="146745"/>
                      </a:lnTo>
                      <a:lnTo>
                        <a:pt x="83062" y="83923"/>
                      </a:lnTo>
                      <a:cubicBezTo>
                        <a:pt x="81164" y="82022"/>
                        <a:pt x="78588" y="80955"/>
                        <a:pt x="75902" y="80955"/>
                      </a:cubicBezTo>
                      <a:cubicBezTo>
                        <a:pt x="73216" y="80955"/>
                        <a:pt x="70640" y="82022"/>
                        <a:pt x="68742" y="83923"/>
                      </a:cubicBezTo>
                      <a:lnTo>
                        <a:pt x="0" y="152678"/>
                      </a:lnTo>
                      <a:lnTo>
                        <a:pt x="0" y="10120"/>
                      </a:lnTo>
                      <a:cubicBezTo>
                        <a:pt x="0" y="4531"/>
                        <a:pt x="4531" y="0"/>
                        <a:pt x="10120" y="0"/>
                      </a:cubicBezTo>
                      <a:lnTo>
                        <a:pt x="232767" y="0"/>
                      </a:lnTo>
                      <a:cubicBezTo>
                        <a:pt x="238356" y="0"/>
                        <a:pt x="242888" y="4531"/>
                        <a:pt x="242888" y="10120"/>
                      </a:cubicBezTo>
                      <a:close/>
                    </a:path>
                  </a:pathLst>
                </a:custGeom>
                <a:solidFill>
                  <a:srgbClr val="D04A02">
                    <a:alpha val="20000"/>
                  </a:srgbClr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  <p:sp>
              <p:nvSpPr>
                <p:cNvPr id="1743036575" name="Freeform 20"/>
                <p:cNvSpPr/>
                <p:nvPr/>
              </p:nvSpPr>
              <p:spPr bwMode="auto">
                <a:xfrm>
                  <a:off x="0" y="0"/>
                  <a:ext cx="336605" cy="245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3128" h="222647" fill="norm" stroke="1" extrusionOk="0">
                      <a:moveTo>
                        <a:pt x="242888" y="0"/>
                      </a:moveTo>
                      <a:lnTo>
                        <a:pt x="20241" y="0"/>
                      </a:lnTo>
                      <a:cubicBezTo>
                        <a:pt x="9062" y="0"/>
                        <a:pt x="0" y="9062"/>
                        <a:pt x="0" y="20241"/>
                      </a:cubicBezTo>
                      <a:lnTo>
                        <a:pt x="0" y="202406"/>
                      </a:lnTo>
                      <a:cubicBezTo>
                        <a:pt x="0" y="213585"/>
                        <a:pt x="9062" y="222647"/>
                        <a:pt x="20241" y="222647"/>
                      </a:cubicBezTo>
                      <a:lnTo>
                        <a:pt x="242888" y="222647"/>
                      </a:lnTo>
                      <a:cubicBezTo>
                        <a:pt x="254066" y="222647"/>
                        <a:pt x="263128" y="213585"/>
                        <a:pt x="263128" y="202406"/>
                      </a:cubicBezTo>
                      <a:lnTo>
                        <a:pt x="263128" y="20241"/>
                      </a:lnTo>
                      <a:cubicBezTo>
                        <a:pt x="263128" y="9062"/>
                        <a:pt x="254066" y="0"/>
                        <a:pt x="242888" y="0"/>
                      </a:cubicBezTo>
                      <a:close/>
                      <a:moveTo>
                        <a:pt x="242888" y="20241"/>
                      </a:moveTo>
                      <a:lnTo>
                        <a:pt x="242888" y="150223"/>
                      </a:lnTo>
                      <a:lnTo>
                        <a:pt x="209908" y="117256"/>
                      </a:lnTo>
                      <a:cubicBezTo>
                        <a:pt x="206112" y="113460"/>
                        <a:pt x="200963" y="111326"/>
                        <a:pt x="195594" y="111326"/>
                      </a:cubicBezTo>
                      <a:cubicBezTo>
                        <a:pt x="190225" y="111326"/>
                        <a:pt x="185076" y="113460"/>
                        <a:pt x="181280" y="117256"/>
                      </a:cubicBezTo>
                      <a:lnTo>
                        <a:pt x="155979" y="142557"/>
                      </a:lnTo>
                      <a:lnTo>
                        <a:pt x="100318" y="86896"/>
                      </a:lnTo>
                      <a:cubicBezTo>
                        <a:pt x="92414" y="78997"/>
                        <a:pt x="79606" y="78997"/>
                        <a:pt x="71702" y="86896"/>
                      </a:cubicBezTo>
                      <a:lnTo>
                        <a:pt x="20241" y="138357"/>
                      </a:lnTo>
                      <a:lnTo>
                        <a:pt x="20241" y="20241"/>
                      </a:lnTo>
                      <a:close/>
                      <a:moveTo>
                        <a:pt x="20241" y="166985"/>
                      </a:moveTo>
                      <a:lnTo>
                        <a:pt x="86023" y="101203"/>
                      </a:lnTo>
                      <a:lnTo>
                        <a:pt x="187226" y="202406"/>
                      </a:lnTo>
                      <a:lnTo>
                        <a:pt x="20241" y="202406"/>
                      </a:lnTo>
                      <a:close/>
                      <a:moveTo>
                        <a:pt x="242888" y="202406"/>
                      </a:moveTo>
                      <a:lnTo>
                        <a:pt x="215854" y="202406"/>
                      </a:lnTo>
                      <a:lnTo>
                        <a:pt x="170312" y="156865"/>
                      </a:lnTo>
                      <a:lnTo>
                        <a:pt x="195613" y="131564"/>
                      </a:lnTo>
                      <a:lnTo>
                        <a:pt x="242888" y="178851"/>
                      </a:lnTo>
                      <a:lnTo>
                        <a:pt x="242888" y="202406"/>
                      </a:lnTo>
                      <a:close/>
                      <a:moveTo>
                        <a:pt x="151805" y="75902"/>
                      </a:moveTo>
                      <a:cubicBezTo>
                        <a:pt x="151805" y="67518"/>
                        <a:pt x="158601" y="60722"/>
                        <a:pt x="166985" y="60722"/>
                      </a:cubicBezTo>
                      <a:cubicBezTo>
                        <a:pt x="175369" y="60722"/>
                        <a:pt x="182166" y="67518"/>
                        <a:pt x="182166" y="75902"/>
                      </a:cubicBezTo>
                      <a:cubicBezTo>
                        <a:pt x="182166" y="84286"/>
                        <a:pt x="175369" y="91083"/>
                        <a:pt x="166985" y="91083"/>
                      </a:cubicBezTo>
                      <a:cubicBezTo>
                        <a:pt x="158601" y="91083"/>
                        <a:pt x="151805" y="84286"/>
                        <a:pt x="151805" y="75902"/>
                      </a:cubicBezTo>
                      <a:close/>
                    </a:path>
                  </a:pathLst>
                </a:custGeom>
                <a:solidFill>
                  <a:srgbClr val="D04A02"/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</p:grpSp>
          <p:sp>
            <p:nvSpPr>
              <p:cNvPr id="2115356595" name="TextBox 22"/>
              <p:cNvSpPr txBox="1"/>
              <p:nvPr/>
            </p:nvSpPr>
            <p:spPr bwMode="auto">
              <a:xfrm>
                <a:off x="571621" y="0"/>
                <a:ext cx="2440684" cy="22133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Фото неоднородны</a:t>
                </a:r>
                <a:endParaRPr/>
              </a:p>
            </p:txBody>
          </p:sp>
          <p:sp>
            <p:nvSpPr>
              <p:cNvPr id="736059757" name="TextBox 23"/>
              <p:cNvSpPr txBox="1"/>
              <p:nvPr/>
            </p:nvSpPr>
            <p:spPr bwMode="auto">
              <a:xfrm>
                <a:off x="575275" y="310697"/>
                <a:ext cx="4258198" cy="1832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Качество, ракурс, освещение и мебель</a:t>
                </a:r>
                <a:endParaRPr/>
              </a:p>
            </p:txBody>
          </p:sp>
          <p:sp>
            <p:nvSpPr>
              <p:cNvPr id="1741864435" name="TextBox 24"/>
              <p:cNvSpPr txBox="1"/>
              <p:nvPr/>
            </p:nvSpPr>
            <p:spPr bwMode="auto">
              <a:xfrm>
                <a:off x="575275" y="542013"/>
                <a:ext cx="3821005" cy="1832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сильно меняют визуальный сигнал.</a:t>
                </a:r>
                <a:endParaRPr/>
              </a:p>
            </p:txBody>
          </p:sp>
        </p:grpSp>
        <p:grpSp>
          <p:nvGrpSpPr>
            <p:cNvPr id="263642670" name="Group 32"/>
            <p:cNvGrpSpPr/>
            <p:nvPr/>
          </p:nvGrpSpPr>
          <p:grpSpPr bwMode="auto">
            <a:xfrm flipH="0" flipV="0">
              <a:off x="389687" y="2984493"/>
              <a:ext cx="5150842" cy="725253"/>
              <a:chOff x="0" y="0"/>
              <a:chExt cx="5150842" cy="725253"/>
            </a:xfrm>
          </p:grpSpPr>
          <p:grpSp>
            <p:nvGrpSpPr>
              <p:cNvPr id="807559815" name="Group 28"/>
              <p:cNvGrpSpPr/>
              <p:nvPr/>
            </p:nvGrpSpPr>
            <p:grpSpPr bwMode="auto">
              <a:xfrm flipH="0" flipV="0">
                <a:off x="0" y="35089"/>
                <a:ext cx="365986" cy="279414"/>
                <a:chOff x="0" y="0"/>
                <a:chExt cx="365986" cy="279414"/>
              </a:xfrm>
            </p:grpSpPr>
            <p:sp>
              <p:nvSpPr>
                <p:cNvPr id="1941022946" name="Freeform 26"/>
                <p:cNvSpPr/>
                <p:nvPr/>
              </p:nvSpPr>
              <p:spPr bwMode="auto">
                <a:xfrm>
                  <a:off x="8221" y="7288"/>
                  <a:ext cx="349552" cy="260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3248" h="236284" fill="norm" stroke="1" extrusionOk="0">
                      <a:moveTo>
                        <a:pt x="247265" y="236284"/>
                      </a:moveTo>
                      <a:lnTo>
                        <a:pt x="25984" y="236284"/>
                      </a:lnTo>
                      <a:cubicBezTo>
                        <a:pt x="10019" y="236284"/>
                        <a:pt x="0" y="219573"/>
                        <a:pt x="7755" y="206037"/>
                      </a:cubicBezTo>
                      <a:lnTo>
                        <a:pt x="118395" y="13915"/>
                      </a:lnTo>
                      <a:cubicBezTo>
                        <a:pt x="126365" y="0"/>
                        <a:pt x="146884" y="0"/>
                        <a:pt x="154853" y="13915"/>
                      </a:cubicBezTo>
                      <a:lnTo>
                        <a:pt x="265494" y="206037"/>
                      </a:lnTo>
                      <a:cubicBezTo>
                        <a:pt x="273248" y="219573"/>
                        <a:pt x="263229" y="236284"/>
                        <a:pt x="247265" y="236284"/>
                      </a:cubicBezTo>
                      <a:close/>
                    </a:path>
                  </a:pathLst>
                </a:custGeom>
                <a:solidFill>
                  <a:srgbClr val="D04A02">
                    <a:alpha val="20000"/>
                  </a:srgbClr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  <p:sp>
              <p:nvSpPr>
                <p:cNvPr id="761650350" name="Freeform 27"/>
                <p:cNvSpPr/>
                <p:nvPr/>
              </p:nvSpPr>
              <p:spPr bwMode="auto">
                <a:xfrm>
                  <a:off x="0" y="0"/>
                  <a:ext cx="365986" cy="2794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6096" h="253124" fill="norm" stroke="1" extrusionOk="0">
                      <a:moveTo>
                        <a:pt x="280688" y="207581"/>
                      </a:moveTo>
                      <a:lnTo>
                        <a:pt x="170060" y="15460"/>
                      </a:lnTo>
                      <a:lnTo>
                        <a:pt x="170060" y="15460"/>
                      </a:lnTo>
                      <a:cubicBezTo>
                        <a:pt x="164435" y="5882"/>
                        <a:pt x="154159" y="0"/>
                        <a:pt x="143052" y="0"/>
                      </a:cubicBezTo>
                      <a:cubicBezTo>
                        <a:pt x="131945" y="0"/>
                        <a:pt x="121668" y="5882"/>
                        <a:pt x="116043" y="15460"/>
                      </a:cubicBezTo>
                      <a:lnTo>
                        <a:pt x="5416" y="207581"/>
                      </a:lnTo>
                      <a:cubicBezTo>
                        <a:pt x="0" y="216850"/>
                        <a:pt x="0" y="228319"/>
                        <a:pt x="5416" y="237588"/>
                      </a:cubicBezTo>
                      <a:cubicBezTo>
                        <a:pt x="10972" y="247229"/>
                        <a:pt x="21297" y="253124"/>
                        <a:pt x="32424" y="253009"/>
                      </a:cubicBezTo>
                      <a:lnTo>
                        <a:pt x="253680" y="253009"/>
                      </a:lnTo>
                      <a:cubicBezTo>
                        <a:pt x="264798" y="253115"/>
                        <a:pt x="275111" y="247221"/>
                        <a:pt x="280663" y="237588"/>
                      </a:cubicBezTo>
                      <a:cubicBezTo>
                        <a:pt x="286086" y="228323"/>
                        <a:pt x="286096" y="216855"/>
                        <a:pt x="280688" y="207581"/>
                      </a:cubicBezTo>
                      <a:close/>
                      <a:moveTo>
                        <a:pt x="263142" y="227455"/>
                      </a:moveTo>
                      <a:cubicBezTo>
                        <a:pt x="261178" y="230804"/>
                        <a:pt x="257562" y="232835"/>
                        <a:pt x="253680" y="232768"/>
                      </a:cubicBezTo>
                      <a:lnTo>
                        <a:pt x="32424" y="232768"/>
                      </a:lnTo>
                      <a:cubicBezTo>
                        <a:pt x="28542" y="232835"/>
                        <a:pt x="24925" y="230804"/>
                        <a:pt x="22962" y="227455"/>
                      </a:cubicBezTo>
                      <a:cubicBezTo>
                        <a:pt x="21182" y="224443"/>
                        <a:pt x="21182" y="220701"/>
                        <a:pt x="22962" y="217689"/>
                      </a:cubicBezTo>
                      <a:lnTo>
                        <a:pt x="133589" y="25567"/>
                      </a:lnTo>
                      <a:cubicBezTo>
                        <a:pt x="135591" y="22237"/>
                        <a:pt x="139192" y="20200"/>
                        <a:pt x="143077" y="20200"/>
                      </a:cubicBezTo>
                      <a:cubicBezTo>
                        <a:pt x="146963" y="20200"/>
                        <a:pt x="150564" y="22237"/>
                        <a:pt x="152565" y="25567"/>
                      </a:cubicBezTo>
                      <a:lnTo>
                        <a:pt x="263193" y="217689"/>
                      </a:lnTo>
                      <a:cubicBezTo>
                        <a:pt x="264956" y="220710"/>
                        <a:pt x="264937" y="224452"/>
                        <a:pt x="263142" y="227455"/>
                      </a:cubicBezTo>
                      <a:close/>
                      <a:moveTo>
                        <a:pt x="132932" y="151806"/>
                      </a:moveTo>
                      <a:lnTo>
                        <a:pt x="132932" y="101204"/>
                      </a:lnTo>
                      <a:cubicBezTo>
                        <a:pt x="132932" y="95615"/>
                        <a:pt x="137463" y="91084"/>
                        <a:pt x="143052" y="91084"/>
                      </a:cubicBezTo>
                      <a:cubicBezTo>
                        <a:pt x="148641" y="91084"/>
                        <a:pt x="153172" y="95615"/>
                        <a:pt x="153172" y="101204"/>
                      </a:cubicBezTo>
                      <a:lnTo>
                        <a:pt x="153172" y="151806"/>
                      </a:lnTo>
                      <a:cubicBezTo>
                        <a:pt x="153172" y="157395"/>
                        <a:pt x="148641" y="161926"/>
                        <a:pt x="143052" y="161926"/>
                      </a:cubicBezTo>
                      <a:cubicBezTo>
                        <a:pt x="137463" y="161926"/>
                        <a:pt x="132932" y="157395"/>
                        <a:pt x="132932" y="151806"/>
                      </a:cubicBezTo>
                      <a:close/>
                      <a:moveTo>
                        <a:pt x="158232" y="197347"/>
                      </a:moveTo>
                      <a:cubicBezTo>
                        <a:pt x="158232" y="205731"/>
                        <a:pt x="151436" y="212527"/>
                        <a:pt x="143052" y="212527"/>
                      </a:cubicBezTo>
                      <a:cubicBezTo>
                        <a:pt x="134668" y="212527"/>
                        <a:pt x="127871" y="205731"/>
                        <a:pt x="127871" y="197347"/>
                      </a:cubicBezTo>
                      <a:cubicBezTo>
                        <a:pt x="127871" y="188963"/>
                        <a:pt x="134668" y="182166"/>
                        <a:pt x="143052" y="182166"/>
                      </a:cubicBezTo>
                      <a:cubicBezTo>
                        <a:pt x="151436" y="182166"/>
                        <a:pt x="158232" y="188963"/>
                        <a:pt x="158232" y="197347"/>
                      </a:cubicBezTo>
                      <a:close/>
                    </a:path>
                  </a:pathLst>
                </a:custGeom>
                <a:solidFill>
                  <a:srgbClr val="D04A02"/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</p:grpSp>
          <p:sp>
            <p:nvSpPr>
              <p:cNvPr id="1959359317" name="TextBox 29"/>
              <p:cNvSpPr txBox="1"/>
              <p:nvPr/>
            </p:nvSpPr>
            <p:spPr bwMode="auto">
              <a:xfrm>
                <a:off x="586316" y="0"/>
                <a:ext cx="3922305" cy="22133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Классы похожи друг на друга</a:t>
                </a:r>
                <a:endParaRPr/>
              </a:p>
            </p:txBody>
          </p:sp>
          <p:sp>
            <p:nvSpPr>
              <p:cNvPr id="899524039" name="TextBox 30"/>
              <p:cNvSpPr txBox="1"/>
              <p:nvPr/>
            </p:nvSpPr>
            <p:spPr bwMode="auto">
              <a:xfrm>
                <a:off x="589973" y="310697"/>
                <a:ext cx="3944315" cy="1832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Спальня, гостиная и универсальная</a:t>
                </a:r>
                <a:endParaRPr/>
              </a:p>
            </p:txBody>
          </p:sp>
          <p:sp>
            <p:nvSpPr>
              <p:cNvPr id="1653353819" name="TextBox 31"/>
              <p:cNvSpPr txBox="1"/>
              <p:nvPr/>
            </p:nvSpPr>
            <p:spPr bwMode="auto">
              <a:xfrm>
                <a:off x="589973" y="542013"/>
                <a:ext cx="4560869" cy="1832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комната требуют вероятностного ответа.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2" name="Group 52"/>
          <p:cNvGrpSpPr/>
          <p:nvPr/>
        </p:nvGrpSpPr>
        <p:grpSpPr bwMode="auto">
          <a:xfrm>
            <a:off x="533399" y="1447800"/>
            <a:ext cx="11125199" cy="4476750"/>
            <a:chOff x="0" y="0"/>
            <a:chExt cx="11125199" cy="4476750"/>
          </a:xfrm>
        </p:grpSpPr>
        <p:grpSp>
          <p:nvGrpSpPr>
            <p:cNvPr id="19" name="Group 19"/>
            <p:cNvGrpSpPr/>
            <p:nvPr/>
          </p:nvGrpSpPr>
          <p:grpSpPr bwMode="auto">
            <a:xfrm>
              <a:off x="0" y="0"/>
              <a:ext cx="5314950" cy="2057400"/>
              <a:chOff x="0" y="0"/>
              <a:chExt cx="5314950" cy="2057400"/>
            </a:xfrm>
          </p:grpSpPr>
          <p:sp>
            <p:nvSpPr>
              <p:cNvPr id="9" name="Rectangle 9"/>
              <p:cNvSpPr/>
              <p:nvPr/>
            </p:nvSpPr>
            <p:spPr bwMode="auto">
              <a:xfrm>
                <a:off x="0" y="0"/>
                <a:ext cx="5314950" cy="20574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10" name="Rectangle 10"/>
              <p:cNvSpPr/>
              <p:nvPr/>
            </p:nvSpPr>
            <p:spPr bwMode="auto">
              <a:xfrm>
                <a:off x="228600" y="2286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1565C0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grpSp>
            <p:nvGrpSpPr>
              <p:cNvPr id="13" name="Group 13"/>
              <p:cNvGrpSpPr/>
              <p:nvPr/>
            </p:nvGrpSpPr>
            <p:grpSpPr bwMode="auto">
              <a:xfrm>
                <a:off x="500062" y="277960"/>
                <a:ext cx="257177" cy="269727"/>
                <a:chOff x="0" y="0"/>
                <a:chExt cx="257177" cy="269727"/>
              </a:xfrm>
            </p:grpSpPr>
            <p:sp>
              <p:nvSpPr>
                <p:cNvPr id="11" name="Freeform 11"/>
                <p:cNvSpPr/>
                <p:nvPr/>
              </p:nvSpPr>
              <p:spPr bwMode="auto">
                <a:xfrm>
                  <a:off x="10715" y="11615"/>
                  <a:ext cx="235747" cy="247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5747" h="247395" fill="norm" stroke="1" extrusionOk="0">
                      <a:moveTo>
                        <a:pt x="235744" y="112833"/>
                      </a:moveTo>
                      <a:lnTo>
                        <a:pt x="235744" y="236679"/>
                      </a:lnTo>
                      <a:cubicBezTo>
                        <a:pt x="235744" y="242597"/>
                        <a:pt x="230946" y="247395"/>
                        <a:pt x="225028" y="247395"/>
                      </a:cubicBezTo>
                      <a:lnTo>
                        <a:pt x="160734" y="247395"/>
                      </a:lnTo>
                      <a:cubicBezTo>
                        <a:pt x="154816" y="247395"/>
                        <a:pt x="150019" y="242597"/>
                        <a:pt x="150019" y="236679"/>
                      </a:cubicBezTo>
                      <a:lnTo>
                        <a:pt x="150019" y="172385"/>
                      </a:lnTo>
                      <a:cubicBezTo>
                        <a:pt x="150019" y="166467"/>
                        <a:pt x="145221" y="161670"/>
                        <a:pt x="139303" y="161670"/>
                      </a:cubicBezTo>
                      <a:lnTo>
                        <a:pt x="96441" y="161670"/>
                      </a:lnTo>
                      <a:cubicBezTo>
                        <a:pt x="90523" y="161670"/>
                        <a:pt x="85725" y="166467"/>
                        <a:pt x="85725" y="172385"/>
                      </a:cubicBezTo>
                      <a:lnTo>
                        <a:pt x="85725" y="236679"/>
                      </a:lnTo>
                      <a:cubicBezTo>
                        <a:pt x="85725" y="242597"/>
                        <a:pt x="80927" y="247395"/>
                        <a:pt x="75009" y="247395"/>
                      </a:cubicBezTo>
                      <a:lnTo>
                        <a:pt x="10716" y="247395"/>
                      </a:lnTo>
                      <a:cubicBezTo>
                        <a:pt x="4798" y="247395"/>
                        <a:pt x="0" y="242597"/>
                        <a:pt x="0" y="236679"/>
                      </a:cubicBezTo>
                      <a:lnTo>
                        <a:pt x="0" y="112833"/>
                      </a:lnTo>
                      <a:cubicBezTo>
                        <a:pt x="0" y="109814"/>
                        <a:pt x="1275" y="106934"/>
                        <a:pt x="3509" y="104904"/>
                      </a:cubicBezTo>
                      <a:lnTo>
                        <a:pt x="110666" y="3721"/>
                      </a:lnTo>
                      <a:cubicBezTo>
                        <a:pt x="114754" y="0"/>
                        <a:pt x="121003" y="0"/>
                        <a:pt x="125092" y="3721"/>
                      </a:cubicBezTo>
                      <a:lnTo>
                        <a:pt x="232248" y="104904"/>
                      </a:lnTo>
                      <a:cubicBezTo>
                        <a:pt x="234478" y="106937"/>
                        <a:pt x="235747" y="109816"/>
                        <a:pt x="235744" y="112833"/>
                      </a:cubicBez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  <p:sp>
              <p:nvSpPr>
                <p:cNvPr id="12" name="Freeform 12"/>
                <p:cNvSpPr/>
                <p:nvPr/>
              </p:nvSpPr>
              <p:spPr bwMode="auto">
                <a:xfrm>
                  <a:off x="0" y="0"/>
                  <a:ext cx="257177" cy="269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7" h="269727" fill="norm" stroke="1" extrusionOk="0">
                      <a:moveTo>
                        <a:pt x="250251" y="108684"/>
                      </a:moveTo>
                      <a:lnTo>
                        <a:pt x="143095" y="7582"/>
                      </a:lnTo>
                      <a:cubicBezTo>
                        <a:pt x="143042" y="7536"/>
                        <a:pt x="142993" y="7487"/>
                        <a:pt x="142947" y="7435"/>
                      </a:cubicBezTo>
                      <a:cubicBezTo>
                        <a:pt x="134772" y="0"/>
                        <a:pt x="122284" y="0"/>
                        <a:pt x="114109" y="7435"/>
                      </a:cubicBezTo>
                      <a:lnTo>
                        <a:pt x="113962" y="7582"/>
                      </a:lnTo>
                      <a:lnTo>
                        <a:pt x="6926" y="108684"/>
                      </a:lnTo>
                      <a:cubicBezTo>
                        <a:pt x="2512" y="112743"/>
                        <a:pt x="0" y="118466"/>
                        <a:pt x="1" y="124463"/>
                      </a:cubicBezTo>
                      <a:lnTo>
                        <a:pt x="1" y="248295"/>
                      </a:lnTo>
                      <a:cubicBezTo>
                        <a:pt x="1" y="260131"/>
                        <a:pt x="9596" y="269727"/>
                        <a:pt x="21432" y="269727"/>
                      </a:cubicBezTo>
                      <a:lnTo>
                        <a:pt x="85726" y="269727"/>
                      </a:lnTo>
                      <a:cubicBezTo>
                        <a:pt x="97562" y="269727"/>
                        <a:pt x="107157" y="260131"/>
                        <a:pt x="107157" y="248295"/>
                      </a:cubicBezTo>
                      <a:lnTo>
                        <a:pt x="107157" y="184002"/>
                      </a:lnTo>
                      <a:lnTo>
                        <a:pt x="150020" y="184002"/>
                      </a:lnTo>
                      <a:lnTo>
                        <a:pt x="150020" y="248295"/>
                      </a:lnTo>
                      <a:cubicBezTo>
                        <a:pt x="150020" y="260131"/>
                        <a:pt x="159615" y="269727"/>
                        <a:pt x="171451" y="269727"/>
                      </a:cubicBezTo>
                      <a:lnTo>
                        <a:pt x="235745" y="269727"/>
                      </a:lnTo>
                      <a:cubicBezTo>
                        <a:pt x="247581" y="269727"/>
                        <a:pt x="257176" y="260131"/>
                        <a:pt x="257176" y="248295"/>
                      </a:cubicBezTo>
                      <a:lnTo>
                        <a:pt x="257176" y="124463"/>
                      </a:lnTo>
                      <a:cubicBezTo>
                        <a:pt x="257177" y="118466"/>
                        <a:pt x="254665" y="112743"/>
                        <a:pt x="250251" y="108684"/>
                      </a:cubicBezTo>
                      <a:close/>
                      <a:moveTo>
                        <a:pt x="235745" y="248295"/>
                      </a:moveTo>
                      <a:lnTo>
                        <a:pt x="171451" y="248295"/>
                      </a:lnTo>
                      <a:lnTo>
                        <a:pt x="171451" y="184002"/>
                      </a:lnTo>
                      <a:cubicBezTo>
                        <a:pt x="171451" y="172165"/>
                        <a:pt x="161856" y="162570"/>
                        <a:pt x="150020" y="162570"/>
                      </a:cubicBezTo>
                      <a:lnTo>
                        <a:pt x="107157" y="162570"/>
                      </a:lnTo>
                      <a:cubicBezTo>
                        <a:pt x="95321" y="162570"/>
                        <a:pt x="85726" y="172165"/>
                        <a:pt x="85726" y="184002"/>
                      </a:cubicBezTo>
                      <a:lnTo>
                        <a:pt x="85726" y="248295"/>
                      </a:lnTo>
                      <a:lnTo>
                        <a:pt x="21432" y="248295"/>
                      </a:lnTo>
                      <a:lnTo>
                        <a:pt x="21432" y="124463"/>
                      </a:lnTo>
                      <a:lnTo>
                        <a:pt x="21580" y="124329"/>
                      </a:lnTo>
                      <a:lnTo>
                        <a:pt x="128588" y="23267"/>
                      </a:lnTo>
                      <a:lnTo>
                        <a:pt x="235611" y="124302"/>
                      </a:lnTo>
                      <a:lnTo>
                        <a:pt x="235758" y="124436"/>
                      </a:ln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</p:grpSp>
          <p:sp>
            <p:nvSpPr>
              <p:cNvPr id="14" name="TextBox 14"/>
              <p:cNvSpPr txBox="1"/>
              <p:nvPr/>
            </p:nvSpPr>
            <p:spPr bwMode="auto">
              <a:xfrm>
                <a:off x="916305" y="330517"/>
                <a:ext cx="1348904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Схема задачи</a:t>
                </a:r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 bwMode="auto">
              <a:xfrm>
                <a:off x="920115" y="610551"/>
                <a:ext cx="2564654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Классификация фото недвижимости</a:t>
                </a:r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 bwMode="auto">
              <a:xfrm>
                <a:off x="401954" y="978217"/>
                <a:ext cx="844282" cy="8839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4350" b="1">
                    <a:solidFill>
                      <a:srgbClr val="0F2A44"/>
                    </a:solidFill>
                    <a:latin typeface="Georgia"/>
                    <a:ea typeface="SimSun"/>
                    <a:cs typeface="Georgia"/>
                  </a:rPr>
                  <a:t>20</a:t>
                </a:r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 bwMode="auto">
              <a:xfrm>
                <a:off x="1233488" y="1245394"/>
                <a:ext cx="1154638" cy="3810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900" b="1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классов</a:t>
                </a:r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 bwMode="auto">
              <a:xfrm>
                <a:off x="442912" y="1631156"/>
                <a:ext cx="3676173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от кухни до “не ясно” и “комната без мебели”</a:t>
                </a: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 bwMode="auto">
            <a:xfrm>
              <a:off x="5810250" y="0"/>
              <a:ext cx="5314950" cy="2057400"/>
              <a:chOff x="0" y="0"/>
              <a:chExt cx="5314950" cy="2057400"/>
            </a:xfrm>
          </p:grpSpPr>
          <p:sp>
            <p:nvSpPr>
              <p:cNvPr id="20" name="Rectangle 20"/>
              <p:cNvSpPr/>
              <p:nvPr/>
            </p:nvSpPr>
            <p:spPr bwMode="auto">
              <a:xfrm>
                <a:off x="0" y="0"/>
                <a:ext cx="5314950" cy="20574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21" name="Rectangle 21"/>
              <p:cNvSpPr/>
              <p:nvPr/>
            </p:nvSpPr>
            <p:spPr bwMode="auto">
              <a:xfrm>
                <a:off x="228599" y="2286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2E7D32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grpSp>
            <p:nvGrpSpPr>
              <p:cNvPr id="24" name="Group 24"/>
              <p:cNvGrpSpPr/>
              <p:nvPr/>
            </p:nvGrpSpPr>
            <p:grpSpPr bwMode="auto">
              <a:xfrm>
                <a:off x="489346" y="301228"/>
                <a:ext cx="278606" cy="235744"/>
                <a:chOff x="0" y="0"/>
                <a:chExt cx="278606" cy="235744"/>
              </a:xfrm>
            </p:grpSpPr>
            <p:sp>
              <p:nvSpPr>
                <p:cNvPr id="22" name="Freeform 22"/>
                <p:cNvSpPr/>
                <p:nvPr/>
              </p:nvSpPr>
              <p:spPr bwMode="auto">
                <a:xfrm>
                  <a:off x="10714" y="10715"/>
                  <a:ext cx="257175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14312" fill="norm" stroke="1" extrusionOk="0">
                      <a:moveTo>
                        <a:pt x="257175" y="10716"/>
                      </a:moveTo>
                      <a:lnTo>
                        <a:pt x="257175" y="214312"/>
                      </a:lnTo>
                      <a:lnTo>
                        <a:pt x="0" y="214312"/>
                      </a:lnTo>
                      <a:lnTo>
                        <a:pt x="0" y="0"/>
                      </a:lnTo>
                      <a:lnTo>
                        <a:pt x="246459" y="0"/>
                      </a:lnTo>
                      <a:cubicBezTo>
                        <a:pt x="252377" y="0"/>
                        <a:pt x="257175" y="4798"/>
                        <a:pt x="257175" y="10716"/>
                      </a:cubicBezTo>
                      <a:close/>
                    </a:path>
                  </a:pathLst>
                </a:custGeom>
                <a:solidFill>
                  <a:srgbClr val="2E7D32">
                    <a:alpha val="20000"/>
                  </a:srgbClr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  <p:sp>
              <p:nvSpPr>
                <p:cNvPr id="23" name="Freeform 23"/>
                <p:cNvSpPr/>
                <p:nvPr/>
              </p:nvSpPr>
              <p:spPr bwMode="auto">
                <a:xfrm>
                  <a:off x="0" y="0"/>
                  <a:ext cx="278606" cy="2357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606" h="235744" fill="norm" stroke="1" extrusionOk="0">
                      <a:moveTo>
                        <a:pt x="278606" y="225028"/>
                      </a:moveTo>
                      <a:cubicBezTo>
                        <a:pt x="278606" y="230946"/>
                        <a:pt x="273809" y="235744"/>
                        <a:pt x="267891" y="235744"/>
                      </a:cubicBezTo>
                      <a:lnTo>
                        <a:pt x="10716" y="235744"/>
                      </a:lnTo>
                      <a:cubicBezTo>
                        <a:pt x="4798" y="235744"/>
                        <a:pt x="0" y="230946"/>
                        <a:pt x="0" y="225028"/>
                      </a:cubicBezTo>
                      <a:lnTo>
                        <a:pt x="0" y="10716"/>
                      </a:lnTo>
                      <a:cubicBezTo>
                        <a:pt x="0" y="4798"/>
                        <a:pt x="4798" y="0"/>
                        <a:pt x="10716" y="0"/>
                      </a:cubicBezTo>
                      <a:cubicBezTo>
                        <a:pt x="16634" y="0"/>
                        <a:pt x="21431" y="4798"/>
                        <a:pt x="21431" y="10716"/>
                      </a:cubicBezTo>
                      <a:lnTo>
                        <a:pt x="21431" y="156301"/>
                      </a:lnTo>
                      <a:lnTo>
                        <a:pt x="88859" y="88859"/>
                      </a:lnTo>
                      <a:cubicBezTo>
                        <a:pt x="90869" y="86847"/>
                        <a:pt x="93597" y="85717"/>
                        <a:pt x="96441" y="85717"/>
                      </a:cubicBezTo>
                      <a:cubicBezTo>
                        <a:pt x="99285" y="85717"/>
                        <a:pt x="102012" y="86847"/>
                        <a:pt x="104022" y="88859"/>
                      </a:cubicBezTo>
                      <a:lnTo>
                        <a:pt x="139303" y="124154"/>
                      </a:lnTo>
                      <a:lnTo>
                        <a:pt x="209879" y="53578"/>
                      </a:lnTo>
                      <a:lnTo>
                        <a:pt x="182166" y="53578"/>
                      </a:lnTo>
                      <a:cubicBezTo>
                        <a:pt x="176248" y="53578"/>
                        <a:pt x="171450" y="48781"/>
                        <a:pt x="171450" y="42862"/>
                      </a:cubicBezTo>
                      <a:cubicBezTo>
                        <a:pt x="171450" y="36944"/>
                        <a:pt x="176248" y="32147"/>
                        <a:pt x="182166" y="32147"/>
                      </a:cubicBezTo>
                      <a:lnTo>
                        <a:pt x="235744" y="32147"/>
                      </a:lnTo>
                      <a:cubicBezTo>
                        <a:pt x="241662" y="32147"/>
                        <a:pt x="246459" y="36944"/>
                        <a:pt x="246459" y="42862"/>
                      </a:cubicBezTo>
                      <a:lnTo>
                        <a:pt x="246459" y="96441"/>
                      </a:lnTo>
                      <a:cubicBezTo>
                        <a:pt x="246459" y="102359"/>
                        <a:pt x="241662" y="107156"/>
                        <a:pt x="235744" y="107156"/>
                      </a:cubicBezTo>
                      <a:cubicBezTo>
                        <a:pt x="229826" y="107156"/>
                        <a:pt x="225028" y="102359"/>
                        <a:pt x="225028" y="96441"/>
                      </a:cubicBezTo>
                      <a:lnTo>
                        <a:pt x="225028" y="68727"/>
                      </a:lnTo>
                      <a:lnTo>
                        <a:pt x="146884" y="146884"/>
                      </a:lnTo>
                      <a:cubicBezTo>
                        <a:pt x="144875" y="148897"/>
                        <a:pt x="142147" y="150027"/>
                        <a:pt x="139303" y="150027"/>
                      </a:cubicBezTo>
                      <a:cubicBezTo>
                        <a:pt x="136459" y="150027"/>
                        <a:pt x="133732" y="148897"/>
                        <a:pt x="131722" y="146884"/>
                      </a:cubicBezTo>
                      <a:lnTo>
                        <a:pt x="96441" y="111590"/>
                      </a:lnTo>
                      <a:lnTo>
                        <a:pt x="21431" y="186599"/>
                      </a:lnTo>
                      <a:lnTo>
                        <a:pt x="21431" y="214312"/>
                      </a:lnTo>
                      <a:lnTo>
                        <a:pt x="267891" y="214312"/>
                      </a:lnTo>
                      <a:cubicBezTo>
                        <a:pt x="273809" y="214312"/>
                        <a:pt x="278606" y="219110"/>
                        <a:pt x="278606" y="225028"/>
                      </a:cubicBezTo>
                      <a:close/>
                    </a:path>
                  </a:pathLst>
                </a:custGeom>
                <a:solidFill>
                  <a:srgbClr val="2E7D32"/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</p:grpSp>
          <p:sp>
            <p:nvSpPr>
              <p:cNvPr id="25" name="TextBox 25"/>
              <p:cNvSpPr txBox="1"/>
              <p:nvPr/>
            </p:nvSpPr>
            <p:spPr bwMode="auto">
              <a:xfrm>
                <a:off x="916304" y="330517"/>
                <a:ext cx="1918225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Главный результат</a:t>
                </a:r>
                <a:endParaRPr/>
              </a:p>
            </p:txBody>
          </p:sp>
          <p:sp>
            <p:nvSpPr>
              <p:cNvPr id="26" name="TextBox 26"/>
              <p:cNvSpPr txBox="1"/>
              <p:nvPr/>
            </p:nvSpPr>
            <p:spPr bwMode="auto">
              <a:xfrm>
                <a:off x="920115" y="610551"/>
                <a:ext cx="269500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Macro F1 не скрывает редкие классы</a:t>
                </a:r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 bwMode="auto">
              <a:xfrm>
                <a:off x="401954" y="978217"/>
                <a:ext cx="2311865" cy="8839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4350" b="1">
                    <a:solidFill>
                      <a:srgbClr val="2E7D32"/>
                    </a:solidFill>
                    <a:latin typeface="Georgia"/>
                    <a:ea typeface="SimSun"/>
                    <a:cs typeface="Georgia"/>
                  </a:rPr>
                  <a:t>0.7934</a:t>
                </a:r>
                <a:endParaRPr/>
              </a:p>
            </p:txBody>
          </p:sp>
          <p:sp>
            <p:nvSpPr>
              <p:cNvPr id="28" name="TextBox 28"/>
              <p:cNvSpPr txBox="1"/>
              <p:nvPr/>
            </p:nvSpPr>
            <p:spPr bwMode="auto">
              <a:xfrm>
                <a:off x="2566988" y="1245394"/>
                <a:ext cx="2146637" cy="3810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900" b="1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≈ OOF Macro F1</a:t>
                </a:r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 bwMode="auto">
              <a:xfrm>
                <a:off x="442911" y="1631156"/>
                <a:ext cx="4440198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исследовательский кандидат: ConvNeXt XL + Focal Loss</a:t>
                </a:r>
                <a:endParaRPr/>
              </a:p>
            </p:txBody>
          </p:sp>
        </p:grpSp>
        <p:grpSp>
          <p:nvGrpSpPr>
            <p:cNvPr id="40" name="Group 40"/>
            <p:cNvGrpSpPr/>
            <p:nvPr/>
          </p:nvGrpSpPr>
          <p:grpSpPr bwMode="auto">
            <a:xfrm>
              <a:off x="0" y="2419350"/>
              <a:ext cx="5314950" cy="2057400"/>
              <a:chOff x="0" y="0"/>
              <a:chExt cx="5314950" cy="2057400"/>
            </a:xfrm>
          </p:grpSpPr>
          <p:sp>
            <p:nvSpPr>
              <p:cNvPr id="31" name="Rectangle 31"/>
              <p:cNvSpPr/>
              <p:nvPr/>
            </p:nvSpPr>
            <p:spPr bwMode="auto">
              <a:xfrm>
                <a:off x="0" y="0"/>
                <a:ext cx="5314950" cy="20574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32" name="Rectangle 32"/>
              <p:cNvSpPr/>
              <p:nvPr/>
            </p:nvSpPr>
            <p:spPr bwMode="auto">
              <a:xfrm>
                <a:off x="228600" y="228599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00A6D6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grpSp>
            <p:nvGrpSpPr>
              <p:cNvPr id="35" name="Group 35"/>
              <p:cNvGrpSpPr/>
              <p:nvPr/>
            </p:nvGrpSpPr>
            <p:grpSpPr bwMode="auto">
              <a:xfrm>
                <a:off x="500062" y="301228"/>
                <a:ext cx="257175" cy="268256"/>
                <a:chOff x="0" y="0"/>
                <a:chExt cx="257175" cy="268256"/>
              </a:xfrm>
            </p:grpSpPr>
            <p:sp>
              <p:nvSpPr>
                <p:cNvPr id="33" name="Freeform 33"/>
                <p:cNvSpPr/>
                <p:nvPr/>
              </p:nvSpPr>
              <p:spPr bwMode="auto">
                <a:xfrm>
                  <a:off x="10715" y="10716"/>
                  <a:ext cx="235744" cy="2466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5744" h="246620" fill="norm" stroke="1" extrusionOk="0">
                      <a:moveTo>
                        <a:pt x="235744" y="10716"/>
                      </a:moveTo>
                      <a:lnTo>
                        <a:pt x="235744" y="89435"/>
                      </a:lnTo>
                      <a:cubicBezTo>
                        <a:pt x="235744" y="202190"/>
                        <a:pt x="140227" y="239548"/>
                        <a:pt x="121167" y="245883"/>
                      </a:cubicBezTo>
                      <a:cubicBezTo>
                        <a:pt x="119032" y="246620"/>
                        <a:pt x="116712" y="246620"/>
                        <a:pt x="114577" y="245883"/>
                      </a:cubicBezTo>
                      <a:cubicBezTo>
                        <a:pt x="95516" y="239575"/>
                        <a:pt x="0" y="202257"/>
                        <a:pt x="0" y="89462"/>
                      </a:cubicBezTo>
                      <a:lnTo>
                        <a:pt x="0" y="10716"/>
                      </a:lnTo>
                      <a:cubicBezTo>
                        <a:pt x="0" y="4798"/>
                        <a:pt x="4798" y="0"/>
                        <a:pt x="10716" y="0"/>
                      </a:cubicBezTo>
                      <a:lnTo>
                        <a:pt x="225028" y="0"/>
                      </a:lnTo>
                      <a:cubicBezTo>
                        <a:pt x="230946" y="0"/>
                        <a:pt x="235744" y="4798"/>
                        <a:pt x="235744" y="10716"/>
                      </a:cubicBezTo>
                      <a:close/>
                    </a:path>
                  </a:pathLst>
                </a:custGeom>
                <a:solidFill>
                  <a:srgbClr val="00A6D6">
                    <a:alpha val="20000"/>
                  </a:srgbClr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  <p:sp>
              <p:nvSpPr>
                <p:cNvPr id="34" name="Freeform 34"/>
                <p:cNvSpPr/>
                <p:nvPr/>
              </p:nvSpPr>
              <p:spPr bwMode="auto">
                <a:xfrm>
                  <a:off x="0" y="0"/>
                  <a:ext cx="257175" cy="2682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68256" fill="norm" stroke="1" extrusionOk="0">
                      <a:moveTo>
                        <a:pt x="235744" y="0"/>
                      </a:moveTo>
                      <a:lnTo>
                        <a:pt x="21431" y="0"/>
                      </a:lnTo>
                      <a:cubicBezTo>
                        <a:pt x="9595" y="0"/>
                        <a:pt x="0" y="9595"/>
                        <a:pt x="0" y="21431"/>
                      </a:cubicBezTo>
                      <a:lnTo>
                        <a:pt x="0" y="100164"/>
                      </a:lnTo>
                      <a:cubicBezTo>
                        <a:pt x="0" y="220193"/>
                        <a:pt x="101557" y="260015"/>
                        <a:pt x="121890" y="266779"/>
                      </a:cubicBezTo>
                      <a:cubicBezTo>
                        <a:pt x="126233" y="268256"/>
                        <a:pt x="130942" y="268256"/>
                        <a:pt x="135285" y="266779"/>
                      </a:cubicBezTo>
                      <a:cubicBezTo>
                        <a:pt x="155644" y="260015"/>
                        <a:pt x="257175" y="220193"/>
                        <a:pt x="257175" y="100164"/>
                      </a:cubicBezTo>
                      <a:lnTo>
                        <a:pt x="257175" y="21431"/>
                      </a:lnTo>
                      <a:cubicBezTo>
                        <a:pt x="257175" y="9595"/>
                        <a:pt x="247580" y="0"/>
                        <a:pt x="235744" y="0"/>
                      </a:cubicBezTo>
                      <a:close/>
                      <a:moveTo>
                        <a:pt x="235744" y="100178"/>
                      </a:moveTo>
                      <a:cubicBezTo>
                        <a:pt x="235744" y="205218"/>
                        <a:pt x="146871" y="240311"/>
                        <a:pt x="128588" y="246419"/>
                      </a:cubicBezTo>
                      <a:cubicBezTo>
                        <a:pt x="110465" y="240378"/>
                        <a:pt x="21431" y="205311"/>
                        <a:pt x="21431" y="100178"/>
                      </a:cubicBezTo>
                      <a:lnTo>
                        <a:pt x="21431" y="21431"/>
                      </a:lnTo>
                      <a:lnTo>
                        <a:pt x="235744" y="21431"/>
                      </a:lnTo>
                      <a:close/>
                      <a:moveTo>
                        <a:pt x="67428" y="136169"/>
                      </a:moveTo>
                      <a:cubicBezTo>
                        <a:pt x="63241" y="131982"/>
                        <a:pt x="63241" y="125193"/>
                        <a:pt x="67428" y="121006"/>
                      </a:cubicBezTo>
                      <a:cubicBezTo>
                        <a:pt x="71615" y="116819"/>
                        <a:pt x="78404" y="116819"/>
                        <a:pt x="82591" y="121006"/>
                      </a:cubicBezTo>
                      <a:lnTo>
                        <a:pt x="107156" y="145572"/>
                      </a:lnTo>
                      <a:lnTo>
                        <a:pt x="174584" y="78144"/>
                      </a:lnTo>
                      <a:cubicBezTo>
                        <a:pt x="178771" y="73957"/>
                        <a:pt x="185560" y="73957"/>
                        <a:pt x="189747" y="78144"/>
                      </a:cubicBezTo>
                      <a:cubicBezTo>
                        <a:pt x="193934" y="82331"/>
                        <a:pt x="193934" y="89119"/>
                        <a:pt x="189747" y="93306"/>
                      </a:cubicBezTo>
                      <a:lnTo>
                        <a:pt x="114738" y="168316"/>
                      </a:lnTo>
                      <a:cubicBezTo>
                        <a:pt x="112728" y="170328"/>
                        <a:pt x="110000" y="171458"/>
                        <a:pt x="107156" y="171458"/>
                      </a:cubicBezTo>
                      <a:cubicBezTo>
                        <a:pt x="104312" y="171458"/>
                        <a:pt x="101585" y="170328"/>
                        <a:pt x="99575" y="168316"/>
                      </a:cubicBezTo>
                      <a:close/>
                    </a:path>
                  </a:pathLst>
                </a:custGeom>
                <a:solidFill>
                  <a:srgbClr val="00A6D6"/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</p:grpSp>
          <p:sp>
            <p:nvSpPr>
              <p:cNvPr id="36" name="TextBox 36"/>
              <p:cNvSpPr txBox="1"/>
              <p:nvPr/>
            </p:nvSpPr>
            <p:spPr bwMode="auto">
              <a:xfrm>
                <a:off x="916305" y="330518"/>
                <a:ext cx="1969982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Воспроизводимость</a:t>
                </a:r>
                <a:endParaRPr/>
              </a:p>
            </p:txBody>
          </p:sp>
          <p:sp>
            <p:nvSpPr>
              <p:cNvPr id="37" name="TextBox 37"/>
              <p:cNvSpPr txBox="1"/>
              <p:nvPr/>
            </p:nvSpPr>
            <p:spPr bwMode="auto">
              <a:xfrm>
                <a:off x="920115" y="610551"/>
                <a:ext cx="3162729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Пайплайн запускается на новом окружении</a:t>
                </a:r>
                <a:endParaRPr/>
              </a:p>
            </p:txBody>
          </p:sp>
          <p:sp>
            <p:nvSpPr>
              <p:cNvPr id="38" name="TextBox 38"/>
              <p:cNvSpPr txBox="1"/>
              <p:nvPr/>
            </p:nvSpPr>
            <p:spPr bwMode="auto">
              <a:xfrm>
                <a:off x="409575" y="1004888"/>
                <a:ext cx="3631942" cy="7620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3750" b="1">
                    <a:solidFill>
                      <a:srgbClr val="0F2A44"/>
                    </a:solidFill>
                    <a:latin typeface="Georgia"/>
                    <a:ea typeface="SimSun"/>
                    <a:cs typeface="Georgia"/>
                  </a:rPr>
                  <a:t>train → infer</a:t>
                </a:r>
                <a:endParaRPr/>
              </a:p>
            </p:txBody>
          </p:sp>
          <p:sp>
            <p:nvSpPr>
              <p:cNvPr id="39" name="TextBox 39"/>
              <p:cNvSpPr txBox="1"/>
              <p:nvPr/>
            </p:nvSpPr>
            <p:spPr bwMode="auto">
              <a:xfrm>
                <a:off x="442912" y="1631156"/>
                <a:ext cx="4703088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`make full-pipeline`, `make infer`, `validate_submission`</a:t>
                </a: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 bwMode="auto">
            <a:xfrm>
              <a:off x="5810250" y="2419350"/>
              <a:ext cx="5314950" cy="2057400"/>
              <a:chOff x="0" y="0"/>
              <a:chExt cx="5314950" cy="2057400"/>
            </a:xfrm>
          </p:grpSpPr>
          <p:sp>
            <p:nvSpPr>
              <p:cNvPr id="41" name="Rectangle 41"/>
              <p:cNvSpPr/>
              <p:nvPr/>
            </p:nvSpPr>
            <p:spPr bwMode="auto">
              <a:xfrm>
                <a:off x="0" y="0"/>
                <a:ext cx="5314950" cy="20574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42" name="Rectangle 42"/>
              <p:cNvSpPr/>
              <p:nvPr/>
            </p:nvSpPr>
            <p:spPr bwMode="auto">
              <a:xfrm>
                <a:off x="228599" y="228599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1565C0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grpSp>
            <p:nvGrpSpPr>
              <p:cNvPr id="45" name="Group 45"/>
              <p:cNvGrpSpPr/>
              <p:nvPr/>
            </p:nvGrpSpPr>
            <p:grpSpPr bwMode="auto">
              <a:xfrm>
                <a:off x="487863" y="289721"/>
                <a:ext cx="270178" cy="268684"/>
                <a:chOff x="0" y="0"/>
                <a:chExt cx="270178" cy="268684"/>
              </a:xfrm>
            </p:grpSpPr>
            <p:sp>
              <p:nvSpPr>
                <p:cNvPr id="43" name="Freeform 43"/>
                <p:cNvSpPr/>
                <p:nvPr/>
              </p:nvSpPr>
              <p:spPr bwMode="auto">
                <a:xfrm>
                  <a:off x="11482" y="54368"/>
                  <a:ext cx="204312" cy="20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312" h="204312" fill="norm" stroke="1" extrusionOk="0">
                      <a:moveTo>
                        <a:pt x="54294" y="117872"/>
                      </a:moveTo>
                      <a:lnTo>
                        <a:pt x="86441" y="150019"/>
                      </a:lnTo>
                      <a:cubicBezTo>
                        <a:pt x="86441" y="150019"/>
                        <a:pt x="75725" y="192881"/>
                        <a:pt x="11431" y="192881"/>
                      </a:cubicBezTo>
                      <a:cubicBezTo>
                        <a:pt x="11431" y="128588"/>
                        <a:pt x="54294" y="117872"/>
                        <a:pt x="54294" y="117872"/>
                      </a:cubicBezTo>
                      <a:close/>
                      <a:moveTo>
                        <a:pt x="140019" y="0"/>
                      </a:moveTo>
                      <a:lnTo>
                        <a:pt x="57441" y="0"/>
                      </a:lnTo>
                      <a:cubicBezTo>
                        <a:pt x="54603" y="1"/>
                        <a:pt x="51881" y="1129"/>
                        <a:pt x="49873" y="3134"/>
                      </a:cubicBezTo>
                      <a:lnTo>
                        <a:pt x="3863" y="49145"/>
                      </a:lnTo>
                      <a:cubicBezTo>
                        <a:pt x="998" y="52016"/>
                        <a:pt x="0" y="56259"/>
                        <a:pt x="1284" y="60106"/>
                      </a:cubicBezTo>
                      <a:cubicBezTo>
                        <a:pt x="2569" y="63954"/>
                        <a:pt x="5916" y="66746"/>
                        <a:pt x="9931" y="67321"/>
                      </a:cubicBezTo>
                      <a:lnTo>
                        <a:pt x="65009" y="75009"/>
                      </a:lnTo>
                      <a:close/>
                      <a:moveTo>
                        <a:pt x="129303" y="139303"/>
                      </a:moveTo>
                      <a:lnTo>
                        <a:pt x="136991" y="194381"/>
                      </a:lnTo>
                      <a:cubicBezTo>
                        <a:pt x="137566" y="198397"/>
                        <a:pt x="140358" y="201744"/>
                        <a:pt x="144206" y="203028"/>
                      </a:cubicBezTo>
                      <a:cubicBezTo>
                        <a:pt x="148054" y="204312"/>
                        <a:pt x="152297" y="203314"/>
                        <a:pt x="155168" y="200449"/>
                      </a:cubicBezTo>
                      <a:lnTo>
                        <a:pt x="201178" y="154439"/>
                      </a:lnTo>
                      <a:cubicBezTo>
                        <a:pt x="203184" y="152431"/>
                        <a:pt x="204311" y="149709"/>
                        <a:pt x="204312" y="146871"/>
                      </a:cubicBezTo>
                      <a:lnTo>
                        <a:pt x="204312" y="64294"/>
                      </a:ln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  <p:sp>
              <p:nvSpPr>
                <p:cNvPr id="44" name="Freeform 44"/>
                <p:cNvSpPr/>
                <p:nvPr/>
              </p:nvSpPr>
              <p:spPr bwMode="auto">
                <a:xfrm>
                  <a:off x="0" y="0"/>
                  <a:ext cx="270178" cy="2686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0178" h="268684" fill="norm" stroke="1" extrusionOk="0">
                      <a:moveTo>
                        <a:pt x="108331" y="206986"/>
                      </a:moveTo>
                      <a:cubicBezTo>
                        <a:pt x="107809" y="209062"/>
                        <a:pt x="94749" y="257965"/>
                        <a:pt x="22915" y="257965"/>
                      </a:cubicBezTo>
                      <a:cubicBezTo>
                        <a:pt x="16996" y="257965"/>
                        <a:pt x="12199" y="253168"/>
                        <a:pt x="12199" y="247250"/>
                      </a:cubicBezTo>
                      <a:cubicBezTo>
                        <a:pt x="12199" y="175415"/>
                        <a:pt x="61102" y="162355"/>
                        <a:pt x="63178" y="161833"/>
                      </a:cubicBezTo>
                      <a:cubicBezTo>
                        <a:pt x="68923" y="160398"/>
                        <a:pt x="74743" y="163891"/>
                        <a:pt x="76178" y="169635"/>
                      </a:cubicBezTo>
                      <a:cubicBezTo>
                        <a:pt x="77613" y="175379"/>
                        <a:pt x="74120" y="181199"/>
                        <a:pt x="68376" y="182634"/>
                      </a:cubicBezTo>
                      <a:cubicBezTo>
                        <a:pt x="67170" y="182969"/>
                        <a:pt x="38345" y="191394"/>
                        <a:pt x="34139" y="236025"/>
                      </a:cubicBezTo>
                      <a:cubicBezTo>
                        <a:pt x="78770" y="231819"/>
                        <a:pt x="87208" y="203048"/>
                        <a:pt x="87557" y="201708"/>
                      </a:cubicBezTo>
                      <a:cubicBezTo>
                        <a:pt x="89036" y="195971"/>
                        <a:pt x="94886" y="192520"/>
                        <a:pt x="100623" y="194000"/>
                      </a:cubicBezTo>
                      <a:cubicBezTo>
                        <a:pt x="106360" y="195479"/>
                        <a:pt x="109811" y="201329"/>
                        <a:pt x="108331" y="207066"/>
                      </a:cubicBezTo>
                      <a:close/>
                      <a:moveTo>
                        <a:pt x="232901" y="116707"/>
                      </a:moveTo>
                      <a:lnTo>
                        <a:pt x="226511" y="123096"/>
                      </a:lnTo>
                      <a:lnTo>
                        <a:pt x="226511" y="201226"/>
                      </a:lnTo>
                      <a:cubicBezTo>
                        <a:pt x="226544" y="206933"/>
                        <a:pt x="224285" y="212414"/>
                        <a:pt x="220243" y="216442"/>
                      </a:cubicBezTo>
                      <a:lnTo>
                        <a:pt x="174273" y="262385"/>
                      </a:lnTo>
                      <a:cubicBezTo>
                        <a:pt x="170269" y="266418"/>
                        <a:pt x="164820" y="268684"/>
                        <a:pt x="159137" y="268681"/>
                      </a:cubicBezTo>
                      <a:cubicBezTo>
                        <a:pt x="156815" y="268680"/>
                        <a:pt x="154508" y="268305"/>
                        <a:pt x="152306" y="267569"/>
                      </a:cubicBezTo>
                      <a:cubicBezTo>
                        <a:pt x="144592" y="265018"/>
                        <a:pt x="138995" y="258309"/>
                        <a:pt x="137866" y="250263"/>
                      </a:cubicBezTo>
                      <a:lnTo>
                        <a:pt x="130674" y="198708"/>
                      </a:lnTo>
                      <a:lnTo>
                        <a:pt x="71456" y="139491"/>
                      </a:lnTo>
                      <a:lnTo>
                        <a:pt x="19928" y="132298"/>
                      </a:lnTo>
                      <a:cubicBezTo>
                        <a:pt x="11872" y="131168"/>
                        <a:pt x="5150" y="125575"/>
                        <a:pt x="2575" y="117858"/>
                      </a:cubicBezTo>
                      <a:cubicBezTo>
                        <a:pt x="0" y="110142"/>
                        <a:pt x="2016" y="101633"/>
                        <a:pt x="7779" y="95891"/>
                      </a:cubicBezTo>
                      <a:lnTo>
                        <a:pt x="53722" y="49921"/>
                      </a:lnTo>
                      <a:cubicBezTo>
                        <a:pt x="57750" y="45879"/>
                        <a:pt x="63231" y="43621"/>
                        <a:pt x="68938" y="43653"/>
                      </a:cubicBezTo>
                      <a:lnTo>
                        <a:pt x="147068" y="43653"/>
                      </a:lnTo>
                      <a:lnTo>
                        <a:pt x="153458" y="37264"/>
                      </a:lnTo>
                      <a:cubicBezTo>
                        <a:pt x="189194" y="1540"/>
                        <a:pt x="232258" y="0"/>
                        <a:pt x="249108" y="1005"/>
                      </a:cubicBezTo>
                      <a:cubicBezTo>
                        <a:pt x="259921" y="1662"/>
                        <a:pt x="268543" y="10284"/>
                        <a:pt x="269200" y="21096"/>
                      </a:cubicBezTo>
                      <a:cubicBezTo>
                        <a:pt x="270178" y="37907"/>
                        <a:pt x="268637" y="80970"/>
                        <a:pt x="232914" y="116707"/>
                      </a:cubicBezTo>
                      <a:close/>
                      <a:moveTo>
                        <a:pt x="22915" y="111081"/>
                      </a:moveTo>
                      <a:lnTo>
                        <a:pt x="72675" y="118019"/>
                      </a:lnTo>
                      <a:lnTo>
                        <a:pt x="125637" y="65084"/>
                      </a:lnTo>
                      <a:lnTo>
                        <a:pt x="68938" y="65084"/>
                      </a:lnTo>
                      <a:close/>
                      <a:moveTo>
                        <a:pt x="91655" y="129378"/>
                      </a:moveTo>
                      <a:lnTo>
                        <a:pt x="140786" y="178509"/>
                      </a:lnTo>
                      <a:lnTo>
                        <a:pt x="217738" y="101557"/>
                      </a:lnTo>
                      <a:cubicBezTo>
                        <a:pt x="238719" y="80718"/>
                        <a:pt x="249668" y="51826"/>
                        <a:pt x="247769" y="22315"/>
                      </a:cubicBezTo>
                      <a:cubicBezTo>
                        <a:pt x="218275" y="20485"/>
                        <a:pt x="189423" y="31452"/>
                        <a:pt x="168593" y="52413"/>
                      </a:cubicBezTo>
                      <a:close/>
                      <a:moveTo>
                        <a:pt x="205080" y="144527"/>
                      </a:moveTo>
                      <a:lnTo>
                        <a:pt x="152132" y="197476"/>
                      </a:lnTo>
                      <a:lnTo>
                        <a:pt x="159097" y="247250"/>
                      </a:lnTo>
                      <a:lnTo>
                        <a:pt x="205080" y="201226"/>
                      </a:ln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95250" dist="28575" dir="5400000" algn="ctr" rotWithShape="0">
                    <a:srgbClr val="0F2A44">
                      <a:alpha val="6000"/>
                    </a:srgbClr>
                  </a:outerShdw>
                </a:effectLst>
              </p:spPr>
            </p:sp>
          </p:grpSp>
          <p:sp>
            <p:nvSpPr>
              <p:cNvPr id="46" name="TextBox 46"/>
              <p:cNvSpPr txBox="1"/>
              <p:nvPr/>
            </p:nvSpPr>
            <p:spPr bwMode="auto">
              <a:xfrm>
                <a:off x="916304" y="330518"/>
                <a:ext cx="2777383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Готовность к демонстрации</a:t>
                </a:r>
                <a:endParaRPr/>
              </a:p>
            </p:txBody>
          </p:sp>
          <p:sp>
            <p:nvSpPr>
              <p:cNvPr id="47" name="TextBox 47"/>
              <p:cNvSpPr txBox="1"/>
              <p:nvPr/>
            </p:nvSpPr>
            <p:spPr bwMode="auto">
              <a:xfrm>
                <a:off x="920115" y="610551"/>
                <a:ext cx="291736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Код, конфиг, веса, Docker, демо и CSV</a:t>
                </a:r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 bwMode="auto">
              <a:xfrm>
                <a:off x="409574" y="1004888"/>
                <a:ext cx="2453045" cy="7620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3750" b="1">
                    <a:solidFill>
                      <a:srgbClr val="0F2A44"/>
                    </a:solidFill>
                    <a:latin typeface="Georgia"/>
                    <a:ea typeface="SimSun"/>
                    <a:cs typeface="Georgia"/>
                  </a:rPr>
                  <a:t>rc1.yaml</a:t>
                </a:r>
                <a:endParaRPr/>
              </a:p>
            </p:txBody>
          </p:sp>
          <p:sp>
            <p:nvSpPr>
              <p:cNvPr id="49" name="TextBox 49"/>
              <p:cNvSpPr txBox="1"/>
              <p:nvPr/>
            </p:nvSpPr>
            <p:spPr bwMode="auto">
              <a:xfrm>
                <a:off x="2670688" y="1100137"/>
                <a:ext cx="2046000" cy="3810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900" b="1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release config</a:t>
                </a:r>
                <a:endParaRPr/>
              </a:p>
            </p:txBody>
          </p:sp>
          <p:sp>
            <p:nvSpPr>
              <p:cNvPr id="50" name="TextBox 50"/>
              <p:cNvSpPr txBox="1"/>
              <p:nvPr/>
            </p:nvSpPr>
            <p:spPr bwMode="auto">
              <a:xfrm>
                <a:off x="442911" y="1631156"/>
                <a:ext cx="4251246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одна точка входа для весов, mapping и предсказаний</a:t>
                </a:r>
                <a:endParaRPr/>
              </a:p>
            </p:txBody>
          </p:sp>
        </p:grpSp>
      </p:grpSp>
      <p:sp>
        <p:nvSpPr>
          <p:cNvPr id="54" name="TextBox 54"/>
          <p:cNvSpPr txBox="1"/>
          <p:nvPr/>
        </p:nvSpPr>
        <p:spPr bwMode="auto">
          <a:xfrm rot="0" flipH="0" flipV="0">
            <a:off x="11797522" y="13118782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03 / 13</a:t>
            </a:r>
            <a:endParaRPr/>
          </a:p>
        </p:txBody>
      </p:sp>
      <p:sp>
        <p:nvSpPr>
          <p:cNvPr id="5" name="TextBox 5"/>
          <p:cNvSpPr txBox="1"/>
          <p:nvPr/>
        </p:nvSpPr>
        <p:spPr bwMode="auto">
          <a:xfrm rot="0" flipH="0" flipV="0">
            <a:off x="501014" y="248601"/>
            <a:ext cx="11061892" cy="7775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Мы собрали полный путь от сырых фото до проверенного файла отправки и демо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 bwMode="auto">
          <a:xfrm flipH="0" flipV="0">
            <a:off x="501014" y="248601"/>
            <a:ext cx="11204407" cy="889178"/>
            <a:chOff x="0" y="0"/>
            <a:chExt cx="11204407" cy="889178"/>
          </a:xfrm>
        </p:grpSpPr>
        <p:sp>
          <p:nvSpPr>
            <p:cNvPr id="5" name="TextBox 5"/>
            <p:cNvSpPr txBox="1"/>
            <p:nvPr/>
          </p:nvSpPr>
          <p:spPr bwMode="auto">
            <a:xfrm>
              <a:off x="0" y="0"/>
              <a:ext cx="11204407" cy="38897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2550" b="1">
                  <a:solidFill>
                    <a:srgbClr val="0F2A44"/>
                  </a:solidFill>
                  <a:latin typeface="Georgia"/>
                  <a:ea typeface="SimSun"/>
                  <a:cs typeface="Georgia"/>
                </a:rPr>
                <a:t>Модель возвращает не только класс, но и уверенность вместе с top-k альтернативами</a:t>
              </a:r>
              <a:endParaRPr/>
            </a:p>
          </p:txBody>
        </p:sp>
        <p:sp>
          <p:nvSpPr>
            <p:cNvPr id="7" name="TextBox 7"/>
            <p:cNvSpPr txBox="1"/>
            <p:nvPr/>
          </p:nvSpPr>
          <p:spPr bwMode="auto">
            <a:xfrm>
              <a:off x="167127" y="690698"/>
              <a:ext cx="8031915" cy="198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300" b="1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Такой формат ответа безопасен для бизнеса: автоматизация применяется только там, где уверенность достаточно высокая</a:t>
              </a:r>
              <a:endParaRPr/>
            </a:p>
          </p:txBody>
        </p:sp>
      </p:grpSp>
      <p:grpSp>
        <p:nvGrpSpPr>
          <p:cNvPr id="21" name="Group 21"/>
          <p:cNvGrpSpPr/>
          <p:nvPr/>
        </p:nvGrpSpPr>
        <p:grpSpPr bwMode="auto">
          <a:xfrm>
            <a:off x="533400" y="1619250"/>
            <a:ext cx="2762250" cy="3810000"/>
            <a:chOff x="533400" y="1619250"/>
            <a:chExt cx="2762250" cy="3810000"/>
          </a:xfrm>
        </p:grpSpPr>
        <p:sp>
          <p:nvSpPr>
            <p:cNvPr id="9" name="Rectangle 9"/>
            <p:cNvSpPr/>
            <p:nvPr/>
          </p:nvSpPr>
          <p:spPr bwMode="auto">
            <a:xfrm>
              <a:off x="533400" y="1619250"/>
              <a:ext cx="2762250" cy="3810000"/>
            </a:xfrm>
            <a:prstGeom prst="roundRect">
              <a:avLst>
                <a:gd name="adj" fmla="val 6207"/>
              </a:avLst>
            </a:prstGeom>
            <a:solidFill>
              <a:srgbClr val="FFFFFF"/>
            </a:solidFill>
            <a:ln w="9525">
              <a:solidFill>
                <a:srgbClr val="D8E1EA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10" name="TextBox 10"/>
            <p:cNvSpPr txBox="1"/>
            <p:nvPr/>
          </p:nvSpPr>
          <p:spPr bwMode="auto">
            <a:xfrm>
              <a:off x="856298" y="1858804"/>
              <a:ext cx="571371" cy="32004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600" b="1">
                  <a:solidFill>
                    <a:srgbClr val="111827"/>
                  </a:solidFill>
                  <a:latin typeface="Arial"/>
                  <a:ea typeface="Microsoft YaHei"/>
                  <a:cs typeface="Arial"/>
                </a:rPr>
                <a:t>Вход</a:t>
              </a:r>
              <a:endParaRPr/>
            </a:p>
          </p:txBody>
        </p:sp>
        <p:sp>
          <p:nvSpPr>
            <p:cNvPr id="11" name="Rectangle 11"/>
            <p:cNvSpPr/>
            <p:nvPr/>
          </p:nvSpPr>
          <p:spPr bwMode="auto">
            <a:xfrm>
              <a:off x="876299" y="2324100"/>
              <a:ext cx="2076450" cy="1428750"/>
            </a:xfrm>
            <a:prstGeom prst="roundRect">
              <a:avLst>
                <a:gd name="adj" fmla="val 9333"/>
              </a:avLst>
            </a:prstGeom>
            <a:solidFill>
              <a:srgbClr val="EAF3FB"/>
            </a:solidFill>
            <a:ln w="9525">
              <a:solidFill>
                <a:srgbClr val="D8E1EA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12" name="Freeform 12"/>
            <p:cNvSpPr/>
            <p:nvPr/>
          </p:nvSpPr>
          <p:spPr bwMode="auto">
            <a:xfrm>
              <a:off x="1143000" y="2838450"/>
              <a:ext cx="1638300" cy="590549"/>
            </a:xfrm>
            <a:custGeom>
              <a:avLst/>
              <a:gdLst/>
              <a:ahLst/>
              <a:cxnLst/>
              <a:rect l="l" t="t" r="r" b="b"/>
              <a:pathLst>
                <a:path w="1638300" h="590550" fill="norm" stroke="1" extrusionOk="0">
                  <a:moveTo>
                    <a:pt x="0" y="590550"/>
                  </a:moveTo>
                  <a:lnTo>
                    <a:pt x="523875" y="0"/>
                  </a:lnTo>
                  <a:lnTo>
                    <a:pt x="1000125" y="381000"/>
                  </a:lnTo>
                  <a:lnTo>
                    <a:pt x="1238250" y="95250"/>
                  </a:lnTo>
                  <a:lnTo>
                    <a:pt x="1638300" y="590550"/>
                  </a:lnTo>
                  <a:close/>
                </a:path>
              </a:pathLst>
            </a:custGeom>
            <a:solidFill>
              <a:srgbClr val="1565C0">
                <a:alpha val="18000"/>
              </a:srgbClr>
            </a:solidFill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 bwMode="auto">
            <a:xfrm>
              <a:off x="1238250" y="2590800"/>
              <a:ext cx="552450" cy="438149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D8E1EA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14" name="Rectangle 14"/>
            <p:cNvSpPr/>
            <p:nvPr/>
          </p:nvSpPr>
          <p:spPr bwMode="auto">
            <a:xfrm>
              <a:off x="2047875" y="2495550"/>
              <a:ext cx="571500" cy="876299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D8E1EA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grpSp>
          <p:nvGrpSpPr>
            <p:cNvPr id="17" name="Group 17"/>
            <p:cNvGrpSpPr/>
            <p:nvPr/>
          </p:nvGrpSpPr>
          <p:grpSpPr bwMode="auto">
            <a:xfrm>
              <a:off x="1734741" y="2865834"/>
              <a:ext cx="340518" cy="288131"/>
              <a:chOff x="1734741" y="2865834"/>
              <a:chExt cx="340518" cy="288131"/>
            </a:xfrm>
          </p:grpSpPr>
          <p:sp>
            <p:nvSpPr>
              <p:cNvPr id="15" name="Freeform 15"/>
              <p:cNvSpPr/>
              <p:nvPr/>
            </p:nvSpPr>
            <p:spPr bwMode="auto">
              <a:xfrm>
                <a:off x="1747838" y="2878931"/>
                <a:ext cx="314325" cy="212922"/>
              </a:xfrm>
              <a:custGeom>
                <a:avLst/>
                <a:gdLst/>
                <a:ahLst/>
                <a:cxnLst/>
                <a:rect l="l" t="t" r="r" b="b"/>
                <a:pathLst>
                  <a:path w="314325" h="212922" fill="norm" stroke="1" extrusionOk="0">
                    <a:moveTo>
                      <a:pt x="314325" y="13097"/>
                    </a:moveTo>
                    <a:lnTo>
                      <a:pt x="314325" y="212922"/>
                    </a:lnTo>
                    <a:lnTo>
                      <a:pt x="249299" y="147896"/>
                    </a:lnTo>
                    <a:cubicBezTo>
                      <a:pt x="244185" y="142786"/>
                      <a:pt x="235897" y="142786"/>
                      <a:pt x="230783" y="147896"/>
                    </a:cubicBezTo>
                    <a:lnTo>
                      <a:pt x="188775" y="189905"/>
                    </a:lnTo>
                    <a:lnTo>
                      <a:pt x="107493" y="108606"/>
                    </a:lnTo>
                    <a:cubicBezTo>
                      <a:pt x="105036" y="106147"/>
                      <a:pt x="101703" y="104765"/>
                      <a:pt x="98227" y="104765"/>
                    </a:cubicBezTo>
                    <a:cubicBezTo>
                      <a:pt x="94751" y="104765"/>
                      <a:pt x="91417" y="106147"/>
                      <a:pt x="88961" y="108606"/>
                    </a:cubicBezTo>
                    <a:lnTo>
                      <a:pt x="0" y="197583"/>
                    </a:lnTo>
                    <a:lnTo>
                      <a:pt x="0" y="13097"/>
                    </a:lnTo>
                    <a:cubicBezTo>
                      <a:pt x="0" y="5864"/>
                      <a:pt x="5864" y="0"/>
                      <a:pt x="13097" y="0"/>
                    </a:cubicBezTo>
                    <a:lnTo>
                      <a:pt x="301228" y="0"/>
                    </a:lnTo>
                    <a:cubicBezTo>
                      <a:pt x="308461" y="0"/>
                      <a:pt x="314325" y="5864"/>
                      <a:pt x="314325" y="13097"/>
                    </a:cubicBezTo>
                    <a:close/>
                  </a:path>
                </a:pathLst>
              </a:custGeom>
              <a:solidFill>
                <a:srgbClr val="1565C0">
                  <a:alpha val="20000"/>
                </a:srgbClr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16" name="Freeform 16"/>
              <p:cNvSpPr/>
              <p:nvPr/>
            </p:nvSpPr>
            <p:spPr bwMode="auto">
              <a:xfrm>
                <a:off x="1734741" y="2865834"/>
                <a:ext cx="340518" cy="288131"/>
              </a:xfrm>
              <a:custGeom>
                <a:avLst/>
                <a:gdLst/>
                <a:ahLst/>
                <a:cxnLst/>
                <a:rect l="l" t="t" r="r" b="b"/>
                <a:pathLst>
                  <a:path w="340519" h="288131" fill="norm" stroke="1" extrusionOk="0">
                    <a:moveTo>
                      <a:pt x="314325" y="0"/>
                    </a:moveTo>
                    <a:lnTo>
                      <a:pt x="26194" y="0"/>
                    </a:lnTo>
                    <a:cubicBezTo>
                      <a:pt x="11727" y="0"/>
                      <a:pt x="0" y="11727"/>
                      <a:pt x="0" y="26194"/>
                    </a:cubicBezTo>
                    <a:lnTo>
                      <a:pt x="0" y="261938"/>
                    </a:lnTo>
                    <a:cubicBezTo>
                      <a:pt x="0" y="276404"/>
                      <a:pt x="11727" y="288131"/>
                      <a:pt x="26194" y="288131"/>
                    </a:cubicBezTo>
                    <a:lnTo>
                      <a:pt x="314325" y="288131"/>
                    </a:lnTo>
                    <a:cubicBezTo>
                      <a:pt x="328791" y="288131"/>
                      <a:pt x="340519" y="276404"/>
                      <a:pt x="340519" y="261938"/>
                    </a:cubicBezTo>
                    <a:lnTo>
                      <a:pt x="340519" y="26194"/>
                    </a:lnTo>
                    <a:cubicBezTo>
                      <a:pt x="340519" y="11727"/>
                      <a:pt x="328791" y="0"/>
                      <a:pt x="314325" y="0"/>
                    </a:cubicBezTo>
                    <a:close/>
                    <a:moveTo>
                      <a:pt x="314325" y="26194"/>
                    </a:moveTo>
                    <a:lnTo>
                      <a:pt x="314325" y="194407"/>
                    </a:lnTo>
                    <a:lnTo>
                      <a:pt x="271646" y="151744"/>
                    </a:lnTo>
                    <a:cubicBezTo>
                      <a:pt x="266733" y="146830"/>
                      <a:pt x="260070" y="144070"/>
                      <a:pt x="253122" y="144070"/>
                    </a:cubicBezTo>
                    <a:cubicBezTo>
                      <a:pt x="246174" y="144070"/>
                      <a:pt x="239510" y="146830"/>
                      <a:pt x="234598" y="151744"/>
                    </a:cubicBezTo>
                    <a:lnTo>
                      <a:pt x="201856" y="184486"/>
                    </a:lnTo>
                    <a:lnTo>
                      <a:pt x="129823" y="112453"/>
                    </a:lnTo>
                    <a:cubicBezTo>
                      <a:pt x="119595" y="102232"/>
                      <a:pt x="103019" y="102232"/>
                      <a:pt x="92791" y="112453"/>
                    </a:cubicBezTo>
                    <a:lnTo>
                      <a:pt x="26194" y="179051"/>
                    </a:lnTo>
                    <a:lnTo>
                      <a:pt x="26194" y="26194"/>
                    </a:lnTo>
                    <a:close/>
                    <a:moveTo>
                      <a:pt x="26194" y="216098"/>
                    </a:moveTo>
                    <a:lnTo>
                      <a:pt x="111323" y="130969"/>
                    </a:lnTo>
                    <a:lnTo>
                      <a:pt x="242292" y="261938"/>
                    </a:lnTo>
                    <a:lnTo>
                      <a:pt x="26194" y="261938"/>
                    </a:lnTo>
                    <a:close/>
                    <a:moveTo>
                      <a:pt x="314325" y="261938"/>
                    </a:moveTo>
                    <a:lnTo>
                      <a:pt x="279340" y="261938"/>
                    </a:lnTo>
                    <a:lnTo>
                      <a:pt x="220404" y="203002"/>
                    </a:lnTo>
                    <a:lnTo>
                      <a:pt x="253146" y="170259"/>
                    </a:lnTo>
                    <a:lnTo>
                      <a:pt x="314325" y="231455"/>
                    </a:lnTo>
                    <a:lnTo>
                      <a:pt x="314325" y="261938"/>
                    </a:lnTo>
                    <a:close/>
                    <a:moveTo>
                      <a:pt x="196453" y="98227"/>
                    </a:moveTo>
                    <a:cubicBezTo>
                      <a:pt x="196453" y="87377"/>
                      <a:pt x="205249" y="78581"/>
                      <a:pt x="216098" y="78581"/>
                    </a:cubicBezTo>
                    <a:cubicBezTo>
                      <a:pt x="226948" y="78581"/>
                      <a:pt x="235744" y="87377"/>
                      <a:pt x="235744" y="98227"/>
                    </a:cubicBezTo>
                    <a:cubicBezTo>
                      <a:pt x="235744" y="109076"/>
                      <a:pt x="226948" y="117872"/>
                      <a:pt x="216098" y="117872"/>
                    </a:cubicBezTo>
                    <a:cubicBezTo>
                      <a:pt x="205249" y="117872"/>
                      <a:pt x="196453" y="109076"/>
                      <a:pt x="196453" y="98227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</p:grpSp>
        <p:sp>
          <p:nvSpPr>
            <p:cNvPr id="18" name="TextBox 18"/>
            <p:cNvSpPr txBox="1"/>
            <p:nvPr/>
          </p:nvSpPr>
          <p:spPr bwMode="auto">
            <a:xfrm>
              <a:off x="859155" y="4026218"/>
              <a:ext cx="2208062" cy="27432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350" b="1">
                  <a:solidFill>
                    <a:srgbClr val="111827"/>
                  </a:solidFill>
                  <a:latin typeface="Arial"/>
                  <a:ea typeface="Microsoft YaHei"/>
                  <a:cs typeface="Arial"/>
                </a:rPr>
                <a:t>Одно фото объявления</a:t>
              </a:r>
              <a:endParaRPr/>
            </a:p>
          </p:txBody>
        </p:sp>
        <p:sp>
          <p:nvSpPr>
            <p:cNvPr id="19" name="TextBox 19"/>
            <p:cNvSpPr txBox="1"/>
            <p:nvPr/>
          </p:nvSpPr>
          <p:spPr bwMode="auto">
            <a:xfrm>
              <a:off x="862012" y="4355306"/>
              <a:ext cx="2115264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Разное качество, ракурс,</a:t>
              </a:r>
              <a:endParaRPr/>
            </a:p>
          </p:txBody>
        </p:sp>
        <p:sp>
          <p:nvSpPr>
            <p:cNvPr id="20" name="TextBox 20"/>
            <p:cNvSpPr txBox="1"/>
            <p:nvPr/>
          </p:nvSpPr>
          <p:spPr bwMode="auto">
            <a:xfrm>
              <a:off x="862012" y="4564856"/>
              <a:ext cx="2024896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освещение и меблировка.</a:t>
              </a:r>
              <a:endParaRPr/>
            </a:p>
          </p:txBody>
        </p:sp>
      </p:grpSp>
      <p:grpSp>
        <p:nvGrpSpPr>
          <p:cNvPr id="31" name="Group 31"/>
          <p:cNvGrpSpPr/>
          <p:nvPr/>
        </p:nvGrpSpPr>
        <p:grpSpPr bwMode="auto">
          <a:xfrm>
            <a:off x="3943350" y="1619250"/>
            <a:ext cx="2609850" cy="3810000"/>
            <a:chOff x="3943350" y="1619250"/>
            <a:chExt cx="2609850" cy="3810000"/>
          </a:xfrm>
        </p:grpSpPr>
        <p:sp>
          <p:nvSpPr>
            <p:cNvPr id="22" name="Rectangle 22"/>
            <p:cNvSpPr/>
            <p:nvPr/>
          </p:nvSpPr>
          <p:spPr bwMode="auto">
            <a:xfrm>
              <a:off x="3943350" y="1619250"/>
              <a:ext cx="2609850" cy="3810000"/>
            </a:xfrm>
            <a:prstGeom prst="roundRect">
              <a:avLst>
                <a:gd name="adj" fmla="val 6569"/>
              </a:avLst>
            </a:prstGeom>
            <a:solidFill>
              <a:srgbClr val="0F2A44"/>
            </a:solidFill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23" name="Ellipse 23"/>
            <p:cNvSpPr/>
            <p:nvPr/>
          </p:nvSpPr>
          <p:spPr bwMode="auto">
            <a:xfrm>
              <a:off x="4467225" y="2076450"/>
              <a:ext cx="1562100" cy="1562100"/>
            </a:xfrm>
            <a:prstGeom prst="ellipse">
              <a:avLst/>
            </a:prstGeom>
            <a:solidFill>
              <a:srgbClr val="1565C0">
                <a:alpha val="24000"/>
              </a:srgbClr>
            </a:solidFill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grpSp>
          <p:nvGrpSpPr>
            <p:cNvPr id="26" name="Group 26"/>
            <p:cNvGrpSpPr/>
            <p:nvPr/>
          </p:nvGrpSpPr>
          <p:grpSpPr bwMode="auto">
            <a:xfrm>
              <a:off x="4801763" y="2455588"/>
              <a:ext cx="892997" cy="774058"/>
              <a:chOff x="4801763" y="2455588"/>
              <a:chExt cx="892997" cy="774058"/>
            </a:xfrm>
          </p:grpSpPr>
          <p:sp>
            <p:nvSpPr>
              <p:cNvPr id="24" name="Freeform 24"/>
              <p:cNvSpPr/>
              <p:nvPr/>
            </p:nvSpPr>
            <p:spPr bwMode="auto">
              <a:xfrm>
                <a:off x="4831396" y="2500312"/>
                <a:ext cx="833621" cy="684609"/>
              </a:xfrm>
              <a:custGeom>
                <a:avLst/>
                <a:gdLst/>
                <a:ahLst/>
                <a:cxnLst/>
                <a:rect l="l" t="t" r="r" b="b"/>
                <a:pathLst>
                  <a:path w="833621" h="684609" fill="norm" stroke="1" extrusionOk="0">
                    <a:moveTo>
                      <a:pt x="833597" y="342305"/>
                    </a:moveTo>
                    <a:cubicBezTo>
                      <a:pt x="833621" y="418010"/>
                      <a:pt x="785911" y="485506"/>
                      <a:pt x="714535" y="510741"/>
                    </a:cubicBezTo>
                    <a:lnTo>
                      <a:pt x="714535" y="510741"/>
                    </a:lnTo>
                    <a:lnTo>
                      <a:pt x="714535" y="535781"/>
                    </a:lnTo>
                    <a:cubicBezTo>
                      <a:pt x="714535" y="617977"/>
                      <a:pt x="647902" y="684609"/>
                      <a:pt x="565707" y="684609"/>
                    </a:cubicBezTo>
                    <a:cubicBezTo>
                      <a:pt x="483511" y="684609"/>
                      <a:pt x="416879" y="617977"/>
                      <a:pt x="416879" y="535781"/>
                    </a:cubicBezTo>
                    <a:cubicBezTo>
                      <a:pt x="416879" y="617977"/>
                      <a:pt x="350246" y="684609"/>
                      <a:pt x="268050" y="684609"/>
                    </a:cubicBezTo>
                    <a:cubicBezTo>
                      <a:pt x="185855" y="684609"/>
                      <a:pt x="119222" y="617977"/>
                      <a:pt x="119222" y="535781"/>
                    </a:cubicBezTo>
                    <a:lnTo>
                      <a:pt x="119222" y="510741"/>
                    </a:lnTo>
                    <a:lnTo>
                      <a:pt x="119222" y="510741"/>
                    </a:lnTo>
                    <a:cubicBezTo>
                      <a:pt x="47783" y="485560"/>
                      <a:pt x="0" y="418052"/>
                      <a:pt x="0" y="342305"/>
                    </a:cubicBezTo>
                    <a:cubicBezTo>
                      <a:pt x="0" y="266557"/>
                      <a:pt x="47783" y="199050"/>
                      <a:pt x="119222" y="173868"/>
                    </a:cubicBezTo>
                    <a:lnTo>
                      <a:pt x="119222" y="148828"/>
                    </a:lnTo>
                    <a:cubicBezTo>
                      <a:pt x="119222" y="66633"/>
                      <a:pt x="185855" y="0"/>
                      <a:pt x="268050" y="0"/>
                    </a:cubicBezTo>
                    <a:cubicBezTo>
                      <a:pt x="350246" y="0"/>
                      <a:pt x="416879" y="66633"/>
                      <a:pt x="416879" y="148828"/>
                    </a:cubicBezTo>
                    <a:cubicBezTo>
                      <a:pt x="416879" y="66633"/>
                      <a:pt x="483511" y="0"/>
                      <a:pt x="565707" y="0"/>
                    </a:cubicBezTo>
                    <a:cubicBezTo>
                      <a:pt x="647902" y="0"/>
                      <a:pt x="714535" y="66633"/>
                      <a:pt x="714535" y="148828"/>
                    </a:cubicBezTo>
                    <a:lnTo>
                      <a:pt x="714535" y="173868"/>
                    </a:lnTo>
                    <a:cubicBezTo>
                      <a:pt x="785911" y="199104"/>
                      <a:pt x="833621" y="266599"/>
                      <a:pt x="833597" y="342305"/>
                    </a:cubicBezTo>
                    <a:close/>
                  </a:path>
                </a:pathLst>
              </a:custGeom>
              <a:solidFill>
                <a:srgbClr val="00A6D6">
                  <a:alpha val="20000"/>
                </a:srgbClr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25" name="Freeform 25"/>
              <p:cNvSpPr/>
              <p:nvPr/>
            </p:nvSpPr>
            <p:spPr bwMode="auto">
              <a:xfrm>
                <a:off x="4801763" y="2455588"/>
                <a:ext cx="892997" cy="774058"/>
              </a:xfrm>
              <a:custGeom>
                <a:avLst/>
                <a:gdLst/>
                <a:ahLst/>
                <a:cxnLst/>
                <a:rect l="l" t="t" r="r" b="b"/>
                <a:pathLst>
                  <a:path w="892997" h="774058" fill="norm" stroke="1" extrusionOk="0">
                    <a:moveTo>
                      <a:pt x="892997" y="387029"/>
                    </a:moveTo>
                    <a:cubicBezTo>
                      <a:pt x="892916" y="306560"/>
                      <a:pt x="846596" y="233301"/>
                      <a:pt x="773934" y="198724"/>
                    </a:cubicBezTo>
                    <a:lnTo>
                      <a:pt x="773934" y="193552"/>
                    </a:lnTo>
                    <a:cubicBezTo>
                      <a:pt x="773864" y="114805"/>
                      <a:pt x="722225" y="45397"/>
                      <a:pt x="646819" y="22699"/>
                    </a:cubicBezTo>
                    <a:cubicBezTo>
                      <a:pt x="571414" y="0"/>
                      <a:pt x="490041" y="29368"/>
                      <a:pt x="446512" y="94991"/>
                    </a:cubicBezTo>
                    <a:cubicBezTo>
                      <a:pt x="402983" y="29368"/>
                      <a:pt x="321610" y="0"/>
                      <a:pt x="246205" y="22699"/>
                    </a:cubicBezTo>
                    <a:cubicBezTo>
                      <a:pt x="170800" y="45397"/>
                      <a:pt x="119161" y="114805"/>
                      <a:pt x="119090" y="193552"/>
                    </a:cubicBezTo>
                    <a:lnTo>
                      <a:pt x="119090" y="198724"/>
                    </a:lnTo>
                    <a:cubicBezTo>
                      <a:pt x="46361" y="233209"/>
                      <a:pt x="0" y="306501"/>
                      <a:pt x="0" y="386992"/>
                    </a:cubicBezTo>
                    <a:cubicBezTo>
                      <a:pt x="0" y="467482"/>
                      <a:pt x="46361" y="540774"/>
                      <a:pt x="119090" y="575259"/>
                    </a:cubicBezTo>
                    <a:lnTo>
                      <a:pt x="119090" y="580505"/>
                    </a:lnTo>
                    <a:cubicBezTo>
                      <a:pt x="119161" y="659253"/>
                      <a:pt x="170800" y="728661"/>
                      <a:pt x="246205" y="751359"/>
                    </a:cubicBezTo>
                    <a:cubicBezTo>
                      <a:pt x="321610" y="774058"/>
                      <a:pt x="402983" y="744690"/>
                      <a:pt x="446512" y="679067"/>
                    </a:cubicBezTo>
                    <a:cubicBezTo>
                      <a:pt x="490041" y="744690"/>
                      <a:pt x="571414" y="774058"/>
                      <a:pt x="646819" y="751359"/>
                    </a:cubicBezTo>
                    <a:cubicBezTo>
                      <a:pt x="722225" y="728661"/>
                      <a:pt x="773864" y="659253"/>
                      <a:pt x="773934" y="580505"/>
                    </a:cubicBezTo>
                    <a:lnTo>
                      <a:pt x="773934" y="575259"/>
                    </a:lnTo>
                    <a:cubicBezTo>
                      <a:pt x="846584" y="540708"/>
                      <a:pt x="892906" y="467476"/>
                      <a:pt x="892997" y="387029"/>
                    </a:cubicBezTo>
                    <a:close/>
                    <a:moveTo>
                      <a:pt x="297684" y="699568"/>
                    </a:moveTo>
                    <a:cubicBezTo>
                      <a:pt x="236888" y="699559"/>
                      <a:pt x="185864" y="653748"/>
                      <a:pt x="179329" y="593305"/>
                    </a:cubicBezTo>
                    <a:cubicBezTo>
                      <a:pt x="188954" y="594678"/>
                      <a:pt x="198664" y="595374"/>
                      <a:pt x="208387" y="595388"/>
                    </a:cubicBezTo>
                    <a:lnTo>
                      <a:pt x="238153" y="595388"/>
                    </a:lnTo>
                    <a:cubicBezTo>
                      <a:pt x="254592" y="595388"/>
                      <a:pt x="267919" y="582062"/>
                      <a:pt x="267919" y="565623"/>
                    </a:cubicBezTo>
                    <a:cubicBezTo>
                      <a:pt x="267919" y="549184"/>
                      <a:pt x="254592" y="535857"/>
                      <a:pt x="238153" y="535857"/>
                    </a:cubicBezTo>
                    <a:lnTo>
                      <a:pt x="208387" y="535857"/>
                    </a:lnTo>
                    <a:cubicBezTo>
                      <a:pt x="135832" y="535942"/>
                      <a:pt x="73790" y="483695"/>
                      <a:pt x="61527" y="412184"/>
                    </a:cubicBezTo>
                    <a:cubicBezTo>
                      <a:pt x="49263" y="340674"/>
                      <a:pt x="90353" y="270741"/>
                      <a:pt x="158790" y="246647"/>
                    </a:cubicBezTo>
                    <a:cubicBezTo>
                      <a:pt x="170675" y="242439"/>
                      <a:pt x="178620" y="231200"/>
                      <a:pt x="178622" y="218593"/>
                    </a:cubicBezTo>
                    <a:lnTo>
                      <a:pt x="178622" y="193552"/>
                    </a:lnTo>
                    <a:cubicBezTo>
                      <a:pt x="178622" y="127796"/>
                      <a:pt x="231928" y="74490"/>
                      <a:pt x="297684" y="74490"/>
                    </a:cubicBezTo>
                    <a:cubicBezTo>
                      <a:pt x="363441" y="74490"/>
                      <a:pt x="416747" y="127796"/>
                      <a:pt x="416747" y="193552"/>
                    </a:cubicBezTo>
                    <a:lnTo>
                      <a:pt x="416747" y="447528"/>
                    </a:lnTo>
                    <a:cubicBezTo>
                      <a:pt x="384061" y="418130"/>
                      <a:pt x="341645" y="401879"/>
                      <a:pt x="297684" y="401912"/>
                    </a:cubicBezTo>
                    <a:cubicBezTo>
                      <a:pt x="281245" y="401912"/>
                      <a:pt x="267919" y="415238"/>
                      <a:pt x="267919" y="431677"/>
                    </a:cubicBezTo>
                    <a:cubicBezTo>
                      <a:pt x="267919" y="448116"/>
                      <a:pt x="281245" y="461443"/>
                      <a:pt x="297684" y="461443"/>
                    </a:cubicBezTo>
                    <a:cubicBezTo>
                      <a:pt x="363441" y="461443"/>
                      <a:pt x="416747" y="514749"/>
                      <a:pt x="416747" y="580505"/>
                    </a:cubicBezTo>
                    <a:cubicBezTo>
                      <a:pt x="416747" y="646262"/>
                      <a:pt x="363441" y="699568"/>
                      <a:pt x="297684" y="699568"/>
                    </a:cubicBezTo>
                    <a:close/>
                    <a:moveTo>
                      <a:pt x="684637" y="535857"/>
                    </a:moveTo>
                    <a:lnTo>
                      <a:pt x="654872" y="535857"/>
                    </a:lnTo>
                    <a:cubicBezTo>
                      <a:pt x="638433" y="535857"/>
                      <a:pt x="625106" y="549184"/>
                      <a:pt x="625106" y="565623"/>
                    </a:cubicBezTo>
                    <a:cubicBezTo>
                      <a:pt x="625106" y="582062"/>
                      <a:pt x="638433" y="595388"/>
                      <a:pt x="654872" y="595388"/>
                    </a:cubicBezTo>
                    <a:lnTo>
                      <a:pt x="684637" y="595388"/>
                    </a:lnTo>
                    <a:cubicBezTo>
                      <a:pt x="694360" y="595374"/>
                      <a:pt x="704070" y="594678"/>
                      <a:pt x="713696" y="593305"/>
                    </a:cubicBezTo>
                    <a:cubicBezTo>
                      <a:pt x="706806" y="657029"/>
                      <a:pt x="650706" y="703862"/>
                      <a:pt x="586776" y="699261"/>
                    </a:cubicBezTo>
                    <a:cubicBezTo>
                      <a:pt x="522846" y="694659"/>
                      <a:pt x="474031" y="640274"/>
                      <a:pt x="476338" y="576220"/>
                    </a:cubicBezTo>
                    <a:cubicBezTo>
                      <a:pt x="478645" y="512167"/>
                      <a:pt x="531245" y="461434"/>
                      <a:pt x="595340" y="461443"/>
                    </a:cubicBezTo>
                    <a:cubicBezTo>
                      <a:pt x="611780" y="461443"/>
                      <a:pt x="625106" y="448116"/>
                      <a:pt x="625106" y="431677"/>
                    </a:cubicBezTo>
                    <a:cubicBezTo>
                      <a:pt x="625106" y="415238"/>
                      <a:pt x="611780" y="401912"/>
                      <a:pt x="595340" y="401912"/>
                    </a:cubicBezTo>
                    <a:cubicBezTo>
                      <a:pt x="551379" y="401879"/>
                      <a:pt x="508964" y="418130"/>
                      <a:pt x="476278" y="447528"/>
                    </a:cubicBezTo>
                    <a:lnTo>
                      <a:pt x="476278" y="193552"/>
                    </a:lnTo>
                    <a:cubicBezTo>
                      <a:pt x="476278" y="127796"/>
                      <a:pt x="529584" y="74490"/>
                      <a:pt x="595340" y="74490"/>
                    </a:cubicBezTo>
                    <a:cubicBezTo>
                      <a:pt x="661097" y="74490"/>
                      <a:pt x="714403" y="127796"/>
                      <a:pt x="714403" y="193552"/>
                    </a:cubicBezTo>
                    <a:lnTo>
                      <a:pt x="714403" y="218593"/>
                    </a:lnTo>
                    <a:cubicBezTo>
                      <a:pt x="714405" y="231200"/>
                      <a:pt x="722350" y="242439"/>
                      <a:pt x="734234" y="246647"/>
                    </a:cubicBezTo>
                    <a:cubicBezTo>
                      <a:pt x="802672" y="270741"/>
                      <a:pt x="843761" y="340674"/>
                      <a:pt x="831498" y="412184"/>
                    </a:cubicBezTo>
                    <a:cubicBezTo>
                      <a:pt x="819234" y="483695"/>
                      <a:pt x="757192" y="535942"/>
                      <a:pt x="684637" y="535857"/>
                    </a:cubicBezTo>
                    <a:close/>
                    <a:moveTo>
                      <a:pt x="744169" y="342380"/>
                    </a:moveTo>
                    <a:cubicBezTo>
                      <a:pt x="744169" y="358820"/>
                      <a:pt x="730842" y="372146"/>
                      <a:pt x="714403" y="372146"/>
                    </a:cubicBezTo>
                    <a:lnTo>
                      <a:pt x="699520" y="372146"/>
                    </a:lnTo>
                    <a:cubicBezTo>
                      <a:pt x="625544" y="372146"/>
                      <a:pt x="565575" y="312177"/>
                      <a:pt x="565575" y="238201"/>
                    </a:cubicBezTo>
                    <a:lnTo>
                      <a:pt x="565575" y="223318"/>
                    </a:lnTo>
                    <a:cubicBezTo>
                      <a:pt x="565575" y="206879"/>
                      <a:pt x="578901" y="193552"/>
                      <a:pt x="595340" y="193552"/>
                    </a:cubicBezTo>
                    <a:cubicBezTo>
                      <a:pt x="611780" y="193552"/>
                      <a:pt x="625106" y="206879"/>
                      <a:pt x="625106" y="223318"/>
                    </a:cubicBezTo>
                    <a:lnTo>
                      <a:pt x="625106" y="238201"/>
                    </a:lnTo>
                    <a:cubicBezTo>
                      <a:pt x="625106" y="279299"/>
                      <a:pt x="658422" y="312615"/>
                      <a:pt x="699520" y="312615"/>
                    </a:cubicBezTo>
                    <a:lnTo>
                      <a:pt x="714403" y="312615"/>
                    </a:lnTo>
                    <a:cubicBezTo>
                      <a:pt x="730842" y="312615"/>
                      <a:pt x="744169" y="325941"/>
                      <a:pt x="744169" y="342380"/>
                    </a:cubicBezTo>
                    <a:close/>
                    <a:moveTo>
                      <a:pt x="193504" y="372146"/>
                    </a:moveTo>
                    <a:lnTo>
                      <a:pt x="178622" y="372146"/>
                    </a:lnTo>
                    <a:cubicBezTo>
                      <a:pt x="162183" y="372146"/>
                      <a:pt x="148856" y="358820"/>
                      <a:pt x="148856" y="342380"/>
                    </a:cubicBezTo>
                    <a:cubicBezTo>
                      <a:pt x="148856" y="325941"/>
                      <a:pt x="162183" y="312615"/>
                      <a:pt x="178622" y="312615"/>
                    </a:cubicBezTo>
                    <a:lnTo>
                      <a:pt x="193504" y="312615"/>
                    </a:lnTo>
                    <a:cubicBezTo>
                      <a:pt x="234602" y="312615"/>
                      <a:pt x="267919" y="279299"/>
                      <a:pt x="267919" y="238201"/>
                    </a:cubicBezTo>
                    <a:lnTo>
                      <a:pt x="267919" y="223318"/>
                    </a:lnTo>
                    <a:cubicBezTo>
                      <a:pt x="267919" y="206879"/>
                      <a:pt x="281245" y="193552"/>
                      <a:pt x="297684" y="193552"/>
                    </a:cubicBezTo>
                    <a:cubicBezTo>
                      <a:pt x="314123" y="193552"/>
                      <a:pt x="327450" y="206879"/>
                      <a:pt x="327450" y="223318"/>
                    </a:cubicBezTo>
                    <a:lnTo>
                      <a:pt x="327450" y="238201"/>
                    </a:lnTo>
                    <a:cubicBezTo>
                      <a:pt x="327450" y="312177"/>
                      <a:pt x="267480" y="372146"/>
                      <a:pt x="193504" y="372146"/>
                    </a:cubicBezTo>
                    <a:close/>
                  </a:path>
                </a:pathLst>
              </a:custGeom>
              <a:solidFill>
                <a:srgbClr val="00A6D6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</p:grpSp>
        <p:sp>
          <p:nvSpPr>
            <p:cNvPr id="27" name="TextBox 27"/>
            <p:cNvSpPr txBox="1"/>
            <p:nvPr/>
          </p:nvSpPr>
          <p:spPr bwMode="auto">
            <a:xfrm>
              <a:off x="4203710" y="3798094"/>
              <a:ext cx="2089130" cy="3810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900" b="1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RoomPredictor</a:t>
              </a:r>
              <a:endParaRPr/>
            </a:p>
          </p:txBody>
        </p:sp>
        <p:sp>
          <p:nvSpPr>
            <p:cNvPr id="28" name="TextBox 28"/>
            <p:cNvSpPr txBox="1"/>
            <p:nvPr/>
          </p:nvSpPr>
          <p:spPr bwMode="auto">
            <a:xfrm>
              <a:off x="4350841" y="4183856"/>
              <a:ext cx="1794867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150">
                  <a:solidFill>
                    <a:srgbClr val="D8E1EA"/>
                  </a:solidFill>
                  <a:latin typeface="Arial"/>
                  <a:ea typeface="Microsoft YaHei"/>
                  <a:cs typeface="Arial"/>
                </a:rPr>
                <a:t>модель классификации</a:t>
              </a:r>
              <a:endParaRPr/>
            </a:p>
          </p:txBody>
        </p:sp>
        <p:sp>
          <p:nvSpPr>
            <p:cNvPr id="29" name="Rectangle 29"/>
            <p:cNvSpPr/>
            <p:nvPr/>
          </p:nvSpPr>
          <p:spPr bwMode="auto">
            <a:xfrm>
              <a:off x="4324350" y="4686300"/>
              <a:ext cx="1847850" cy="4000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12000"/>
              </a:srgbClr>
            </a:solidFill>
            <a:ln w="9525">
              <a:solidFill>
                <a:srgbClr val="00A6D6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30" name="TextBox 30"/>
            <p:cNvSpPr txBox="1"/>
            <p:nvPr/>
          </p:nvSpPr>
          <p:spPr bwMode="auto">
            <a:xfrm>
              <a:off x="4444701" y="4822031"/>
              <a:ext cx="1607147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150" b="1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20 классов · top-k</a:t>
              </a:r>
              <a:endParaRPr/>
            </a:p>
          </p:txBody>
        </p:sp>
      </p:grpSp>
      <p:grpSp>
        <p:nvGrpSpPr>
          <p:cNvPr id="52" name="Group 52"/>
          <p:cNvGrpSpPr/>
          <p:nvPr/>
        </p:nvGrpSpPr>
        <p:grpSpPr bwMode="auto">
          <a:xfrm>
            <a:off x="7200900" y="1619250"/>
            <a:ext cx="4457700" cy="3810000"/>
            <a:chOff x="7200900" y="1619250"/>
            <a:chExt cx="4457700" cy="3810000"/>
          </a:xfrm>
        </p:grpSpPr>
        <p:sp>
          <p:nvSpPr>
            <p:cNvPr id="32" name="Rectangle 32"/>
            <p:cNvSpPr/>
            <p:nvPr/>
          </p:nvSpPr>
          <p:spPr bwMode="auto">
            <a:xfrm>
              <a:off x="7200900" y="1619250"/>
              <a:ext cx="4457700" cy="3810000"/>
            </a:xfrm>
            <a:prstGeom prst="roundRect">
              <a:avLst>
                <a:gd name="adj" fmla="val 4500"/>
              </a:avLst>
            </a:prstGeom>
            <a:solidFill>
              <a:srgbClr val="FFFFFF"/>
            </a:solidFill>
            <a:ln w="9525">
              <a:solidFill>
                <a:srgbClr val="D8E1EA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33" name="TextBox 33"/>
            <p:cNvSpPr txBox="1"/>
            <p:nvPr/>
          </p:nvSpPr>
          <p:spPr bwMode="auto">
            <a:xfrm>
              <a:off x="7523798" y="1858804"/>
              <a:ext cx="2310389" cy="32004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600" b="1">
                  <a:solidFill>
                    <a:srgbClr val="111827"/>
                  </a:solidFill>
                  <a:latin typeface="Arial"/>
                  <a:ea typeface="Microsoft YaHei"/>
                  <a:cs typeface="Arial"/>
                </a:rPr>
                <a:t>Выход для продукта</a:t>
              </a:r>
              <a:endParaRPr/>
            </a:p>
          </p:txBody>
        </p:sp>
        <p:sp>
          <p:nvSpPr>
            <p:cNvPr id="34" name="Rectangle 34"/>
            <p:cNvSpPr/>
            <p:nvPr/>
          </p:nvSpPr>
          <p:spPr bwMode="auto">
            <a:xfrm>
              <a:off x="7543800" y="2324100"/>
              <a:ext cx="3771900" cy="1952625"/>
            </a:xfrm>
            <a:prstGeom prst="roundRect">
              <a:avLst>
                <a:gd name="adj" fmla="val 6829"/>
              </a:avLst>
            </a:prstGeom>
            <a:solidFill>
              <a:srgbClr val="F8FAFC"/>
            </a:solidFill>
            <a:ln w="9525">
              <a:solidFill>
                <a:srgbClr val="D8E1EA"/>
              </a:solidFill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</p:sp>
        <p:sp>
          <p:nvSpPr>
            <p:cNvPr id="35" name="TextBox 35"/>
            <p:cNvSpPr txBox="1"/>
            <p:nvPr/>
          </p:nvSpPr>
          <p:spPr bwMode="auto">
            <a:xfrm>
              <a:off x="7777162" y="2526505"/>
              <a:ext cx="118943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11827"/>
                  </a:solidFill>
                  <a:latin typeface="Consolas"/>
                  <a:ea typeface="Microsoft YaHei"/>
                  <a:cs typeface="Consolas"/>
                </a:rPr>
                <a:t>{</a:t>
              </a:r>
              <a:endParaRPr/>
            </a:p>
          </p:txBody>
        </p:sp>
        <p:sp>
          <p:nvSpPr>
            <p:cNvPr id="36" name="TextBox 36"/>
            <p:cNvSpPr txBox="1"/>
            <p:nvPr/>
          </p:nvSpPr>
          <p:spPr bwMode="auto">
            <a:xfrm>
              <a:off x="8043862" y="2774156"/>
              <a:ext cx="850106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"class_id"</a:t>
              </a:r>
              <a:endParaRPr/>
            </a:p>
          </p:txBody>
        </p:sp>
        <p:sp>
          <p:nvSpPr>
            <p:cNvPr id="37" name="TextBox 37"/>
            <p:cNvSpPr txBox="1"/>
            <p:nvPr/>
          </p:nvSpPr>
          <p:spPr bwMode="auto">
            <a:xfrm>
              <a:off x="8996362" y="2774156"/>
              <a:ext cx="348972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11827"/>
                  </a:solidFill>
                  <a:latin typeface="Consolas"/>
                  <a:ea typeface="Microsoft YaHei"/>
                  <a:cs typeface="Consolas"/>
                </a:rPr>
                <a:t>: 3,</a:t>
              </a:r>
              <a:endParaRPr/>
            </a:p>
          </p:txBody>
        </p:sp>
        <p:sp>
          <p:nvSpPr>
            <p:cNvPr id="38" name="TextBox 38"/>
            <p:cNvSpPr txBox="1"/>
            <p:nvPr/>
          </p:nvSpPr>
          <p:spPr bwMode="auto">
            <a:xfrm>
              <a:off x="8043862" y="3021806"/>
              <a:ext cx="1104781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"class_name"</a:t>
              </a:r>
              <a:endParaRPr/>
            </a:p>
          </p:txBody>
        </p:sp>
        <p:sp>
          <p:nvSpPr>
            <p:cNvPr id="39" name="TextBox 39"/>
            <p:cNvSpPr txBox="1"/>
            <p:nvPr/>
          </p:nvSpPr>
          <p:spPr bwMode="auto">
            <a:xfrm>
              <a:off x="9244012" y="3021806"/>
              <a:ext cx="1162288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11827"/>
                  </a:solidFill>
                  <a:latin typeface="Consolas"/>
                  <a:ea typeface="Microsoft YaHei"/>
                  <a:cs typeface="Consolas"/>
                </a:rPr>
                <a:t>: "гостиная",</a:t>
              </a:r>
              <a:endParaRPr/>
            </a:p>
          </p:txBody>
        </p:sp>
        <p:sp>
          <p:nvSpPr>
            <p:cNvPr id="40" name="TextBox 40"/>
            <p:cNvSpPr txBox="1"/>
            <p:nvPr/>
          </p:nvSpPr>
          <p:spPr bwMode="auto">
            <a:xfrm>
              <a:off x="8043862" y="3269456"/>
              <a:ext cx="1080135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"probability"</a:t>
              </a:r>
              <a:endParaRPr/>
            </a:p>
          </p:txBody>
        </p:sp>
        <p:sp>
          <p:nvSpPr>
            <p:cNvPr id="41" name="TextBox 41"/>
            <p:cNvSpPr txBox="1"/>
            <p:nvPr/>
          </p:nvSpPr>
          <p:spPr bwMode="auto">
            <a:xfrm>
              <a:off x="9339262" y="3269456"/>
              <a:ext cx="620078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11827"/>
                  </a:solidFill>
                  <a:latin typeface="Consolas"/>
                  <a:ea typeface="Microsoft YaHei"/>
                  <a:cs typeface="Consolas"/>
                </a:rPr>
                <a:t>: 0.87,</a:t>
              </a:r>
              <a:endParaRPr/>
            </a:p>
          </p:txBody>
        </p:sp>
        <p:sp>
          <p:nvSpPr>
            <p:cNvPr id="42" name="TextBox 42"/>
            <p:cNvSpPr txBox="1"/>
            <p:nvPr/>
          </p:nvSpPr>
          <p:spPr bwMode="auto">
            <a:xfrm>
              <a:off x="8043862" y="3517106"/>
              <a:ext cx="661153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"top_k"</a:t>
              </a:r>
              <a:endParaRPr/>
            </a:p>
          </p:txBody>
        </p:sp>
        <p:sp>
          <p:nvSpPr>
            <p:cNvPr id="43" name="TextBox 43"/>
            <p:cNvSpPr txBox="1"/>
            <p:nvPr/>
          </p:nvSpPr>
          <p:spPr bwMode="auto">
            <a:xfrm>
              <a:off x="8805862" y="3517106"/>
              <a:ext cx="858322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11827"/>
                  </a:solidFill>
                  <a:latin typeface="Consolas"/>
                  <a:ea typeface="Microsoft YaHei"/>
                  <a:cs typeface="Consolas"/>
                </a:rPr>
                <a:t>: [3, 1, 2]</a:t>
              </a:r>
              <a:endParaRPr/>
            </a:p>
          </p:txBody>
        </p:sp>
        <p:sp>
          <p:nvSpPr>
            <p:cNvPr id="44" name="TextBox 44"/>
            <p:cNvSpPr txBox="1"/>
            <p:nvPr/>
          </p:nvSpPr>
          <p:spPr bwMode="auto">
            <a:xfrm>
              <a:off x="7777162" y="3879056"/>
              <a:ext cx="118943" cy="228600"/>
            </a:xfrm>
            <a:prstGeom prst="rect">
              <a:avLst/>
            </a:prstGeom>
            <a:noFill/>
            <a:ln>
              <a:noFill/>
            </a:ln>
            <a:effectLst>
              <a:outerShdw blurRad="95250" dist="28575" dir="5400000" algn="ctr" rotWithShape="0">
                <a:srgbClr val="0F2A44">
                  <a:alpha val="60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150">
                  <a:solidFill>
                    <a:srgbClr val="111827"/>
                  </a:solidFill>
                  <a:latin typeface="Consolas"/>
                  <a:ea typeface="Microsoft YaHei"/>
                  <a:cs typeface="Consolas"/>
                </a:rPr>
                <a:t>}</a:t>
              </a:r>
              <a:endParaRPr/>
            </a:p>
          </p:txBody>
        </p:sp>
        <p:grpSp>
          <p:nvGrpSpPr>
            <p:cNvPr id="51" name="Group 51"/>
            <p:cNvGrpSpPr/>
            <p:nvPr/>
          </p:nvGrpSpPr>
          <p:grpSpPr bwMode="auto">
            <a:xfrm>
              <a:off x="7543800" y="4591050"/>
              <a:ext cx="3467100" cy="419100"/>
              <a:chOff x="7543800" y="4591050"/>
              <a:chExt cx="3467100" cy="419100"/>
            </a:xfrm>
          </p:grpSpPr>
          <p:sp>
            <p:nvSpPr>
              <p:cNvPr id="45" name="Rectangle 45"/>
              <p:cNvSpPr/>
              <p:nvPr/>
            </p:nvSpPr>
            <p:spPr bwMode="auto">
              <a:xfrm>
                <a:off x="7543800" y="4591050"/>
                <a:ext cx="1104900" cy="419100"/>
              </a:xfrm>
              <a:prstGeom prst="roundRect">
                <a:avLst>
                  <a:gd name="adj" fmla="val 50000"/>
                </a:avLst>
              </a:prstGeom>
              <a:solidFill>
                <a:srgbClr val="EAF7EE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46" name="TextBox 46"/>
              <p:cNvSpPr txBox="1"/>
              <p:nvPr/>
            </p:nvSpPr>
            <p:spPr bwMode="auto">
              <a:xfrm>
                <a:off x="7728671" y="4744402"/>
                <a:ext cx="735159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уверенно</a:t>
                </a:r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 bwMode="auto">
              <a:xfrm>
                <a:off x="8782050" y="4800600"/>
                <a:ext cx="43814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38150" h="9525" fill="norm" stroke="1" extrusionOk="0">
                    <a:moveTo>
                      <a:pt x="0" y="0"/>
                    </a:moveTo>
                    <a:lnTo>
                      <a:pt x="438150" y="0"/>
                    </a:lnTo>
                  </a:path>
                </a:pathLst>
              </a:custGeom>
              <a:solidFill>
                <a:srgbClr val="000000"/>
              </a:solidFill>
              <a:ln w="19050">
                <a:solidFill>
                  <a:srgbClr val="D8E1EA"/>
                </a:solidFill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48" name="Polygon 48"/>
              <p:cNvSpPr/>
              <p:nvPr/>
            </p:nvSpPr>
            <p:spPr bwMode="auto">
              <a:xfrm>
                <a:off x="9105900" y="47434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 fill="norm" stroke="1" extrusionOk="0">
                    <a:moveTo>
                      <a:pt x="114300" y="57150"/>
                    </a:moveTo>
                    <a:lnTo>
                      <a:pt x="0" y="0"/>
                    </a:lnTo>
                    <a:lnTo>
                      <a:pt x="0" y="114300"/>
                    </a:lnTo>
                    <a:close/>
                  </a:path>
                </a:pathLst>
              </a:custGeom>
              <a:solidFill>
                <a:srgbClr val="D8E1EA"/>
              </a:solidFill>
              <a:ln>
                <a:noFill/>
              </a:ln>
            </p:spPr>
          </p:sp>
          <p:sp>
            <p:nvSpPr>
              <p:cNvPr id="49" name="Rectangle 49"/>
              <p:cNvSpPr/>
              <p:nvPr/>
            </p:nvSpPr>
            <p:spPr bwMode="auto">
              <a:xfrm>
                <a:off x="9353550" y="4591050"/>
                <a:ext cx="1657350" cy="419100"/>
              </a:xfrm>
              <a:prstGeom prst="roundRect">
                <a:avLst>
                  <a:gd name="adj" fmla="val 50000"/>
                </a:avLst>
              </a:prstGeom>
              <a:solidFill>
                <a:srgbClr val="EAF3FB"/>
              </a:solidFill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</p:sp>
          <p:sp>
            <p:nvSpPr>
              <p:cNvPr id="50" name="TextBox 50"/>
              <p:cNvSpPr txBox="1"/>
              <p:nvPr/>
            </p:nvSpPr>
            <p:spPr bwMode="auto">
              <a:xfrm>
                <a:off x="9391968" y="4744402"/>
                <a:ext cx="1580514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95250" dist="28575" dir="5400000" algn="ctr" rotWithShape="0">
                  <a:srgbClr val="0F2A44">
                    <a:alpha val="60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ускорить модерацию</a:t>
                </a:r>
                <a:endParaRPr/>
              </a:p>
            </p:txBody>
          </p:sp>
        </p:grpSp>
      </p:grpSp>
      <p:grpSp>
        <p:nvGrpSpPr>
          <p:cNvPr id="57" name="Group 57"/>
          <p:cNvGrpSpPr/>
          <p:nvPr/>
        </p:nvGrpSpPr>
        <p:grpSpPr bwMode="auto">
          <a:xfrm>
            <a:off x="3409950" y="3448050"/>
            <a:ext cx="3657600" cy="152400"/>
            <a:chOff x="3409950" y="3448050"/>
            <a:chExt cx="3657600" cy="152400"/>
          </a:xfrm>
        </p:grpSpPr>
        <p:sp>
          <p:nvSpPr>
            <p:cNvPr id="53" name="Freeform 53"/>
            <p:cNvSpPr/>
            <p:nvPr/>
          </p:nvSpPr>
          <p:spPr bwMode="auto">
            <a:xfrm>
              <a:off x="3409950" y="3524250"/>
              <a:ext cx="400050" cy="9525"/>
            </a:xfrm>
            <a:custGeom>
              <a:avLst/>
              <a:gdLst/>
              <a:ahLst/>
              <a:cxnLst/>
              <a:rect l="l" t="t" r="r" b="b"/>
              <a:pathLst>
                <a:path w="400050" h="9525" fill="norm" stroke="1" extrusionOk="0">
                  <a:moveTo>
                    <a:pt x="0" y="0"/>
                  </a:moveTo>
                  <a:lnTo>
                    <a:pt x="400050" y="0"/>
                  </a:lnTo>
                </a:path>
              </a:pathLst>
            </a:custGeom>
            <a:noFill/>
            <a:ln w="38100">
              <a:solidFill>
                <a:srgbClr val="1565C0"/>
              </a:solidFill>
            </a:ln>
          </p:spPr>
        </p:sp>
        <p:sp>
          <p:nvSpPr>
            <p:cNvPr id="54" name="Polygon 54"/>
            <p:cNvSpPr/>
            <p:nvPr/>
          </p:nvSpPr>
          <p:spPr bwMode="auto">
            <a:xfrm>
              <a:off x="3676650" y="34480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 fill="norm" stroke="1" extrusionOk="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1565C0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 bwMode="auto">
            <a:xfrm>
              <a:off x="6667500" y="3524250"/>
              <a:ext cx="400050" cy="9525"/>
            </a:xfrm>
            <a:custGeom>
              <a:avLst/>
              <a:gdLst/>
              <a:ahLst/>
              <a:cxnLst/>
              <a:rect l="l" t="t" r="r" b="b"/>
              <a:pathLst>
                <a:path w="400050" h="9525" fill="norm" stroke="1" extrusionOk="0">
                  <a:moveTo>
                    <a:pt x="0" y="0"/>
                  </a:moveTo>
                  <a:lnTo>
                    <a:pt x="400050" y="0"/>
                  </a:lnTo>
                </a:path>
              </a:pathLst>
            </a:custGeom>
            <a:noFill/>
            <a:ln w="38100">
              <a:solidFill>
                <a:srgbClr val="1565C0"/>
              </a:solidFill>
            </a:ln>
          </p:spPr>
        </p:sp>
        <p:sp>
          <p:nvSpPr>
            <p:cNvPr id="56" name="Polygon 56"/>
            <p:cNvSpPr/>
            <p:nvPr/>
          </p:nvSpPr>
          <p:spPr bwMode="auto">
            <a:xfrm>
              <a:off x="6934200" y="34480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 fill="norm" stroke="1" extrusionOk="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1565C0"/>
            </a:solidFill>
            <a:ln>
              <a:noFill/>
            </a:ln>
          </p:spPr>
        </p:sp>
      </p:grpSp>
      <p:sp>
        <p:nvSpPr>
          <p:cNvPr id="59" name="TextBox 59"/>
          <p:cNvSpPr txBox="1"/>
          <p:nvPr/>
        </p:nvSpPr>
        <p:spPr bwMode="auto">
          <a:xfrm rot="0" flipH="0" flipV="0">
            <a:off x="11797522" y="13118782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04 /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 bwMode="auto">
          <a:xfrm>
            <a:off x="501015" y="248602"/>
            <a:ext cx="12734753" cy="932498"/>
            <a:chOff x="501015" y="248602"/>
            <a:chExt cx="12734753" cy="932498"/>
          </a:xfrm>
        </p:grpSpPr>
        <p:sp>
          <p:nvSpPr>
            <p:cNvPr id="5" name="TextBox 5"/>
            <p:cNvSpPr txBox="1"/>
            <p:nvPr/>
          </p:nvSpPr>
          <p:spPr bwMode="auto">
            <a:xfrm>
              <a:off x="501015" y="248602"/>
              <a:ext cx="1273475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2550" b="1">
                  <a:solidFill>
                    <a:srgbClr val="0F2A44"/>
                  </a:solidFill>
                  <a:latin typeface="Georgia"/>
                  <a:ea typeface="SimSun"/>
                  <a:cs typeface="Georgia"/>
                </a:rPr>
                <a:t>Качество решения начинается с защиты от грязных данных и утечек</a:t>
              </a:r>
              <a:endParaRPr/>
            </a:p>
          </p:txBody>
        </p:sp>
        <p:sp>
          <p:nvSpPr>
            <p:cNvPr id="6" name="Rectangle 6"/>
            <p:cNvSpPr/>
            <p:nvPr/>
          </p:nvSpPr>
          <p:spPr bwMode="auto">
            <a:xfrm>
              <a:off x="533400" y="723900"/>
              <a:ext cx="11125200" cy="457200"/>
            </a:xfrm>
            <a:prstGeom prst="roundRect">
              <a:avLst>
                <a:gd name="adj" fmla="val 20833"/>
              </a:avLst>
            </a:prstGeom>
            <a:solidFill>
              <a:srgbClr val="0F2A4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 bwMode="auto">
            <a:xfrm>
              <a:off x="745808" y="872014"/>
              <a:ext cx="105027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300" b="1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Без этого высокий скор на validation мог бы быть иллюзией, а не сигналом готовности к реальному применению</a:t>
              </a:r>
              <a:endParaRPr/>
            </a:p>
          </p:txBody>
        </p:sp>
      </p:grpSp>
      <p:grpSp>
        <p:nvGrpSpPr>
          <p:cNvPr id="65" name="Group 65"/>
          <p:cNvGrpSpPr/>
          <p:nvPr/>
        </p:nvGrpSpPr>
        <p:grpSpPr bwMode="auto">
          <a:xfrm>
            <a:off x="533400" y="1466849"/>
            <a:ext cx="11125200" cy="4438650"/>
            <a:chOff x="533400" y="1466849"/>
            <a:chExt cx="11125200" cy="4438650"/>
          </a:xfrm>
        </p:grpSpPr>
        <p:grpSp>
          <p:nvGrpSpPr>
            <p:cNvPr id="22" name="Group 22"/>
            <p:cNvGrpSpPr/>
            <p:nvPr/>
          </p:nvGrpSpPr>
          <p:grpSpPr bwMode="auto">
            <a:xfrm>
              <a:off x="533400" y="1466849"/>
              <a:ext cx="2571750" cy="4438650"/>
              <a:chOff x="533400" y="1466849"/>
              <a:chExt cx="2571750" cy="4438650"/>
            </a:xfrm>
          </p:grpSpPr>
          <p:sp>
            <p:nvSpPr>
              <p:cNvPr id="9" name="Rectangle 9"/>
              <p:cNvSpPr/>
              <p:nvPr/>
            </p:nvSpPr>
            <p:spPr bwMode="auto">
              <a:xfrm>
                <a:off x="533400" y="1466849"/>
                <a:ext cx="2571750" cy="4438650"/>
              </a:xfrm>
              <a:prstGeom prst="roundRect">
                <a:avLst>
                  <a:gd name="adj" fmla="val 5926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0" name="Freeform 10"/>
              <p:cNvSpPr/>
              <p:nvPr/>
            </p:nvSpPr>
            <p:spPr bwMode="auto">
              <a:xfrm>
                <a:off x="533400" y="1466849"/>
                <a:ext cx="2571750" cy="895350"/>
              </a:xfrm>
              <a:custGeom>
                <a:avLst/>
                <a:gdLst/>
                <a:ahLst/>
                <a:cxnLst/>
                <a:rect l="l" t="t" r="r" b="b"/>
                <a:pathLst>
                  <a:path w="2571750" h="895350" fill="norm" stroke="1" extrusionOk="0">
                    <a:moveTo>
                      <a:pt x="152400" y="0"/>
                    </a:moveTo>
                    <a:lnTo>
                      <a:pt x="2419350" y="0"/>
                    </a:lnTo>
                    <a:cubicBezTo>
                      <a:pt x="2503518" y="0"/>
                      <a:pt x="2571750" y="68232"/>
                      <a:pt x="2571750" y="152400"/>
                    </a:cubicBezTo>
                    <a:lnTo>
                      <a:pt x="2571750" y="895350"/>
                    </a:lnTo>
                    <a:lnTo>
                      <a:pt x="0" y="895350"/>
                    </a:ln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EAF3FB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13" name="Group 13"/>
              <p:cNvGrpSpPr/>
              <p:nvPr/>
            </p:nvGrpSpPr>
            <p:grpSpPr bwMode="auto">
              <a:xfrm>
                <a:off x="1610320" y="1737717"/>
                <a:ext cx="417909" cy="353616"/>
                <a:chOff x="1610320" y="1737717"/>
                <a:chExt cx="417909" cy="353616"/>
              </a:xfrm>
            </p:grpSpPr>
            <p:sp>
              <p:nvSpPr>
                <p:cNvPr id="11" name="Freeform 11"/>
                <p:cNvSpPr/>
                <p:nvPr/>
              </p:nvSpPr>
              <p:spPr bwMode="auto">
                <a:xfrm>
                  <a:off x="1626394" y="1753791"/>
                  <a:ext cx="385762" cy="2613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5762" h="261314" fill="norm" stroke="1" extrusionOk="0">
                      <a:moveTo>
                        <a:pt x="385762" y="16073"/>
                      </a:moveTo>
                      <a:lnTo>
                        <a:pt x="385762" y="261314"/>
                      </a:lnTo>
                      <a:lnTo>
                        <a:pt x="305958" y="181509"/>
                      </a:lnTo>
                      <a:cubicBezTo>
                        <a:pt x="299682" y="175237"/>
                        <a:pt x="289510" y="175237"/>
                        <a:pt x="283234" y="181509"/>
                      </a:cubicBezTo>
                      <a:lnTo>
                        <a:pt x="231679" y="233065"/>
                      </a:lnTo>
                      <a:lnTo>
                        <a:pt x="131923" y="133289"/>
                      </a:lnTo>
                      <a:cubicBezTo>
                        <a:pt x="128908" y="130271"/>
                        <a:pt x="124817" y="128575"/>
                        <a:pt x="120551" y="128575"/>
                      </a:cubicBezTo>
                      <a:cubicBezTo>
                        <a:pt x="116285" y="128575"/>
                        <a:pt x="112194" y="130271"/>
                        <a:pt x="109179" y="133289"/>
                      </a:cubicBezTo>
                      <a:lnTo>
                        <a:pt x="0" y="242488"/>
                      </a:lnTo>
                      <a:lnTo>
                        <a:pt x="0" y="16073"/>
                      </a:lnTo>
                      <a:cubicBezTo>
                        <a:pt x="0" y="7196"/>
                        <a:pt x="7196" y="0"/>
                        <a:pt x="16073" y="0"/>
                      </a:cubicBezTo>
                      <a:lnTo>
                        <a:pt x="369689" y="0"/>
                      </a:lnTo>
                      <a:cubicBezTo>
                        <a:pt x="378566" y="0"/>
                        <a:pt x="385762" y="7196"/>
                        <a:pt x="385762" y="16073"/>
                      </a:cubicBez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12" name="Freeform 12"/>
                <p:cNvSpPr/>
                <p:nvPr/>
              </p:nvSpPr>
              <p:spPr bwMode="auto">
                <a:xfrm>
                  <a:off x="1610320" y="1737717"/>
                  <a:ext cx="417909" cy="3536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7909" h="353616" fill="norm" stroke="1" extrusionOk="0">
                      <a:moveTo>
                        <a:pt x="385762" y="0"/>
                      </a:moveTo>
                      <a:lnTo>
                        <a:pt x="32147" y="0"/>
                      </a:lnTo>
                      <a:cubicBezTo>
                        <a:pt x="14393" y="0"/>
                        <a:pt x="0" y="14393"/>
                        <a:pt x="0" y="32147"/>
                      </a:cubicBezTo>
                      <a:lnTo>
                        <a:pt x="0" y="321469"/>
                      </a:lnTo>
                      <a:cubicBezTo>
                        <a:pt x="0" y="339223"/>
                        <a:pt x="14393" y="353616"/>
                        <a:pt x="32147" y="353616"/>
                      </a:cubicBezTo>
                      <a:lnTo>
                        <a:pt x="385762" y="353616"/>
                      </a:lnTo>
                      <a:cubicBezTo>
                        <a:pt x="403517" y="353616"/>
                        <a:pt x="417909" y="339223"/>
                        <a:pt x="417909" y="321469"/>
                      </a:cubicBezTo>
                      <a:lnTo>
                        <a:pt x="417909" y="32147"/>
                      </a:lnTo>
                      <a:cubicBezTo>
                        <a:pt x="417909" y="14393"/>
                        <a:pt x="403517" y="0"/>
                        <a:pt x="385762" y="0"/>
                      </a:cubicBezTo>
                      <a:close/>
                      <a:moveTo>
                        <a:pt x="385762" y="32147"/>
                      </a:moveTo>
                      <a:lnTo>
                        <a:pt x="385762" y="238590"/>
                      </a:lnTo>
                      <a:lnTo>
                        <a:pt x="333383" y="186231"/>
                      </a:lnTo>
                      <a:cubicBezTo>
                        <a:pt x="327354" y="180201"/>
                        <a:pt x="319176" y="176813"/>
                        <a:pt x="310649" y="176813"/>
                      </a:cubicBezTo>
                      <a:cubicBezTo>
                        <a:pt x="302122" y="176813"/>
                        <a:pt x="293944" y="180201"/>
                        <a:pt x="287915" y="186231"/>
                      </a:cubicBezTo>
                      <a:lnTo>
                        <a:pt x="247732" y="226414"/>
                      </a:lnTo>
                      <a:lnTo>
                        <a:pt x="159328" y="138011"/>
                      </a:lnTo>
                      <a:cubicBezTo>
                        <a:pt x="146776" y="125466"/>
                        <a:pt x="126433" y="125466"/>
                        <a:pt x="113880" y="138011"/>
                      </a:cubicBezTo>
                      <a:lnTo>
                        <a:pt x="32147" y="219744"/>
                      </a:lnTo>
                      <a:lnTo>
                        <a:pt x="32147" y="32147"/>
                      </a:lnTo>
                      <a:close/>
                      <a:moveTo>
                        <a:pt x="32147" y="265212"/>
                      </a:moveTo>
                      <a:lnTo>
                        <a:pt x="136624" y="160734"/>
                      </a:lnTo>
                      <a:lnTo>
                        <a:pt x="297359" y="321469"/>
                      </a:lnTo>
                      <a:lnTo>
                        <a:pt x="32147" y="321469"/>
                      </a:lnTo>
                      <a:close/>
                      <a:moveTo>
                        <a:pt x="385762" y="321469"/>
                      </a:moveTo>
                      <a:lnTo>
                        <a:pt x="342826" y="321469"/>
                      </a:lnTo>
                      <a:lnTo>
                        <a:pt x="270496" y="249138"/>
                      </a:lnTo>
                      <a:lnTo>
                        <a:pt x="310679" y="208955"/>
                      </a:lnTo>
                      <a:lnTo>
                        <a:pt x="385762" y="284058"/>
                      </a:lnTo>
                      <a:lnTo>
                        <a:pt x="385762" y="321469"/>
                      </a:lnTo>
                      <a:close/>
                      <a:moveTo>
                        <a:pt x="241102" y="120551"/>
                      </a:moveTo>
                      <a:cubicBezTo>
                        <a:pt x="241102" y="107235"/>
                        <a:pt x="251896" y="96441"/>
                        <a:pt x="265212" y="96441"/>
                      </a:cubicBezTo>
                      <a:cubicBezTo>
                        <a:pt x="278527" y="96441"/>
                        <a:pt x="289322" y="107235"/>
                        <a:pt x="289322" y="120551"/>
                      </a:cubicBezTo>
                      <a:cubicBezTo>
                        <a:pt x="289322" y="133866"/>
                        <a:pt x="278527" y="144661"/>
                        <a:pt x="265212" y="144661"/>
                      </a:cubicBezTo>
                      <a:cubicBezTo>
                        <a:pt x="251896" y="144661"/>
                        <a:pt x="241102" y="133866"/>
                        <a:pt x="241102" y="120551"/>
                      </a:cubicBez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14" name="TextBox 14"/>
              <p:cNvSpPr txBox="1"/>
              <p:nvPr/>
            </p:nvSpPr>
            <p:spPr bwMode="auto">
              <a:xfrm>
                <a:off x="937617" y="2333625"/>
                <a:ext cx="1763316" cy="3048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50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1. Аудит файлов</a:t>
                </a:r>
                <a:endParaRPr/>
              </a:p>
            </p:txBody>
          </p:sp>
          <p:sp>
            <p:nvSpPr>
              <p:cNvPr id="15" name="Line 15"/>
              <p:cNvSpPr/>
              <p:nvPr/>
            </p:nvSpPr>
            <p:spPr bwMode="auto">
              <a:xfrm>
                <a:off x="781050" y="27051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 fill="norm" stroke="1" extrusionOk="0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8E1EA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 bwMode="auto">
              <a:xfrm>
                <a:off x="861060" y="2975610"/>
                <a:ext cx="1300239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Что проверяли</a:t>
                </a:r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 bwMode="auto">
              <a:xfrm>
                <a:off x="862012" y="3307556"/>
                <a:ext cx="1704499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наличие изображений</a:t>
                </a:r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 bwMode="auto">
              <a:xfrm>
                <a:off x="862012" y="3536156"/>
                <a:ext cx="179486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открываемость файлов</a:t>
                </a:r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 bwMode="auto">
              <a:xfrm>
                <a:off x="862012" y="3764756"/>
                <a:ext cx="1162288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таблица путей</a:t>
                </a:r>
                <a:endParaRPr/>
              </a:p>
            </p:txBody>
          </p:sp>
          <p:sp>
            <p:nvSpPr>
              <p:cNvPr id="20" name="Rectangle 20"/>
              <p:cNvSpPr/>
              <p:nvPr/>
            </p:nvSpPr>
            <p:spPr bwMode="auto">
              <a:xfrm>
                <a:off x="876299" y="4781550"/>
                <a:ext cx="1885950" cy="514350"/>
              </a:xfrm>
              <a:prstGeom prst="roundRect">
                <a:avLst>
                  <a:gd name="adj" fmla="val 22222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1" name="TextBox 21"/>
              <p:cNvSpPr txBox="1"/>
              <p:nvPr/>
            </p:nvSpPr>
            <p:spPr bwMode="auto">
              <a:xfrm>
                <a:off x="1141732" y="4982528"/>
                <a:ext cx="1355086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data/preprocess</a:t>
                </a:r>
                <a:endParaRPr/>
              </a:p>
            </p:txBody>
          </p:sp>
        </p:grpSp>
        <p:grpSp>
          <p:nvGrpSpPr>
            <p:cNvPr id="36" name="Group 36"/>
            <p:cNvGrpSpPr/>
            <p:nvPr/>
          </p:nvGrpSpPr>
          <p:grpSpPr bwMode="auto">
            <a:xfrm>
              <a:off x="3381375" y="1466849"/>
              <a:ext cx="2624614" cy="4438650"/>
              <a:chOff x="3381375" y="1466849"/>
              <a:chExt cx="2624614" cy="4438650"/>
            </a:xfrm>
          </p:grpSpPr>
          <p:sp>
            <p:nvSpPr>
              <p:cNvPr id="23" name="Rectangle 23"/>
              <p:cNvSpPr/>
              <p:nvPr/>
            </p:nvSpPr>
            <p:spPr bwMode="auto">
              <a:xfrm>
                <a:off x="3381375" y="1466849"/>
                <a:ext cx="2571750" cy="4438650"/>
              </a:xfrm>
              <a:prstGeom prst="roundRect">
                <a:avLst>
                  <a:gd name="adj" fmla="val 5926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4" name="Freeform 24"/>
              <p:cNvSpPr/>
              <p:nvPr/>
            </p:nvSpPr>
            <p:spPr bwMode="auto">
              <a:xfrm>
                <a:off x="3381375" y="1466849"/>
                <a:ext cx="2571750" cy="895350"/>
              </a:xfrm>
              <a:custGeom>
                <a:avLst/>
                <a:gdLst/>
                <a:ahLst/>
                <a:cxnLst/>
                <a:rect l="l" t="t" r="r" b="b"/>
                <a:pathLst>
                  <a:path w="2571750" h="895350" fill="norm" stroke="1" extrusionOk="0">
                    <a:moveTo>
                      <a:pt x="152400" y="0"/>
                    </a:moveTo>
                    <a:lnTo>
                      <a:pt x="2419350" y="0"/>
                    </a:lnTo>
                    <a:cubicBezTo>
                      <a:pt x="2503518" y="0"/>
                      <a:pt x="2571750" y="68232"/>
                      <a:pt x="2571750" y="152400"/>
                    </a:cubicBezTo>
                    <a:lnTo>
                      <a:pt x="2571750" y="895350"/>
                    </a:lnTo>
                    <a:lnTo>
                      <a:pt x="0" y="895350"/>
                    </a:ln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EAF7EE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27" name="Group 27"/>
              <p:cNvGrpSpPr/>
              <p:nvPr/>
            </p:nvGrpSpPr>
            <p:grpSpPr bwMode="auto">
              <a:xfrm>
                <a:off x="4474369" y="1705570"/>
                <a:ext cx="385762" cy="417909"/>
                <a:chOff x="4474369" y="1705570"/>
                <a:chExt cx="385762" cy="417909"/>
              </a:xfrm>
            </p:grpSpPr>
            <p:sp>
              <p:nvSpPr>
                <p:cNvPr id="25" name="Freeform 25"/>
                <p:cNvSpPr/>
                <p:nvPr/>
              </p:nvSpPr>
              <p:spPr bwMode="auto">
                <a:xfrm>
                  <a:off x="4490442" y="1721644"/>
                  <a:ext cx="353616" cy="1928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616" h="192881" fill="norm" stroke="1" extrusionOk="0">
                      <a:moveTo>
                        <a:pt x="353616" y="96441"/>
                      </a:moveTo>
                      <a:cubicBezTo>
                        <a:pt x="353616" y="149704"/>
                        <a:pt x="274454" y="192881"/>
                        <a:pt x="176808" y="192881"/>
                      </a:cubicBezTo>
                      <a:cubicBezTo>
                        <a:pt x="79162" y="192881"/>
                        <a:pt x="0" y="149704"/>
                        <a:pt x="0" y="96441"/>
                      </a:cubicBezTo>
                      <a:cubicBezTo>
                        <a:pt x="0" y="43177"/>
                        <a:pt x="79162" y="0"/>
                        <a:pt x="176808" y="0"/>
                      </a:cubicBezTo>
                      <a:cubicBezTo>
                        <a:pt x="274454" y="0"/>
                        <a:pt x="353616" y="43177"/>
                        <a:pt x="353616" y="96441"/>
                      </a:cubicBezTo>
                      <a:close/>
                    </a:path>
                  </a:pathLst>
                </a:custGeom>
                <a:solidFill>
                  <a:srgbClr val="2E7D3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6" name="Freeform 26"/>
                <p:cNvSpPr/>
                <p:nvPr/>
              </p:nvSpPr>
              <p:spPr bwMode="auto">
                <a:xfrm>
                  <a:off x="4474369" y="1705570"/>
                  <a:ext cx="385762" cy="4179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5762" h="417909" fill="norm" stroke="1" extrusionOk="0">
                      <a:moveTo>
                        <a:pt x="192881" y="0"/>
                      </a:moveTo>
                      <a:cubicBezTo>
                        <a:pt x="84727" y="0"/>
                        <a:pt x="0" y="49426"/>
                        <a:pt x="0" y="112514"/>
                      </a:cubicBezTo>
                      <a:lnTo>
                        <a:pt x="0" y="305395"/>
                      </a:lnTo>
                      <a:cubicBezTo>
                        <a:pt x="0" y="368484"/>
                        <a:pt x="84727" y="417909"/>
                        <a:pt x="192881" y="417909"/>
                      </a:cubicBezTo>
                      <a:cubicBezTo>
                        <a:pt x="301035" y="417909"/>
                        <a:pt x="385762" y="368484"/>
                        <a:pt x="385762" y="305395"/>
                      </a:cubicBezTo>
                      <a:lnTo>
                        <a:pt x="385762" y="112514"/>
                      </a:lnTo>
                      <a:cubicBezTo>
                        <a:pt x="385762" y="49426"/>
                        <a:pt x="301035" y="0"/>
                        <a:pt x="192881" y="0"/>
                      </a:cubicBezTo>
                      <a:close/>
                      <a:moveTo>
                        <a:pt x="353616" y="208955"/>
                      </a:moveTo>
                      <a:cubicBezTo>
                        <a:pt x="353616" y="228283"/>
                        <a:pt x="337783" y="247993"/>
                        <a:pt x="310197" y="263042"/>
                      </a:cubicBezTo>
                      <a:cubicBezTo>
                        <a:pt x="279135" y="279979"/>
                        <a:pt x="237465" y="289322"/>
                        <a:pt x="192881" y="289322"/>
                      </a:cubicBezTo>
                      <a:cubicBezTo>
                        <a:pt x="148298" y="289322"/>
                        <a:pt x="106627" y="279979"/>
                        <a:pt x="75565" y="263042"/>
                      </a:cubicBezTo>
                      <a:cubicBezTo>
                        <a:pt x="47979" y="247993"/>
                        <a:pt x="32147" y="228283"/>
                        <a:pt x="32147" y="208955"/>
                      </a:cubicBezTo>
                      <a:lnTo>
                        <a:pt x="32147" y="175522"/>
                      </a:lnTo>
                      <a:cubicBezTo>
                        <a:pt x="66423" y="205660"/>
                        <a:pt x="125031" y="225028"/>
                        <a:pt x="192881" y="225028"/>
                      </a:cubicBezTo>
                      <a:cubicBezTo>
                        <a:pt x="260731" y="225028"/>
                        <a:pt x="319339" y="205579"/>
                        <a:pt x="353616" y="175522"/>
                      </a:cubicBezTo>
                      <a:close/>
                      <a:moveTo>
                        <a:pt x="75565" y="58427"/>
                      </a:moveTo>
                      <a:cubicBezTo>
                        <a:pt x="106627" y="41490"/>
                        <a:pt x="148298" y="32147"/>
                        <a:pt x="192881" y="32147"/>
                      </a:cubicBezTo>
                      <a:cubicBezTo>
                        <a:pt x="237465" y="32147"/>
                        <a:pt x="279135" y="41490"/>
                        <a:pt x="310197" y="58427"/>
                      </a:cubicBezTo>
                      <a:cubicBezTo>
                        <a:pt x="337783" y="73476"/>
                        <a:pt x="353616" y="93186"/>
                        <a:pt x="353616" y="112514"/>
                      </a:cubicBezTo>
                      <a:cubicBezTo>
                        <a:pt x="353616" y="131842"/>
                        <a:pt x="337783" y="151552"/>
                        <a:pt x="310197" y="166601"/>
                      </a:cubicBezTo>
                      <a:cubicBezTo>
                        <a:pt x="279135" y="183539"/>
                        <a:pt x="237465" y="192881"/>
                        <a:pt x="192881" y="192881"/>
                      </a:cubicBezTo>
                      <a:cubicBezTo>
                        <a:pt x="148298" y="192881"/>
                        <a:pt x="106627" y="183539"/>
                        <a:pt x="75565" y="166601"/>
                      </a:cubicBezTo>
                      <a:cubicBezTo>
                        <a:pt x="47979" y="151552"/>
                        <a:pt x="32147" y="131842"/>
                        <a:pt x="32147" y="112514"/>
                      </a:cubicBezTo>
                      <a:cubicBezTo>
                        <a:pt x="32147" y="93186"/>
                        <a:pt x="47979" y="73476"/>
                        <a:pt x="75565" y="58427"/>
                      </a:cubicBezTo>
                      <a:close/>
                      <a:moveTo>
                        <a:pt x="310197" y="359482"/>
                      </a:moveTo>
                      <a:cubicBezTo>
                        <a:pt x="279135" y="376420"/>
                        <a:pt x="237465" y="385762"/>
                        <a:pt x="192881" y="385762"/>
                      </a:cubicBezTo>
                      <a:cubicBezTo>
                        <a:pt x="148298" y="385762"/>
                        <a:pt x="106627" y="376420"/>
                        <a:pt x="75565" y="359482"/>
                      </a:cubicBezTo>
                      <a:cubicBezTo>
                        <a:pt x="47979" y="344434"/>
                        <a:pt x="32147" y="324724"/>
                        <a:pt x="32147" y="305395"/>
                      </a:cubicBezTo>
                      <a:lnTo>
                        <a:pt x="32147" y="271963"/>
                      </a:lnTo>
                      <a:cubicBezTo>
                        <a:pt x="66423" y="302100"/>
                        <a:pt x="125031" y="321469"/>
                        <a:pt x="192881" y="321469"/>
                      </a:cubicBezTo>
                      <a:cubicBezTo>
                        <a:pt x="260731" y="321469"/>
                        <a:pt x="319339" y="302020"/>
                        <a:pt x="353616" y="271963"/>
                      </a:cubicBezTo>
                      <a:lnTo>
                        <a:pt x="353616" y="305395"/>
                      </a:lnTo>
                      <a:cubicBezTo>
                        <a:pt x="353616" y="324724"/>
                        <a:pt x="337783" y="344434"/>
                        <a:pt x="310197" y="359482"/>
                      </a:cubicBezTo>
                      <a:close/>
                    </a:path>
                  </a:pathLst>
                </a:custGeom>
                <a:solidFill>
                  <a:srgbClr val="2E7D3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28" name="TextBox 28"/>
              <p:cNvSpPr txBox="1"/>
              <p:nvPr/>
            </p:nvSpPr>
            <p:spPr bwMode="auto">
              <a:xfrm>
                <a:off x="4170890" y="2333625"/>
                <a:ext cx="992719" cy="3048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50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2. Дубли</a:t>
                </a:r>
                <a:endParaRPr/>
              </a:p>
            </p:txBody>
          </p:sp>
          <p:sp>
            <p:nvSpPr>
              <p:cNvPr id="29" name="Line 29"/>
              <p:cNvSpPr/>
              <p:nvPr/>
            </p:nvSpPr>
            <p:spPr bwMode="auto">
              <a:xfrm>
                <a:off x="3629025" y="27051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 fill="norm" stroke="1" extrusionOk="0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8E1EA"/>
                </a:solidFill>
              </a:ln>
            </p:spPr>
          </p:sp>
          <p:sp>
            <p:nvSpPr>
              <p:cNvPr id="30" name="TextBox 30"/>
              <p:cNvSpPr txBox="1"/>
              <p:nvPr/>
            </p:nvSpPr>
            <p:spPr bwMode="auto">
              <a:xfrm>
                <a:off x="3709035" y="2975610"/>
                <a:ext cx="1806301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Как контролировали</a:t>
                </a:r>
                <a:endParaRPr/>
              </a:p>
            </p:txBody>
          </p:sp>
          <p:sp>
            <p:nvSpPr>
              <p:cNvPr id="31" name="TextBox 31"/>
              <p:cNvSpPr txBox="1"/>
              <p:nvPr/>
            </p:nvSpPr>
            <p:spPr bwMode="auto">
              <a:xfrm>
                <a:off x="3709988" y="3307556"/>
                <a:ext cx="1704499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расчёт content_hash</a:t>
                </a:r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 bwMode="auto">
              <a:xfrm>
                <a:off x="3709988" y="3536156"/>
                <a:ext cx="1844158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поиск одинаковых фото</a:t>
                </a:r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 bwMode="auto">
              <a:xfrm>
                <a:off x="3709988" y="3764756"/>
                <a:ext cx="2296001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контроль повторов объектов</a:t>
                </a:r>
                <a:endParaRPr/>
              </a:p>
            </p:txBody>
          </p:sp>
          <p:sp>
            <p:nvSpPr>
              <p:cNvPr id="34" name="Rectangle 34"/>
              <p:cNvSpPr/>
              <p:nvPr/>
            </p:nvSpPr>
            <p:spPr bwMode="auto">
              <a:xfrm>
                <a:off x="3724275" y="4781550"/>
                <a:ext cx="1885950" cy="514350"/>
              </a:xfrm>
              <a:prstGeom prst="roundRect">
                <a:avLst>
                  <a:gd name="adj" fmla="val 22222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5" name="TextBox 35"/>
              <p:cNvSpPr txBox="1"/>
              <p:nvPr/>
            </p:nvSpPr>
            <p:spPr bwMode="auto">
              <a:xfrm>
                <a:off x="4122549" y="4982528"/>
                <a:ext cx="108940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2E7D32"/>
                    </a:solidFill>
                    <a:latin typeface="Consolas"/>
                    <a:ea typeface="Microsoft YaHei"/>
                    <a:cs typeface="Consolas"/>
                  </a:rPr>
                  <a:t>content_hash</a:t>
                </a: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 bwMode="auto">
            <a:xfrm>
              <a:off x="6229350" y="1466849"/>
              <a:ext cx="3035379" cy="4438650"/>
              <a:chOff x="6229350" y="1466849"/>
              <a:chExt cx="3035379" cy="4438650"/>
            </a:xfrm>
          </p:grpSpPr>
          <p:sp>
            <p:nvSpPr>
              <p:cNvPr id="37" name="Rectangle 37"/>
              <p:cNvSpPr/>
              <p:nvPr/>
            </p:nvSpPr>
            <p:spPr bwMode="auto">
              <a:xfrm>
                <a:off x="6229350" y="1466849"/>
                <a:ext cx="2571750" cy="4438650"/>
              </a:xfrm>
              <a:prstGeom prst="roundRect">
                <a:avLst>
                  <a:gd name="adj" fmla="val 5926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8" name="Freeform 38"/>
              <p:cNvSpPr/>
              <p:nvPr/>
            </p:nvSpPr>
            <p:spPr bwMode="auto">
              <a:xfrm>
                <a:off x="6229350" y="1466849"/>
                <a:ext cx="2571750" cy="895350"/>
              </a:xfrm>
              <a:custGeom>
                <a:avLst/>
                <a:gdLst/>
                <a:ahLst/>
                <a:cxnLst/>
                <a:rect l="l" t="t" r="r" b="b"/>
                <a:pathLst>
                  <a:path w="2571750" h="895350" fill="norm" stroke="1" extrusionOk="0">
                    <a:moveTo>
                      <a:pt x="152400" y="0"/>
                    </a:moveTo>
                    <a:lnTo>
                      <a:pt x="2419350" y="0"/>
                    </a:lnTo>
                    <a:cubicBezTo>
                      <a:pt x="2503518" y="0"/>
                      <a:pt x="2571750" y="68232"/>
                      <a:pt x="2571750" y="152400"/>
                    </a:cubicBezTo>
                    <a:lnTo>
                      <a:pt x="2571750" y="895350"/>
                    </a:lnTo>
                    <a:lnTo>
                      <a:pt x="0" y="895350"/>
                    </a:ln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EFF6FF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41" name="Group 41"/>
              <p:cNvGrpSpPr/>
              <p:nvPr/>
            </p:nvGrpSpPr>
            <p:grpSpPr bwMode="auto">
              <a:xfrm>
                <a:off x="7322344" y="1737717"/>
                <a:ext cx="385762" cy="402384"/>
                <a:chOff x="7322344" y="1737717"/>
                <a:chExt cx="385762" cy="402384"/>
              </a:xfrm>
            </p:grpSpPr>
            <p:sp>
              <p:nvSpPr>
                <p:cNvPr id="39" name="Freeform 39"/>
                <p:cNvSpPr/>
                <p:nvPr/>
              </p:nvSpPr>
              <p:spPr bwMode="auto">
                <a:xfrm>
                  <a:off x="7338417" y="1753791"/>
                  <a:ext cx="353616" cy="369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616" h="369930" fill="norm" stroke="1" extrusionOk="0">
                      <a:moveTo>
                        <a:pt x="353616" y="16073"/>
                      </a:moveTo>
                      <a:lnTo>
                        <a:pt x="353616" y="134153"/>
                      </a:lnTo>
                      <a:cubicBezTo>
                        <a:pt x="353616" y="303286"/>
                        <a:pt x="210341" y="359322"/>
                        <a:pt x="181750" y="368825"/>
                      </a:cubicBezTo>
                      <a:cubicBezTo>
                        <a:pt x="178548" y="369930"/>
                        <a:pt x="175068" y="369930"/>
                        <a:pt x="171865" y="368825"/>
                      </a:cubicBezTo>
                      <a:cubicBezTo>
                        <a:pt x="143275" y="359362"/>
                        <a:pt x="0" y="303386"/>
                        <a:pt x="0" y="134193"/>
                      </a:cubicBezTo>
                      <a:lnTo>
                        <a:pt x="0" y="16073"/>
                      </a:lnTo>
                      <a:cubicBezTo>
                        <a:pt x="0" y="7196"/>
                        <a:pt x="7196" y="0"/>
                        <a:pt x="16073" y="0"/>
                      </a:cubicBezTo>
                      <a:lnTo>
                        <a:pt x="337542" y="0"/>
                      </a:lnTo>
                      <a:cubicBezTo>
                        <a:pt x="346419" y="0"/>
                        <a:pt x="353616" y="7196"/>
                        <a:pt x="353616" y="16073"/>
                      </a:cubicBez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0" name="Freeform 40"/>
                <p:cNvSpPr/>
                <p:nvPr/>
              </p:nvSpPr>
              <p:spPr bwMode="auto">
                <a:xfrm>
                  <a:off x="7322344" y="1737717"/>
                  <a:ext cx="385762" cy="4023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5762" h="402384" fill="norm" stroke="1" extrusionOk="0">
                      <a:moveTo>
                        <a:pt x="353616" y="0"/>
                      </a:moveTo>
                      <a:lnTo>
                        <a:pt x="32147" y="0"/>
                      </a:lnTo>
                      <a:cubicBezTo>
                        <a:pt x="14393" y="0"/>
                        <a:pt x="0" y="14393"/>
                        <a:pt x="0" y="32147"/>
                      </a:cubicBezTo>
                      <a:lnTo>
                        <a:pt x="0" y="150246"/>
                      </a:lnTo>
                      <a:cubicBezTo>
                        <a:pt x="0" y="330289"/>
                        <a:pt x="152336" y="390022"/>
                        <a:pt x="182835" y="400168"/>
                      </a:cubicBezTo>
                      <a:cubicBezTo>
                        <a:pt x="189349" y="402384"/>
                        <a:pt x="196413" y="402384"/>
                        <a:pt x="202927" y="400168"/>
                      </a:cubicBezTo>
                      <a:cubicBezTo>
                        <a:pt x="233467" y="390022"/>
                        <a:pt x="385762" y="330289"/>
                        <a:pt x="385762" y="150246"/>
                      </a:cubicBezTo>
                      <a:lnTo>
                        <a:pt x="385762" y="32147"/>
                      </a:lnTo>
                      <a:cubicBezTo>
                        <a:pt x="385762" y="14393"/>
                        <a:pt x="371370" y="0"/>
                        <a:pt x="353616" y="0"/>
                      </a:cubicBezTo>
                      <a:close/>
                      <a:moveTo>
                        <a:pt x="353616" y="150267"/>
                      </a:moveTo>
                      <a:cubicBezTo>
                        <a:pt x="353616" y="307826"/>
                        <a:pt x="220307" y="360467"/>
                        <a:pt x="192881" y="369629"/>
                      </a:cubicBezTo>
                      <a:cubicBezTo>
                        <a:pt x="165697" y="360567"/>
                        <a:pt x="32147" y="307967"/>
                        <a:pt x="32147" y="150267"/>
                      </a:cubicBezTo>
                      <a:lnTo>
                        <a:pt x="32147" y="32147"/>
                      </a:lnTo>
                      <a:lnTo>
                        <a:pt x="353616" y="32147"/>
                      </a:lnTo>
                      <a:close/>
                      <a:moveTo>
                        <a:pt x="101142" y="204253"/>
                      </a:moveTo>
                      <a:cubicBezTo>
                        <a:pt x="94862" y="197973"/>
                        <a:pt x="94862" y="187790"/>
                        <a:pt x="101142" y="181509"/>
                      </a:cubicBezTo>
                      <a:cubicBezTo>
                        <a:pt x="107423" y="175229"/>
                        <a:pt x="117605" y="175229"/>
                        <a:pt x="123886" y="181509"/>
                      </a:cubicBezTo>
                      <a:lnTo>
                        <a:pt x="160734" y="218358"/>
                      </a:lnTo>
                      <a:lnTo>
                        <a:pt x="261876" y="117216"/>
                      </a:lnTo>
                      <a:cubicBezTo>
                        <a:pt x="268157" y="110935"/>
                        <a:pt x="278340" y="110935"/>
                        <a:pt x="284620" y="117216"/>
                      </a:cubicBezTo>
                      <a:cubicBezTo>
                        <a:pt x="290901" y="123496"/>
                        <a:pt x="290901" y="133679"/>
                        <a:pt x="284620" y="139959"/>
                      </a:cubicBezTo>
                      <a:lnTo>
                        <a:pt x="172106" y="252474"/>
                      </a:lnTo>
                      <a:cubicBezTo>
                        <a:pt x="169091" y="255492"/>
                        <a:pt x="165000" y="257188"/>
                        <a:pt x="160734" y="257188"/>
                      </a:cubicBezTo>
                      <a:cubicBezTo>
                        <a:pt x="156468" y="257188"/>
                        <a:pt x="152377" y="255492"/>
                        <a:pt x="149362" y="252474"/>
                      </a:cubicBez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42" name="TextBox 42"/>
              <p:cNvSpPr txBox="1"/>
              <p:nvPr/>
            </p:nvSpPr>
            <p:spPr bwMode="auto">
              <a:xfrm>
                <a:off x="6438043" y="2333625"/>
                <a:ext cx="2154364" cy="3048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50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3. Split без утечки</a:t>
                </a:r>
                <a:endParaRPr/>
              </a:p>
            </p:txBody>
          </p:sp>
          <p:sp>
            <p:nvSpPr>
              <p:cNvPr id="43" name="Line 43"/>
              <p:cNvSpPr/>
              <p:nvPr/>
            </p:nvSpPr>
            <p:spPr bwMode="auto">
              <a:xfrm>
                <a:off x="6477000" y="27051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 fill="norm" stroke="1" extrusionOk="0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8E1EA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 bwMode="auto">
              <a:xfrm>
                <a:off x="6557010" y="2975610"/>
                <a:ext cx="1603877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Правило качества</a:t>
                </a:r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 bwMode="auto">
              <a:xfrm>
                <a:off x="6557962" y="3307556"/>
                <a:ext cx="1482685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5 частей обучения</a:t>
                </a:r>
                <a:endParaRPr/>
              </a:p>
            </p:txBody>
          </p:sp>
          <p:sp>
            <p:nvSpPr>
              <p:cNvPr id="46" name="TextBox 46"/>
              <p:cNvSpPr txBox="1"/>
              <p:nvPr/>
            </p:nvSpPr>
            <p:spPr bwMode="auto">
              <a:xfrm>
                <a:off x="6557962" y="3536156"/>
                <a:ext cx="1614129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отдельная проверка</a:t>
                </a:r>
                <a:endParaRPr/>
              </a:p>
            </p:txBody>
          </p:sp>
          <p:sp>
            <p:nvSpPr>
              <p:cNvPr id="47" name="TextBox 47"/>
              <p:cNvSpPr txBox="1"/>
              <p:nvPr/>
            </p:nvSpPr>
            <p:spPr bwMode="auto">
              <a:xfrm>
                <a:off x="6557962" y="3764756"/>
                <a:ext cx="270676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одинаковые объекты не смешиваем</a:t>
                </a:r>
                <a:endParaRPr/>
              </a:p>
            </p:txBody>
          </p:sp>
          <p:sp>
            <p:nvSpPr>
              <p:cNvPr id="48" name="Rectangle 48"/>
              <p:cNvSpPr/>
              <p:nvPr/>
            </p:nvSpPr>
            <p:spPr bwMode="auto">
              <a:xfrm>
                <a:off x="6572250" y="4781550"/>
                <a:ext cx="1885950" cy="514350"/>
              </a:xfrm>
              <a:prstGeom prst="roundRect">
                <a:avLst>
                  <a:gd name="adj" fmla="val 22222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49" name="TextBox 49"/>
              <p:cNvSpPr txBox="1"/>
              <p:nvPr/>
            </p:nvSpPr>
            <p:spPr bwMode="auto">
              <a:xfrm>
                <a:off x="6873912" y="4982528"/>
                <a:ext cx="1282627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5-fold + holdout</a:t>
                </a: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 bwMode="auto">
            <a:xfrm>
              <a:off x="9086850" y="1466849"/>
              <a:ext cx="2571750" cy="4438650"/>
              <a:chOff x="9086850" y="1466849"/>
              <a:chExt cx="2571750" cy="4438650"/>
            </a:xfrm>
          </p:grpSpPr>
          <p:sp>
            <p:nvSpPr>
              <p:cNvPr id="51" name="Rectangle 51"/>
              <p:cNvSpPr/>
              <p:nvPr/>
            </p:nvSpPr>
            <p:spPr bwMode="auto">
              <a:xfrm>
                <a:off x="9086850" y="1466849"/>
                <a:ext cx="2571750" cy="4438650"/>
              </a:xfrm>
              <a:prstGeom prst="roundRect">
                <a:avLst>
                  <a:gd name="adj" fmla="val 5926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52" name="Freeform 52"/>
              <p:cNvSpPr/>
              <p:nvPr/>
            </p:nvSpPr>
            <p:spPr bwMode="auto">
              <a:xfrm>
                <a:off x="9086850" y="1466849"/>
                <a:ext cx="2571750" cy="895350"/>
              </a:xfrm>
              <a:custGeom>
                <a:avLst/>
                <a:gdLst/>
                <a:ahLst/>
                <a:cxnLst/>
                <a:rect l="l" t="t" r="r" b="b"/>
                <a:pathLst>
                  <a:path w="2571750" h="895350" fill="norm" stroke="1" extrusionOk="0">
                    <a:moveTo>
                      <a:pt x="152400" y="0"/>
                    </a:moveTo>
                    <a:lnTo>
                      <a:pt x="2419350" y="0"/>
                    </a:lnTo>
                    <a:cubicBezTo>
                      <a:pt x="2503518" y="0"/>
                      <a:pt x="2571750" y="68232"/>
                      <a:pt x="2571750" y="152400"/>
                    </a:cubicBezTo>
                    <a:lnTo>
                      <a:pt x="2571750" y="895350"/>
                    </a:lnTo>
                    <a:lnTo>
                      <a:pt x="0" y="895350"/>
                    </a:ln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4ED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55" name="Group 55"/>
              <p:cNvGrpSpPr/>
              <p:nvPr/>
            </p:nvGrpSpPr>
            <p:grpSpPr bwMode="auto">
              <a:xfrm>
                <a:off x="10141491" y="1686134"/>
                <a:ext cx="466033" cy="462807"/>
                <a:chOff x="10141491" y="1686134"/>
                <a:chExt cx="466033" cy="462807"/>
              </a:xfrm>
            </p:grpSpPr>
            <p:sp>
              <p:nvSpPr>
                <p:cNvPr id="53" name="Freeform 53"/>
                <p:cNvSpPr/>
                <p:nvPr/>
              </p:nvSpPr>
              <p:spPr bwMode="auto">
                <a:xfrm>
                  <a:off x="10276284" y="1818084"/>
                  <a:ext cx="192881" cy="1928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881" h="192881" fill="norm" stroke="1" extrusionOk="0">
                      <a:moveTo>
                        <a:pt x="192881" y="96441"/>
                      </a:moveTo>
                      <a:cubicBezTo>
                        <a:pt x="192881" y="149703"/>
                        <a:pt x="149703" y="192881"/>
                        <a:pt x="96441" y="192881"/>
                      </a:cubicBezTo>
                      <a:cubicBezTo>
                        <a:pt x="43178" y="192881"/>
                        <a:pt x="0" y="149703"/>
                        <a:pt x="0" y="96441"/>
                      </a:cubicBezTo>
                      <a:cubicBezTo>
                        <a:pt x="0" y="43178"/>
                        <a:pt x="43178" y="0"/>
                        <a:pt x="96441" y="0"/>
                      </a:cubicBezTo>
                      <a:cubicBezTo>
                        <a:pt x="149703" y="0"/>
                        <a:pt x="192881" y="43178"/>
                        <a:pt x="192881" y="96441"/>
                      </a:cubicBezTo>
                      <a:close/>
                    </a:path>
                  </a:pathLst>
                </a:custGeom>
                <a:solidFill>
                  <a:srgbClr val="D04A0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4" name="Freeform 54"/>
                <p:cNvSpPr/>
                <p:nvPr/>
              </p:nvSpPr>
              <p:spPr bwMode="auto">
                <a:xfrm>
                  <a:off x="10141491" y="1686134"/>
                  <a:ext cx="466033" cy="4628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033" h="462807" fill="norm" stroke="1" extrusionOk="0">
                      <a:moveTo>
                        <a:pt x="419835" y="138299"/>
                      </a:moveTo>
                      <a:cubicBezTo>
                        <a:pt x="466033" y="234919"/>
                        <a:pt x="431782" y="350825"/>
                        <a:pt x="340488" y="406816"/>
                      </a:cubicBezTo>
                      <a:cubicBezTo>
                        <a:pt x="249193" y="462807"/>
                        <a:pt x="130355" y="440790"/>
                        <a:pt x="65177" y="355811"/>
                      </a:cubicBezTo>
                      <a:cubicBezTo>
                        <a:pt x="0" y="270831"/>
                        <a:pt x="9544" y="150348"/>
                        <a:pt x="87288" y="76690"/>
                      </a:cubicBezTo>
                      <a:cubicBezTo>
                        <a:pt x="165032" y="3032"/>
                        <a:pt x="285854" y="0"/>
                        <a:pt x="367195" y="69666"/>
                      </a:cubicBezTo>
                      <a:lnTo>
                        <a:pt x="412743" y="24098"/>
                      </a:lnTo>
                      <a:cubicBezTo>
                        <a:pt x="419024" y="17817"/>
                        <a:pt x="429206" y="17817"/>
                        <a:pt x="435487" y="24098"/>
                      </a:cubicBezTo>
                      <a:cubicBezTo>
                        <a:pt x="441767" y="30378"/>
                        <a:pt x="441767" y="40561"/>
                        <a:pt x="435487" y="46842"/>
                      </a:cubicBezTo>
                      <a:lnTo>
                        <a:pt x="242606" y="239723"/>
                      </a:lnTo>
                      <a:cubicBezTo>
                        <a:pt x="236325" y="246003"/>
                        <a:pt x="226142" y="246003"/>
                        <a:pt x="219862" y="239723"/>
                      </a:cubicBezTo>
                      <a:cubicBezTo>
                        <a:pt x="213581" y="233442"/>
                        <a:pt x="213581" y="223259"/>
                        <a:pt x="219862" y="216979"/>
                      </a:cubicBezTo>
                      <a:lnTo>
                        <a:pt x="275556" y="161284"/>
                      </a:lnTo>
                      <a:cubicBezTo>
                        <a:pt x="244482" y="140733"/>
                        <a:pt x="203358" y="144232"/>
                        <a:pt x="176203" y="169737"/>
                      </a:cubicBezTo>
                      <a:cubicBezTo>
                        <a:pt x="149047" y="195243"/>
                        <a:pt x="142980" y="236067"/>
                        <a:pt x="161546" y="268367"/>
                      </a:cubicBezTo>
                      <a:cubicBezTo>
                        <a:pt x="180111" y="300667"/>
                        <a:pt x="218441" y="315973"/>
                        <a:pt x="254148" y="305346"/>
                      </a:cubicBezTo>
                      <a:cubicBezTo>
                        <a:pt x="289855" y="294719"/>
                        <a:pt x="313578" y="260945"/>
                        <a:pt x="311460" y="223750"/>
                      </a:cubicBezTo>
                      <a:cubicBezTo>
                        <a:pt x="310961" y="214873"/>
                        <a:pt x="317752" y="207272"/>
                        <a:pt x="326630" y="206772"/>
                      </a:cubicBezTo>
                      <a:cubicBezTo>
                        <a:pt x="335507" y="206273"/>
                        <a:pt x="343108" y="213064"/>
                        <a:pt x="343607" y="221942"/>
                      </a:cubicBezTo>
                      <a:cubicBezTo>
                        <a:pt x="346626" y="274622"/>
                        <a:pt x="312629" y="322324"/>
                        <a:pt x="261847" y="336660"/>
                      </a:cubicBezTo>
                      <a:cubicBezTo>
                        <a:pt x="211065" y="350997"/>
                        <a:pt x="157142" y="328116"/>
                        <a:pt x="132165" y="281635"/>
                      </a:cubicBezTo>
                      <a:cubicBezTo>
                        <a:pt x="107189" y="235153"/>
                        <a:pt x="117870" y="177559"/>
                        <a:pt x="157853" y="143124"/>
                      </a:cubicBezTo>
                      <a:cubicBezTo>
                        <a:pt x="197836" y="108689"/>
                        <a:pt x="256377" y="106667"/>
                        <a:pt x="298642" y="138259"/>
                      </a:cubicBezTo>
                      <a:lnTo>
                        <a:pt x="344351" y="92550"/>
                      </a:lnTo>
                      <a:cubicBezTo>
                        <a:pt x="274984" y="34958"/>
                        <a:pt x="173370" y="38878"/>
                        <a:pt x="108645" y="101641"/>
                      </a:cubicBezTo>
                      <a:cubicBezTo>
                        <a:pt x="43921" y="164405"/>
                        <a:pt x="36879" y="265851"/>
                        <a:pt x="92310" y="336955"/>
                      </a:cubicBezTo>
                      <a:cubicBezTo>
                        <a:pt x="147742" y="408060"/>
                        <a:pt x="247840" y="425982"/>
                        <a:pt x="324498" y="378527"/>
                      </a:cubicBezTo>
                      <a:cubicBezTo>
                        <a:pt x="401157" y="331072"/>
                        <a:pt x="429750" y="233484"/>
                        <a:pt x="390823" y="152163"/>
                      </a:cubicBezTo>
                      <a:cubicBezTo>
                        <a:pt x="386995" y="144151"/>
                        <a:pt x="390386" y="134553"/>
                        <a:pt x="398397" y="130725"/>
                      </a:cubicBezTo>
                      <a:cubicBezTo>
                        <a:pt x="406409" y="126897"/>
                        <a:pt x="416007" y="130288"/>
                        <a:pt x="419835" y="138299"/>
                      </a:cubicBezTo>
                      <a:close/>
                    </a:path>
                  </a:pathLst>
                </a:custGeom>
                <a:solidFill>
                  <a:srgbClr val="D04A0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56" name="TextBox 56"/>
              <p:cNvSpPr txBox="1"/>
              <p:nvPr/>
            </p:nvSpPr>
            <p:spPr bwMode="auto">
              <a:xfrm>
                <a:off x="9749850" y="2333625"/>
                <a:ext cx="1245751" cy="3048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50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4. Метрика</a:t>
                </a:r>
                <a:endParaRPr/>
              </a:p>
            </p:txBody>
          </p:sp>
          <p:sp>
            <p:nvSpPr>
              <p:cNvPr id="57" name="Line 57"/>
              <p:cNvSpPr/>
              <p:nvPr/>
            </p:nvSpPr>
            <p:spPr bwMode="auto">
              <a:xfrm>
                <a:off x="9334500" y="27051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 fill="norm" stroke="1" extrusionOk="0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8E1EA"/>
                </a:solidFill>
              </a:ln>
            </p:spPr>
          </p:sp>
          <p:sp>
            <p:nvSpPr>
              <p:cNvPr id="58" name="TextBox 58"/>
              <p:cNvSpPr txBox="1"/>
              <p:nvPr/>
            </p:nvSpPr>
            <p:spPr bwMode="auto">
              <a:xfrm>
                <a:off x="9414510" y="2975610"/>
                <a:ext cx="1447457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Почему Macro F1</a:t>
                </a:r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 bwMode="auto">
              <a:xfrm>
                <a:off x="9415462" y="3307556"/>
                <a:ext cx="1983819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не прячет редкие классы</a:t>
                </a:r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 bwMode="auto">
              <a:xfrm>
                <a:off x="9415462" y="3536156"/>
                <a:ext cx="1671638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F1 по каждому классу</a:t>
                </a:r>
                <a:endParaRPr/>
              </a:p>
            </p:txBody>
          </p:sp>
          <p:sp>
            <p:nvSpPr>
              <p:cNvPr id="61" name="TextBox 61"/>
              <p:cNvSpPr txBox="1"/>
              <p:nvPr/>
            </p:nvSpPr>
            <p:spPr bwMode="auto">
              <a:xfrm>
                <a:off x="9415462" y="3764756"/>
                <a:ext cx="125265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матрица ошибок</a:t>
                </a:r>
                <a:endParaRPr/>
              </a:p>
            </p:txBody>
          </p:sp>
          <p:sp>
            <p:nvSpPr>
              <p:cNvPr id="62" name="Rectangle 62"/>
              <p:cNvSpPr/>
              <p:nvPr/>
            </p:nvSpPr>
            <p:spPr bwMode="auto">
              <a:xfrm>
                <a:off x="9429750" y="4781550"/>
                <a:ext cx="1885950" cy="514350"/>
              </a:xfrm>
              <a:prstGeom prst="roundRect">
                <a:avLst>
                  <a:gd name="adj" fmla="val 22222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63" name="TextBox 63"/>
              <p:cNvSpPr txBox="1"/>
              <p:nvPr/>
            </p:nvSpPr>
            <p:spPr bwMode="auto">
              <a:xfrm>
                <a:off x="9707258" y="4982528"/>
                <a:ext cx="133093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D04A02"/>
                    </a:solidFill>
                    <a:latin typeface="Arial"/>
                    <a:ea typeface="Microsoft YaHei"/>
                    <a:cs typeface="Arial"/>
                  </a:rPr>
                  <a:t>class-level audit</a:t>
                </a:r>
                <a:endParaRPr/>
              </a:p>
            </p:txBody>
          </p:sp>
        </p:grpSp>
      </p:grpSp>
      <p:sp>
        <p:nvSpPr>
          <p:cNvPr id="67" name="TextBox 67"/>
          <p:cNvSpPr txBox="1"/>
          <p:nvPr/>
        </p:nvSpPr>
        <p:spPr bwMode="auto">
          <a:xfrm rot="0" flipH="0" flipV="0">
            <a:off x="11797522" y="13118782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05 /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4" name="Group 84"/>
          <p:cNvGrpSpPr/>
          <p:nvPr/>
        </p:nvGrpSpPr>
        <p:grpSpPr bwMode="auto">
          <a:xfrm>
            <a:off x="533400" y="1485900"/>
            <a:ext cx="11125200" cy="4191000"/>
            <a:chOff x="533400" y="1485900"/>
            <a:chExt cx="11125200" cy="4191000"/>
          </a:xfrm>
        </p:grpSpPr>
        <p:sp>
          <p:nvSpPr>
            <p:cNvPr id="9" name="Rectangle 9"/>
            <p:cNvSpPr/>
            <p:nvPr/>
          </p:nvSpPr>
          <p:spPr bwMode="auto">
            <a:xfrm>
              <a:off x="533400" y="1485900"/>
              <a:ext cx="11125200" cy="4191000"/>
            </a:xfrm>
            <a:prstGeom prst="roundRect">
              <a:avLst>
                <a:gd name="adj" fmla="val 4091"/>
              </a:avLst>
            </a:prstGeom>
            <a:solidFill>
              <a:srgbClr val="FFFFFF"/>
            </a:solidFill>
            <a:ln w="9525">
              <a:solidFill>
                <a:srgbClr val="D8E1EA"/>
              </a:solidFill>
            </a:ln>
          </p:spPr>
        </p:sp>
        <p:grpSp>
          <p:nvGrpSpPr>
            <p:cNvPr id="22" name="Group 22"/>
            <p:cNvGrpSpPr/>
            <p:nvPr/>
          </p:nvGrpSpPr>
          <p:grpSpPr bwMode="auto">
            <a:xfrm>
              <a:off x="781050" y="1885950"/>
              <a:ext cx="1932699" cy="3295650"/>
              <a:chOff x="781050" y="1885950"/>
              <a:chExt cx="1932699" cy="3295650"/>
            </a:xfrm>
          </p:grpSpPr>
          <p:sp>
            <p:nvSpPr>
              <p:cNvPr id="10" name="Rectangle 10"/>
              <p:cNvSpPr/>
              <p:nvPr/>
            </p:nvSpPr>
            <p:spPr bwMode="auto">
              <a:xfrm>
                <a:off x="781050" y="1885950"/>
                <a:ext cx="1885950" cy="3295650"/>
              </a:xfrm>
              <a:prstGeom prst="roundRect">
                <a:avLst>
                  <a:gd name="adj" fmla="val 7071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1" name="Rectangle 11"/>
              <p:cNvSpPr/>
              <p:nvPr/>
            </p:nvSpPr>
            <p:spPr bwMode="auto">
              <a:xfrm>
                <a:off x="781050" y="1885950"/>
                <a:ext cx="1885950" cy="533400"/>
              </a:xfrm>
              <a:prstGeom prst="roundRect">
                <a:avLst>
                  <a:gd name="adj" fmla="val 25000"/>
                </a:avLst>
              </a:prstGeom>
              <a:solidFill>
                <a:srgbClr val="EAF3FB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2" name="TextBox 12"/>
              <p:cNvSpPr txBox="1"/>
              <p:nvPr/>
            </p:nvSpPr>
            <p:spPr bwMode="auto">
              <a:xfrm>
                <a:off x="992505" y="2073592"/>
                <a:ext cx="965906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01 · Audit</a:t>
                </a:r>
                <a:endParaRPr/>
              </a:p>
            </p:txBody>
          </p:sp>
          <p:grpSp>
            <p:nvGrpSpPr>
              <p:cNvPr id="15" name="Group 15"/>
              <p:cNvGrpSpPr/>
              <p:nvPr/>
            </p:nvGrpSpPr>
            <p:grpSpPr bwMode="auto">
              <a:xfrm>
                <a:off x="1040011" y="2698552"/>
                <a:ext cx="263128" cy="222647"/>
                <a:chOff x="1040011" y="2698552"/>
                <a:chExt cx="263128" cy="222647"/>
              </a:xfrm>
            </p:grpSpPr>
            <p:sp>
              <p:nvSpPr>
                <p:cNvPr id="13" name="Freeform 13"/>
                <p:cNvSpPr/>
                <p:nvPr/>
              </p:nvSpPr>
              <p:spPr bwMode="auto">
                <a:xfrm>
                  <a:off x="1050131" y="2708672"/>
                  <a:ext cx="242888" cy="164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88" h="164531" fill="norm" stroke="1" extrusionOk="0">
                      <a:moveTo>
                        <a:pt x="242888" y="10120"/>
                      </a:moveTo>
                      <a:lnTo>
                        <a:pt x="242888" y="164531"/>
                      </a:lnTo>
                      <a:lnTo>
                        <a:pt x="192640" y="114284"/>
                      </a:lnTo>
                      <a:cubicBezTo>
                        <a:pt x="188688" y="110335"/>
                        <a:pt x="182284" y="110335"/>
                        <a:pt x="178333" y="114284"/>
                      </a:cubicBezTo>
                      <a:lnTo>
                        <a:pt x="145872" y="146745"/>
                      </a:lnTo>
                      <a:lnTo>
                        <a:pt x="83062" y="83923"/>
                      </a:lnTo>
                      <a:cubicBezTo>
                        <a:pt x="81164" y="82022"/>
                        <a:pt x="78588" y="80955"/>
                        <a:pt x="75902" y="80955"/>
                      </a:cubicBezTo>
                      <a:cubicBezTo>
                        <a:pt x="73216" y="80955"/>
                        <a:pt x="70640" y="82022"/>
                        <a:pt x="68742" y="83923"/>
                      </a:cubicBezTo>
                      <a:lnTo>
                        <a:pt x="0" y="152678"/>
                      </a:lnTo>
                      <a:lnTo>
                        <a:pt x="0" y="10120"/>
                      </a:lnTo>
                      <a:cubicBezTo>
                        <a:pt x="0" y="4531"/>
                        <a:pt x="4531" y="0"/>
                        <a:pt x="10120" y="0"/>
                      </a:cubicBezTo>
                      <a:lnTo>
                        <a:pt x="232767" y="0"/>
                      </a:lnTo>
                      <a:cubicBezTo>
                        <a:pt x="238356" y="0"/>
                        <a:pt x="242888" y="4531"/>
                        <a:pt x="242888" y="10120"/>
                      </a:cubicBez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14" name="Freeform 14"/>
                <p:cNvSpPr/>
                <p:nvPr/>
              </p:nvSpPr>
              <p:spPr bwMode="auto">
                <a:xfrm>
                  <a:off x="1040011" y="2698552"/>
                  <a:ext cx="263128" cy="2226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3128" h="222647" fill="norm" stroke="1" extrusionOk="0">
                      <a:moveTo>
                        <a:pt x="242888" y="0"/>
                      </a:moveTo>
                      <a:lnTo>
                        <a:pt x="20241" y="0"/>
                      </a:lnTo>
                      <a:cubicBezTo>
                        <a:pt x="9062" y="0"/>
                        <a:pt x="0" y="9062"/>
                        <a:pt x="0" y="20241"/>
                      </a:cubicBezTo>
                      <a:lnTo>
                        <a:pt x="0" y="202406"/>
                      </a:lnTo>
                      <a:cubicBezTo>
                        <a:pt x="0" y="213585"/>
                        <a:pt x="9062" y="222647"/>
                        <a:pt x="20241" y="222647"/>
                      </a:cubicBezTo>
                      <a:lnTo>
                        <a:pt x="242888" y="222647"/>
                      </a:lnTo>
                      <a:cubicBezTo>
                        <a:pt x="254066" y="222647"/>
                        <a:pt x="263128" y="213585"/>
                        <a:pt x="263128" y="202406"/>
                      </a:cubicBezTo>
                      <a:lnTo>
                        <a:pt x="263128" y="20241"/>
                      </a:lnTo>
                      <a:cubicBezTo>
                        <a:pt x="263128" y="9062"/>
                        <a:pt x="254066" y="0"/>
                        <a:pt x="242888" y="0"/>
                      </a:cubicBezTo>
                      <a:close/>
                      <a:moveTo>
                        <a:pt x="242888" y="20241"/>
                      </a:moveTo>
                      <a:lnTo>
                        <a:pt x="242888" y="150223"/>
                      </a:lnTo>
                      <a:lnTo>
                        <a:pt x="209908" y="117256"/>
                      </a:lnTo>
                      <a:cubicBezTo>
                        <a:pt x="206112" y="113460"/>
                        <a:pt x="200963" y="111326"/>
                        <a:pt x="195594" y="111326"/>
                      </a:cubicBezTo>
                      <a:cubicBezTo>
                        <a:pt x="190225" y="111326"/>
                        <a:pt x="185076" y="113460"/>
                        <a:pt x="181280" y="117256"/>
                      </a:cubicBezTo>
                      <a:lnTo>
                        <a:pt x="155979" y="142557"/>
                      </a:lnTo>
                      <a:lnTo>
                        <a:pt x="100318" y="86896"/>
                      </a:lnTo>
                      <a:cubicBezTo>
                        <a:pt x="92414" y="78997"/>
                        <a:pt x="79606" y="78997"/>
                        <a:pt x="71702" y="86896"/>
                      </a:cubicBezTo>
                      <a:lnTo>
                        <a:pt x="20241" y="138357"/>
                      </a:lnTo>
                      <a:lnTo>
                        <a:pt x="20241" y="20241"/>
                      </a:lnTo>
                      <a:close/>
                      <a:moveTo>
                        <a:pt x="20241" y="166985"/>
                      </a:moveTo>
                      <a:lnTo>
                        <a:pt x="86023" y="101203"/>
                      </a:lnTo>
                      <a:lnTo>
                        <a:pt x="187226" y="202406"/>
                      </a:lnTo>
                      <a:lnTo>
                        <a:pt x="20241" y="202406"/>
                      </a:lnTo>
                      <a:close/>
                      <a:moveTo>
                        <a:pt x="242888" y="202406"/>
                      </a:moveTo>
                      <a:lnTo>
                        <a:pt x="215854" y="202406"/>
                      </a:lnTo>
                      <a:lnTo>
                        <a:pt x="170312" y="156865"/>
                      </a:lnTo>
                      <a:lnTo>
                        <a:pt x="195613" y="131564"/>
                      </a:lnTo>
                      <a:lnTo>
                        <a:pt x="242888" y="178851"/>
                      </a:lnTo>
                      <a:lnTo>
                        <a:pt x="242888" y="202406"/>
                      </a:lnTo>
                      <a:close/>
                      <a:moveTo>
                        <a:pt x="151805" y="75902"/>
                      </a:moveTo>
                      <a:cubicBezTo>
                        <a:pt x="151805" y="67518"/>
                        <a:pt x="158601" y="60722"/>
                        <a:pt x="166985" y="60722"/>
                      </a:cubicBezTo>
                      <a:cubicBezTo>
                        <a:pt x="175369" y="60722"/>
                        <a:pt x="182166" y="67518"/>
                        <a:pt x="182166" y="75902"/>
                      </a:cubicBezTo>
                      <a:cubicBezTo>
                        <a:pt x="182166" y="84286"/>
                        <a:pt x="175369" y="91083"/>
                        <a:pt x="166985" y="91083"/>
                      </a:cubicBezTo>
                      <a:cubicBezTo>
                        <a:pt x="158601" y="91083"/>
                        <a:pt x="151805" y="84286"/>
                        <a:pt x="151805" y="75902"/>
                      </a:cubicBez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16" name="TextBox 16"/>
              <p:cNvSpPr txBox="1"/>
              <p:nvPr/>
            </p:nvSpPr>
            <p:spPr bwMode="auto">
              <a:xfrm>
                <a:off x="1413510" y="2727960"/>
                <a:ext cx="1300239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Исходные фото</a:t>
                </a:r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 bwMode="auto">
              <a:xfrm>
                <a:off x="996315" y="3201352"/>
                <a:ext cx="125349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проверка файлов</a:t>
                </a:r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 bwMode="auto">
              <a:xfrm>
                <a:off x="996315" y="3420428"/>
                <a:ext cx="1552526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пути к изображениям</a:t>
                </a:r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 bwMode="auto">
              <a:xfrm>
                <a:off x="996315" y="3639502"/>
                <a:ext cx="1038797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content_hash</a:t>
                </a:r>
                <a:endParaRPr/>
              </a:p>
            </p:txBody>
          </p:sp>
          <p:sp>
            <p:nvSpPr>
              <p:cNvPr id="20" name="Rectangle 20"/>
              <p:cNvSpPr/>
              <p:nvPr/>
            </p:nvSpPr>
            <p:spPr bwMode="auto">
              <a:xfrm>
                <a:off x="1009650" y="4476750"/>
                <a:ext cx="142875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1" name="TextBox 21"/>
              <p:cNvSpPr txBox="1"/>
              <p:nvPr/>
            </p:nvSpPr>
            <p:spPr bwMode="auto">
              <a:xfrm>
                <a:off x="1214493" y="4628674"/>
                <a:ext cx="1019064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 b="1">
                    <a:solidFill>
                      <a:srgbClr val="1565C0"/>
                    </a:solidFill>
                    <a:latin typeface="Consolas"/>
                    <a:ea typeface="Microsoft YaHei"/>
                    <a:cs typeface="Consolas"/>
                  </a:rPr>
                  <a:t>audit reports</a:t>
                </a: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 bwMode="auto">
            <a:xfrm>
              <a:off x="3000375" y="1885950"/>
              <a:ext cx="1885950" cy="3295650"/>
              <a:chOff x="3000375" y="1885950"/>
              <a:chExt cx="1885950" cy="3295650"/>
            </a:xfrm>
          </p:grpSpPr>
          <p:sp>
            <p:nvSpPr>
              <p:cNvPr id="23" name="Rectangle 23"/>
              <p:cNvSpPr/>
              <p:nvPr/>
            </p:nvSpPr>
            <p:spPr bwMode="auto">
              <a:xfrm>
                <a:off x="3000375" y="1885950"/>
                <a:ext cx="1885950" cy="3295650"/>
              </a:xfrm>
              <a:prstGeom prst="roundRect">
                <a:avLst>
                  <a:gd name="adj" fmla="val 7071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4" name="Rectangle 24"/>
              <p:cNvSpPr/>
              <p:nvPr/>
            </p:nvSpPr>
            <p:spPr bwMode="auto">
              <a:xfrm>
                <a:off x="3000375" y="1885950"/>
                <a:ext cx="1885950" cy="533400"/>
              </a:xfrm>
              <a:prstGeom prst="roundRect">
                <a:avLst>
                  <a:gd name="adj" fmla="val 25000"/>
                </a:avLst>
              </a:prstGeom>
              <a:solidFill>
                <a:srgbClr val="EAF7EE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5" name="TextBox 25"/>
              <p:cNvSpPr txBox="1"/>
              <p:nvPr/>
            </p:nvSpPr>
            <p:spPr bwMode="auto">
              <a:xfrm>
                <a:off x="3211830" y="2073592"/>
                <a:ext cx="965906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02 · Split</a:t>
                </a:r>
                <a:endParaRPr/>
              </a:p>
            </p:txBody>
          </p:sp>
          <p:grpSp>
            <p:nvGrpSpPr>
              <p:cNvPr id="28" name="Group 28"/>
              <p:cNvGrpSpPr/>
              <p:nvPr/>
            </p:nvGrpSpPr>
            <p:grpSpPr bwMode="auto">
              <a:xfrm>
                <a:off x="3269456" y="2698552"/>
                <a:ext cx="242888" cy="253353"/>
                <a:chOff x="3269456" y="2698552"/>
                <a:chExt cx="242888" cy="253353"/>
              </a:xfrm>
            </p:grpSpPr>
            <p:sp>
              <p:nvSpPr>
                <p:cNvPr id="26" name="Freeform 26"/>
                <p:cNvSpPr/>
                <p:nvPr/>
              </p:nvSpPr>
              <p:spPr bwMode="auto">
                <a:xfrm>
                  <a:off x="3279577" y="2708672"/>
                  <a:ext cx="222647" cy="2329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647" h="232919" fill="norm" stroke="1" extrusionOk="0">
                      <a:moveTo>
                        <a:pt x="222647" y="10120"/>
                      </a:moveTo>
                      <a:lnTo>
                        <a:pt x="222647" y="84467"/>
                      </a:lnTo>
                      <a:cubicBezTo>
                        <a:pt x="222647" y="190958"/>
                        <a:pt x="132437" y="226240"/>
                        <a:pt x="114435" y="232223"/>
                      </a:cubicBezTo>
                      <a:cubicBezTo>
                        <a:pt x="112419" y="232919"/>
                        <a:pt x="110228" y="232919"/>
                        <a:pt x="108211" y="232223"/>
                      </a:cubicBezTo>
                      <a:cubicBezTo>
                        <a:pt x="90210" y="226265"/>
                        <a:pt x="0" y="191021"/>
                        <a:pt x="0" y="84492"/>
                      </a:cubicBezTo>
                      <a:lnTo>
                        <a:pt x="0" y="10120"/>
                      </a:lnTo>
                      <a:cubicBezTo>
                        <a:pt x="0" y="4531"/>
                        <a:pt x="4531" y="0"/>
                        <a:pt x="10120" y="0"/>
                      </a:cubicBezTo>
                      <a:lnTo>
                        <a:pt x="212527" y="0"/>
                      </a:lnTo>
                      <a:cubicBezTo>
                        <a:pt x="218116" y="0"/>
                        <a:pt x="222647" y="4531"/>
                        <a:pt x="222647" y="10120"/>
                      </a:cubicBezTo>
                      <a:close/>
                    </a:path>
                  </a:pathLst>
                </a:custGeom>
                <a:solidFill>
                  <a:srgbClr val="2E7D3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7" name="Freeform 27"/>
                <p:cNvSpPr/>
                <p:nvPr/>
              </p:nvSpPr>
              <p:spPr bwMode="auto">
                <a:xfrm>
                  <a:off x="3269456" y="2698552"/>
                  <a:ext cx="242888" cy="2533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88" h="253353" fill="norm" stroke="1" extrusionOk="0">
                      <a:moveTo>
                        <a:pt x="222647" y="0"/>
                      </a:moveTo>
                      <a:lnTo>
                        <a:pt x="20241" y="0"/>
                      </a:lnTo>
                      <a:cubicBezTo>
                        <a:pt x="9062" y="0"/>
                        <a:pt x="0" y="9062"/>
                        <a:pt x="0" y="20241"/>
                      </a:cubicBezTo>
                      <a:lnTo>
                        <a:pt x="0" y="94600"/>
                      </a:lnTo>
                      <a:cubicBezTo>
                        <a:pt x="0" y="207960"/>
                        <a:pt x="95915" y="245569"/>
                        <a:pt x="115119" y="251958"/>
                      </a:cubicBezTo>
                      <a:cubicBezTo>
                        <a:pt x="119220" y="253353"/>
                        <a:pt x="123667" y="253353"/>
                        <a:pt x="127769" y="251958"/>
                      </a:cubicBezTo>
                      <a:cubicBezTo>
                        <a:pt x="146998" y="245569"/>
                        <a:pt x="242888" y="207960"/>
                        <a:pt x="242888" y="94600"/>
                      </a:cubicBezTo>
                      <a:lnTo>
                        <a:pt x="242888" y="20241"/>
                      </a:lnTo>
                      <a:cubicBezTo>
                        <a:pt x="242888" y="9062"/>
                        <a:pt x="233825" y="0"/>
                        <a:pt x="222647" y="0"/>
                      </a:cubicBezTo>
                      <a:close/>
                      <a:moveTo>
                        <a:pt x="222647" y="94612"/>
                      </a:moveTo>
                      <a:cubicBezTo>
                        <a:pt x="222647" y="193817"/>
                        <a:pt x="138712" y="226961"/>
                        <a:pt x="121444" y="232729"/>
                      </a:cubicBezTo>
                      <a:cubicBezTo>
                        <a:pt x="104328" y="227024"/>
                        <a:pt x="20241" y="193905"/>
                        <a:pt x="20241" y="94612"/>
                      </a:cubicBezTo>
                      <a:lnTo>
                        <a:pt x="20241" y="20241"/>
                      </a:lnTo>
                      <a:lnTo>
                        <a:pt x="222647" y="20241"/>
                      </a:lnTo>
                      <a:close/>
                      <a:moveTo>
                        <a:pt x="63682" y="128604"/>
                      </a:moveTo>
                      <a:cubicBezTo>
                        <a:pt x="59728" y="124649"/>
                        <a:pt x="59728" y="118238"/>
                        <a:pt x="63682" y="114284"/>
                      </a:cubicBezTo>
                      <a:cubicBezTo>
                        <a:pt x="67636" y="110329"/>
                        <a:pt x="74048" y="110329"/>
                        <a:pt x="78002" y="114284"/>
                      </a:cubicBezTo>
                      <a:lnTo>
                        <a:pt x="101203" y="137484"/>
                      </a:lnTo>
                      <a:lnTo>
                        <a:pt x="164885" y="73802"/>
                      </a:lnTo>
                      <a:cubicBezTo>
                        <a:pt x="168840" y="69848"/>
                        <a:pt x="175251" y="69848"/>
                        <a:pt x="179205" y="73802"/>
                      </a:cubicBezTo>
                      <a:cubicBezTo>
                        <a:pt x="183160" y="77757"/>
                        <a:pt x="183160" y="84168"/>
                        <a:pt x="179205" y="88123"/>
                      </a:cubicBezTo>
                      <a:lnTo>
                        <a:pt x="108363" y="158965"/>
                      </a:lnTo>
                      <a:cubicBezTo>
                        <a:pt x="106465" y="160865"/>
                        <a:pt x="103889" y="161933"/>
                        <a:pt x="101203" y="161933"/>
                      </a:cubicBezTo>
                      <a:cubicBezTo>
                        <a:pt x="98517" y="161933"/>
                        <a:pt x="95941" y="160865"/>
                        <a:pt x="94043" y="158965"/>
                      </a:cubicBezTo>
                      <a:close/>
                    </a:path>
                  </a:pathLst>
                </a:custGeom>
                <a:solidFill>
                  <a:srgbClr val="2E7D3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29" name="TextBox 29"/>
              <p:cNvSpPr txBox="1"/>
              <p:nvPr/>
            </p:nvSpPr>
            <p:spPr bwMode="auto">
              <a:xfrm>
                <a:off x="3632835" y="2727960"/>
                <a:ext cx="996601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Без утечек</a:t>
                </a:r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 bwMode="auto">
              <a:xfrm>
                <a:off x="3215640" y="3201352"/>
                <a:ext cx="138384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5 частей обучения</a:t>
                </a:r>
                <a:endParaRPr/>
              </a:p>
            </p:txBody>
          </p:sp>
          <p:sp>
            <p:nvSpPr>
              <p:cNvPr id="31" name="TextBox 31"/>
              <p:cNvSpPr txBox="1"/>
              <p:nvPr/>
            </p:nvSpPr>
            <p:spPr bwMode="auto">
              <a:xfrm>
                <a:off x="3215640" y="3420428"/>
                <a:ext cx="138384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отдельный holdout</a:t>
                </a:r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 bwMode="auto">
              <a:xfrm>
                <a:off x="3215640" y="3639502"/>
                <a:ext cx="1468184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дубли не смешиваем</a:t>
                </a:r>
                <a:endParaRPr/>
              </a:p>
            </p:txBody>
          </p:sp>
          <p:sp>
            <p:nvSpPr>
              <p:cNvPr id="33" name="Rectangle 33"/>
              <p:cNvSpPr/>
              <p:nvPr/>
            </p:nvSpPr>
            <p:spPr bwMode="auto">
              <a:xfrm>
                <a:off x="3228975" y="4476750"/>
                <a:ext cx="142875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4" name="TextBox 34"/>
              <p:cNvSpPr txBox="1"/>
              <p:nvPr/>
            </p:nvSpPr>
            <p:spPr bwMode="auto">
              <a:xfrm>
                <a:off x="3512315" y="4628674"/>
                <a:ext cx="862070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 b="1">
                    <a:solidFill>
                      <a:srgbClr val="2E7D32"/>
                    </a:solidFill>
                    <a:latin typeface="Consolas"/>
                    <a:ea typeface="Microsoft YaHei"/>
                    <a:cs typeface="Consolas"/>
                  </a:rPr>
                  <a:t>split tables</a:t>
                </a:r>
                <a:endParaRPr/>
              </a:p>
            </p:txBody>
          </p:sp>
        </p:grpSp>
        <p:grpSp>
          <p:nvGrpSpPr>
            <p:cNvPr id="48" name="Group 48"/>
            <p:cNvGrpSpPr/>
            <p:nvPr/>
          </p:nvGrpSpPr>
          <p:grpSpPr bwMode="auto">
            <a:xfrm>
              <a:off x="5219700" y="1885950"/>
              <a:ext cx="1885950" cy="3295650"/>
              <a:chOff x="5219700" y="1885950"/>
              <a:chExt cx="1885950" cy="3295650"/>
            </a:xfrm>
          </p:grpSpPr>
          <p:sp>
            <p:nvSpPr>
              <p:cNvPr id="36" name="Rectangle 36"/>
              <p:cNvSpPr/>
              <p:nvPr/>
            </p:nvSpPr>
            <p:spPr bwMode="auto">
              <a:xfrm>
                <a:off x="5219700" y="1885950"/>
                <a:ext cx="1885950" cy="3295650"/>
              </a:xfrm>
              <a:prstGeom prst="roundRect">
                <a:avLst>
                  <a:gd name="adj" fmla="val 7071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7" name="Rectangle 37"/>
              <p:cNvSpPr/>
              <p:nvPr/>
            </p:nvSpPr>
            <p:spPr bwMode="auto">
              <a:xfrm>
                <a:off x="5219700" y="1885950"/>
                <a:ext cx="1885950" cy="533400"/>
              </a:xfrm>
              <a:prstGeom prst="roundRect">
                <a:avLst>
                  <a:gd name="adj" fmla="val 25000"/>
                </a:avLst>
              </a:prstGeom>
              <a:solidFill>
                <a:srgbClr val="EAF3FB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8" name="TextBox 38"/>
              <p:cNvSpPr txBox="1"/>
              <p:nvPr/>
            </p:nvSpPr>
            <p:spPr bwMode="auto">
              <a:xfrm>
                <a:off x="5431155" y="2073592"/>
                <a:ext cx="1017663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03 · Train</a:t>
                </a:r>
                <a:endParaRPr/>
              </a:p>
            </p:txBody>
          </p:sp>
          <p:grpSp>
            <p:nvGrpSpPr>
              <p:cNvPr id="41" name="Group 41"/>
              <p:cNvGrpSpPr/>
              <p:nvPr/>
            </p:nvGrpSpPr>
            <p:grpSpPr bwMode="auto">
              <a:xfrm>
                <a:off x="5458411" y="2673225"/>
                <a:ext cx="303619" cy="263180"/>
                <a:chOff x="5458411" y="2673225"/>
                <a:chExt cx="303619" cy="263180"/>
              </a:xfrm>
            </p:grpSpPr>
            <p:sp>
              <p:nvSpPr>
                <p:cNvPr id="39" name="Freeform 39"/>
                <p:cNvSpPr/>
                <p:nvPr/>
              </p:nvSpPr>
              <p:spPr bwMode="auto">
                <a:xfrm>
                  <a:off x="5468486" y="2688431"/>
                  <a:ext cx="283431" cy="2327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431" h="232767" fill="norm" stroke="1" extrusionOk="0">
                      <a:moveTo>
                        <a:pt x="283423" y="116384"/>
                      </a:moveTo>
                      <a:cubicBezTo>
                        <a:pt x="283431" y="142124"/>
                        <a:pt x="267210" y="165072"/>
                        <a:pt x="242942" y="173652"/>
                      </a:cubicBezTo>
                      <a:lnTo>
                        <a:pt x="242942" y="173652"/>
                      </a:lnTo>
                      <a:lnTo>
                        <a:pt x="242942" y="182166"/>
                      </a:lnTo>
                      <a:cubicBezTo>
                        <a:pt x="242942" y="210112"/>
                        <a:pt x="220287" y="232767"/>
                        <a:pt x="192340" y="232767"/>
                      </a:cubicBezTo>
                      <a:cubicBezTo>
                        <a:pt x="164394" y="232767"/>
                        <a:pt x="141739" y="210112"/>
                        <a:pt x="141739" y="182166"/>
                      </a:cubicBezTo>
                      <a:cubicBezTo>
                        <a:pt x="141739" y="210112"/>
                        <a:pt x="119084" y="232767"/>
                        <a:pt x="91137" y="232767"/>
                      </a:cubicBezTo>
                      <a:cubicBezTo>
                        <a:pt x="63191" y="232767"/>
                        <a:pt x="40536" y="210112"/>
                        <a:pt x="40536" y="182166"/>
                      </a:cubicBezTo>
                      <a:lnTo>
                        <a:pt x="40536" y="173652"/>
                      </a:lnTo>
                      <a:lnTo>
                        <a:pt x="40536" y="173652"/>
                      </a:lnTo>
                      <a:cubicBezTo>
                        <a:pt x="16246" y="165090"/>
                        <a:pt x="0" y="142138"/>
                        <a:pt x="0" y="116384"/>
                      </a:cubicBezTo>
                      <a:cubicBezTo>
                        <a:pt x="0" y="90630"/>
                        <a:pt x="16246" y="67677"/>
                        <a:pt x="40536" y="59115"/>
                      </a:cubicBezTo>
                      <a:lnTo>
                        <a:pt x="40536" y="50602"/>
                      </a:lnTo>
                      <a:cubicBezTo>
                        <a:pt x="40536" y="22655"/>
                        <a:pt x="63191" y="0"/>
                        <a:pt x="91137" y="0"/>
                      </a:cubicBezTo>
                      <a:cubicBezTo>
                        <a:pt x="119084" y="0"/>
                        <a:pt x="141739" y="22655"/>
                        <a:pt x="141739" y="50602"/>
                      </a:cubicBezTo>
                      <a:cubicBezTo>
                        <a:pt x="141739" y="22655"/>
                        <a:pt x="164394" y="0"/>
                        <a:pt x="192340" y="0"/>
                      </a:cubicBezTo>
                      <a:cubicBezTo>
                        <a:pt x="220287" y="0"/>
                        <a:pt x="242942" y="22655"/>
                        <a:pt x="242942" y="50602"/>
                      </a:cubicBezTo>
                      <a:lnTo>
                        <a:pt x="242942" y="59115"/>
                      </a:lnTo>
                      <a:cubicBezTo>
                        <a:pt x="267210" y="67695"/>
                        <a:pt x="283431" y="90644"/>
                        <a:pt x="283423" y="116384"/>
                      </a:cubicBez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0" name="Freeform 40"/>
                <p:cNvSpPr/>
                <p:nvPr/>
              </p:nvSpPr>
              <p:spPr bwMode="auto">
                <a:xfrm>
                  <a:off x="5458411" y="2673225"/>
                  <a:ext cx="303619" cy="263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619" h="263180" fill="norm" stroke="1" extrusionOk="0">
                      <a:moveTo>
                        <a:pt x="303619" y="131590"/>
                      </a:moveTo>
                      <a:cubicBezTo>
                        <a:pt x="303592" y="104230"/>
                        <a:pt x="287842" y="79322"/>
                        <a:pt x="263138" y="67566"/>
                      </a:cubicBezTo>
                      <a:lnTo>
                        <a:pt x="263138" y="65808"/>
                      </a:lnTo>
                      <a:cubicBezTo>
                        <a:pt x="263114" y="39034"/>
                        <a:pt x="245556" y="15435"/>
                        <a:pt x="219919" y="7718"/>
                      </a:cubicBezTo>
                      <a:cubicBezTo>
                        <a:pt x="194281" y="0"/>
                        <a:pt x="166614" y="9985"/>
                        <a:pt x="151814" y="32297"/>
                      </a:cubicBezTo>
                      <a:cubicBezTo>
                        <a:pt x="137014" y="9985"/>
                        <a:pt x="109347" y="0"/>
                        <a:pt x="83710" y="7718"/>
                      </a:cubicBezTo>
                      <a:cubicBezTo>
                        <a:pt x="58072" y="15435"/>
                        <a:pt x="40515" y="39034"/>
                        <a:pt x="40491" y="65808"/>
                      </a:cubicBezTo>
                      <a:lnTo>
                        <a:pt x="40491" y="67566"/>
                      </a:lnTo>
                      <a:cubicBezTo>
                        <a:pt x="15763" y="79291"/>
                        <a:pt x="0" y="104210"/>
                        <a:pt x="0" y="131577"/>
                      </a:cubicBezTo>
                      <a:cubicBezTo>
                        <a:pt x="0" y="158944"/>
                        <a:pt x="15763" y="183863"/>
                        <a:pt x="40491" y="195588"/>
                      </a:cubicBezTo>
                      <a:lnTo>
                        <a:pt x="40491" y="197372"/>
                      </a:lnTo>
                      <a:cubicBezTo>
                        <a:pt x="40515" y="224146"/>
                        <a:pt x="58072" y="247745"/>
                        <a:pt x="83710" y="255462"/>
                      </a:cubicBezTo>
                      <a:cubicBezTo>
                        <a:pt x="109347" y="263180"/>
                        <a:pt x="137014" y="253195"/>
                        <a:pt x="151814" y="230883"/>
                      </a:cubicBezTo>
                      <a:cubicBezTo>
                        <a:pt x="166614" y="253195"/>
                        <a:pt x="194281" y="263180"/>
                        <a:pt x="219919" y="255462"/>
                      </a:cubicBezTo>
                      <a:cubicBezTo>
                        <a:pt x="245556" y="247745"/>
                        <a:pt x="263114" y="224146"/>
                        <a:pt x="263138" y="197372"/>
                      </a:cubicBezTo>
                      <a:lnTo>
                        <a:pt x="263138" y="195588"/>
                      </a:lnTo>
                      <a:cubicBezTo>
                        <a:pt x="287838" y="183841"/>
                        <a:pt x="303588" y="158942"/>
                        <a:pt x="303619" y="131590"/>
                      </a:cubicBezTo>
                      <a:close/>
                      <a:moveTo>
                        <a:pt x="101213" y="237853"/>
                      </a:moveTo>
                      <a:cubicBezTo>
                        <a:pt x="80542" y="237850"/>
                        <a:pt x="63194" y="222274"/>
                        <a:pt x="60972" y="201724"/>
                      </a:cubicBezTo>
                      <a:cubicBezTo>
                        <a:pt x="64244" y="202190"/>
                        <a:pt x="67546" y="202427"/>
                        <a:pt x="70852" y="202432"/>
                      </a:cubicBezTo>
                      <a:lnTo>
                        <a:pt x="80972" y="202432"/>
                      </a:lnTo>
                      <a:cubicBezTo>
                        <a:pt x="86561" y="202432"/>
                        <a:pt x="91092" y="197901"/>
                        <a:pt x="91092" y="192312"/>
                      </a:cubicBezTo>
                      <a:cubicBezTo>
                        <a:pt x="91092" y="186722"/>
                        <a:pt x="86561" y="182191"/>
                        <a:pt x="80972" y="182191"/>
                      </a:cubicBezTo>
                      <a:lnTo>
                        <a:pt x="70852" y="182191"/>
                      </a:lnTo>
                      <a:cubicBezTo>
                        <a:pt x="46183" y="182220"/>
                        <a:pt x="25089" y="164456"/>
                        <a:pt x="20919" y="140143"/>
                      </a:cubicBezTo>
                      <a:cubicBezTo>
                        <a:pt x="16749" y="115829"/>
                        <a:pt x="30720" y="92052"/>
                        <a:pt x="53989" y="83860"/>
                      </a:cubicBezTo>
                      <a:cubicBezTo>
                        <a:pt x="58029" y="82429"/>
                        <a:pt x="60731" y="78608"/>
                        <a:pt x="60731" y="74322"/>
                      </a:cubicBezTo>
                      <a:lnTo>
                        <a:pt x="60731" y="65808"/>
                      </a:lnTo>
                      <a:cubicBezTo>
                        <a:pt x="60731" y="43451"/>
                        <a:pt x="78855" y="25327"/>
                        <a:pt x="101213" y="25327"/>
                      </a:cubicBezTo>
                      <a:cubicBezTo>
                        <a:pt x="123570" y="25327"/>
                        <a:pt x="141694" y="43451"/>
                        <a:pt x="141694" y="65808"/>
                      </a:cubicBezTo>
                      <a:lnTo>
                        <a:pt x="141694" y="152159"/>
                      </a:lnTo>
                      <a:cubicBezTo>
                        <a:pt x="130581" y="142164"/>
                        <a:pt x="116159" y="136639"/>
                        <a:pt x="101213" y="136650"/>
                      </a:cubicBezTo>
                      <a:cubicBezTo>
                        <a:pt x="95623" y="136650"/>
                        <a:pt x="91092" y="141181"/>
                        <a:pt x="91092" y="146770"/>
                      </a:cubicBezTo>
                      <a:cubicBezTo>
                        <a:pt x="91092" y="152360"/>
                        <a:pt x="95623" y="156891"/>
                        <a:pt x="101213" y="156891"/>
                      </a:cubicBezTo>
                      <a:cubicBezTo>
                        <a:pt x="123570" y="156891"/>
                        <a:pt x="141694" y="175015"/>
                        <a:pt x="141694" y="197372"/>
                      </a:cubicBezTo>
                      <a:cubicBezTo>
                        <a:pt x="141694" y="219729"/>
                        <a:pt x="123570" y="237853"/>
                        <a:pt x="101213" y="237853"/>
                      </a:cubicBezTo>
                      <a:close/>
                      <a:moveTo>
                        <a:pt x="232777" y="182191"/>
                      </a:moveTo>
                      <a:lnTo>
                        <a:pt x="222656" y="182191"/>
                      </a:lnTo>
                      <a:cubicBezTo>
                        <a:pt x="217067" y="182191"/>
                        <a:pt x="212536" y="186722"/>
                        <a:pt x="212536" y="192312"/>
                      </a:cubicBezTo>
                      <a:cubicBezTo>
                        <a:pt x="212536" y="197901"/>
                        <a:pt x="217067" y="202432"/>
                        <a:pt x="222656" y="202432"/>
                      </a:cubicBezTo>
                      <a:lnTo>
                        <a:pt x="232777" y="202432"/>
                      </a:lnTo>
                      <a:cubicBezTo>
                        <a:pt x="236083" y="202427"/>
                        <a:pt x="239384" y="202190"/>
                        <a:pt x="242657" y="201724"/>
                      </a:cubicBezTo>
                      <a:cubicBezTo>
                        <a:pt x="240314" y="223390"/>
                        <a:pt x="221240" y="239313"/>
                        <a:pt x="199504" y="237749"/>
                      </a:cubicBezTo>
                      <a:cubicBezTo>
                        <a:pt x="177768" y="236184"/>
                        <a:pt x="161171" y="217693"/>
                        <a:pt x="161955" y="195915"/>
                      </a:cubicBezTo>
                      <a:cubicBezTo>
                        <a:pt x="162739" y="174137"/>
                        <a:pt x="180623" y="156887"/>
                        <a:pt x="202416" y="156891"/>
                      </a:cubicBezTo>
                      <a:cubicBezTo>
                        <a:pt x="208005" y="156891"/>
                        <a:pt x="212536" y="152360"/>
                        <a:pt x="212536" y="146770"/>
                      </a:cubicBezTo>
                      <a:cubicBezTo>
                        <a:pt x="212536" y="141181"/>
                        <a:pt x="208005" y="136650"/>
                        <a:pt x="202416" y="136650"/>
                      </a:cubicBezTo>
                      <a:cubicBezTo>
                        <a:pt x="187469" y="136639"/>
                        <a:pt x="173048" y="142164"/>
                        <a:pt x="161934" y="152159"/>
                      </a:cubicBezTo>
                      <a:lnTo>
                        <a:pt x="161934" y="65808"/>
                      </a:lnTo>
                      <a:cubicBezTo>
                        <a:pt x="161934" y="43451"/>
                        <a:pt x="180059" y="25327"/>
                        <a:pt x="202416" y="25327"/>
                      </a:cubicBezTo>
                      <a:cubicBezTo>
                        <a:pt x="224773" y="25327"/>
                        <a:pt x="242897" y="43451"/>
                        <a:pt x="242897" y="65808"/>
                      </a:cubicBezTo>
                      <a:lnTo>
                        <a:pt x="242897" y="74322"/>
                      </a:lnTo>
                      <a:cubicBezTo>
                        <a:pt x="242898" y="78608"/>
                        <a:pt x="245599" y="82429"/>
                        <a:pt x="249640" y="83860"/>
                      </a:cubicBezTo>
                      <a:cubicBezTo>
                        <a:pt x="272908" y="92052"/>
                        <a:pt x="286879" y="115829"/>
                        <a:pt x="282709" y="140143"/>
                      </a:cubicBezTo>
                      <a:cubicBezTo>
                        <a:pt x="278540" y="164456"/>
                        <a:pt x="257445" y="182220"/>
                        <a:pt x="232777" y="182191"/>
                      </a:cubicBezTo>
                      <a:close/>
                      <a:moveTo>
                        <a:pt x="253017" y="116409"/>
                      </a:moveTo>
                      <a:cubicBezTo>
                        <a:pt x="253017" y="121999"/>
                        <a:pt x="248486" y="126530"/>
                        <a:pt x="242897" y="126530"/>
                      </a:cubicBezTo>
                      <a:lnTo>
                        <a:pt x="237837" y="126530"/>
                      </a:lnTo>
                      <a:cubicBezTo>
                        <a:pt x="212685" y="126530"/>
                        <a:pt x="192295" y="106140"/>
                        <a:pt x="192295" y="80988"/>
                      </a:cubicBezTo>
                      <a:lnTo>
                        <a:pt x="192295" y="75928"/>
                      </a:lnTo>
                      <a:cubicBezTo>
                        <a:pt x="192295" y="70339"/>
                        <a:pt x="196826" y="65808"/>
                        <a:pt x="202416" y="65808"/>
                      </a:cubicBezTo>
                      <a:cubicBezTo>
                        <a:pt x="208005" y="65808"/>
                        <a:pt x="212536" y="70339"/>
                        <a:pt x="212536" y="75928"/>
                      </a:cubicBezTo>
                      <a:lnTo>
                        <a:pt x="212536" y="80988"/>
                      </a:lnTo>
                      <a:cubicBezTo>
                        <a:pt x="212536" y="94961"/>
                        <a:pt x="223864" y="106289"/>
                        <a:pt x="237837" y="106289"/>
                      </a:cubicBezTo>
                      <a:lnTo>
                        <a:pt x="242897" y="106289"/>
                      </a:lnTo>
                      <a:cubicBezTo>
                        <a:pt x="248486" y="106289"/>
                        <a:pt x="253017" y="110820"/>
                        <a:pt x="253017" y="116409"/>
                      </a:cubicBezTo>
                      <a:close/>
                      <a:moveTo>
                        <a:pt x="65792" y="126530"/>
                      </a:moveTo>
                      <a:lnTo>
                        <a:pt x="60731" y="126530"/>
                      </a:lnTo>
                      <a:cubicBezTo>
                        <a:pt x="55142" y="126530"/>
                        <a:pt x="50611" y="121999"/>
                        <a:pt x="50611" y="116409"/>
                      </a:cubicBezTo>
                      <a:cubicBezTo>
                        <a:pt x="50611" y="110820"/>
                        <a:pt x="55142" y="106289"/>
                        <a:pt x="60731" y="106289"/>
                      </a:cubicBezTo>
                      <a:lnTo>
                        <a:pt x="65792" y="106289"/>
                      </a:lnTo>
                      <a:cubicBezTo>
                        <a:pt x="79765" y="106289"/>
                        <a:pt x="91092" y="94961"/>
                        <a:pt x="91092" y="80988"/>
                      </a:cubicBezTo>
                      <a:lnTo>
                        <a:pt x="91092" y="75928"/>
                      </a:lnTo>
                      <a:cubicBezTo>
                        <a:pt x="91092" y="70339"/>
                        <a:pt x="95623" y="65808"/>
                        <a:pt x="101213" y="65808"/>
                      </a:cubicBezTo>
                      <a:cubicBezTo>
                        <a:pt x="106802" y="65808"/>
                        <a:pt x="111333" y="70339"/>
                        <a:pt x="111333" y="75928"/>
                      </a:cubicBezTo>
                      <a:lnTo>
                        <a:pt x="111333" y="80988"/>
                      </a:lnTo>
                      <a:cubicBezTo>
                        <a:pt x="111333" y="106140"/>
                        <a:pt x="90943" y="126530"/>
                        <a:pt x="65792" y="126530"/>
                      </a:cubicBez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42" name="TextBox 42"/>
              <p:cNvSpPr txBox="1"/>
              <p:nvPr/>
            </p:nvSpPr>
            <p:spPr bwMode="auto">
              <a:xfrm>
                <a:off x="5852160" y="2727960"/>
                <a:ext cx="637756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Модели</a:t>
                </a:r>
                <a:endParaRPr/>
              </a:p>
            </p:txBody>
          </p:sp>
          <p:sp>
            <p:nvSpPr>
              <p:cNvPr id="43" name="TextBox 43"/>
              <p:cNvSpPr txBox="1"/>
              <p:nvPr/>
            </p:nvSpPr>
            <p:spPr bwMode="auto">
              <a:xfrm>
                <a:off x="5434965" y="3201352"/>
                <a:ext cx="1153811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PyTorch + timm</a:t>
                </a:r>
                <a:endParaRPr/>
              </a:p>
            </p:txBody>
          </p:sp>
          <p:sp>
            <p:nvSpPr>
              <p:cNvPr id="44" name="TextBox 44"/>
              <p:cNvSpPr txBox="1"/>
              <p:nvPr/>
            </p:nvSpPr>
            <p:spPr bwMode="auto">
              <a:xfrm>
                <a:off x="5434965" y="3420428"/>
                <a:ext cx="79343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Focal Loss</a:t>
                </a:r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 bwMode="auto">
              <a:xfrm>
                <a:off x="5434965" y="3639502"/>
                <a:ext cx="129182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balanced sampler</a:t>
                </a:r>
                <a:endParaRPr/>
              </a:p>
            </p:txBody>
          </p:sp>
          <p:sp>
            <p:nvSpPr>
              <p:cNvPr id="46" name="Rectangle 46"/>
              <p:cNvSpPr/>
              <p:nvPr/>
            </p:nvSpPr>
            <p:spPr bwMode="auto">
              <a:xfrm>
                <a:off x="5448300" y="4476750"/>
                <a:ext cx="142875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47" name="TextBox 47"/>
              <p:cNvSpPr txBox="1"/>
              <p:nvPr/>
            </p:nvSpPr>
            <p:spPr bwMode="auto">
              <a:xfrm>
                <a:off x="5716688" y="4628674"/>
                <a:ext cx="891973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 b="1">
                    <a:solidFill>
                      <a:srgbClr val="1565C0"/>
                    </a:solidFill>
                    <a:latin typeface="Consolas"/>
                    <a:ea typeface="Microsoft YaHei"/>
                    <a:cs typeface="Consolas"/>
                  </a:rPr>
                  <a:t>checkpoints</a:t>
                </a:r>
                <a:endParaRPr/>
              </a:p>
            </p:txBody>
          </p:sp>
        </p:grpSp>
        <p:grpSp>
          <p:nvGrpSpPr>
            <p:cNvPr id="61" name="Group 61"/>
            <p:cNvGrpSpPr/>
            <p:nvPr/>
          </p:nvGrpSpPr>
          <p:grpSpPr bwMode="auto">
            <a:xfrm>
              <a:off x="7439024" y="1885950"/>
              <a:ext cx="1885950" cy="3295650"/>
              <a:chOff x="7439024" y="1885950"/>
              <a:chExt cx="1885950" cy="3295650"/>
            </a:xfrm>
          </p:grpSpPr>
          <p:sp>
            <p:nvSpPr>
              <p:cNvPr id="49" name="Rectangle 49"/>
              <p:cNvSpPr/>
              <p:nvPr/>
            </p:nvSpPr>
            <p:spPr bwMode="auto">
              <a:xfrm>
                <a:off x="7439024" y="1885950"/>
                <a:ext cx="1885950" cy="3295650"/>
              </a:xfrm>
              <a:prstGeom prst="roundRect">
                <a:avLst>
                  <a:gd name="adj" fmla="val 7071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50" name="Rectangle 50"/>
              <p:cNvSpPr/>
              <p:nvPr/>
            </p:nvSpPr>
            <p:spPr bwMode="auto">
              <a:xfrm>
                <a:off x="7439024" y="1885950"/>
                <a:ext cx="1885950" cy="533400"/>
              </a:xfrm>
              <a:prstGeom prst="roundRect">
                <a:avLst>
                  <a:gd name="adj" fmla="val 25000"/>
                </a:avLst>
              </a:prstGeom>
              <a:solidFill>
                <a:srgbClr val="FFF4ED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51" name="TextBox 51"/>
              <p:cNvSpPr txBox="1"/>
              <p:nvPr/>
            </p:nvSpPr>
            <p:spPr bwMode="auto">
              <a:xfrm>
                <a:off x="7650480" y="2073592"/>
                <a:ext cx="1359256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D04A02"/>
                    </a:solidFill>
                    <a:latin typeface="Arial"/>
                    <a:ea typeface="Microsoft YaHei"/>
                    <a:cs typeface="Arial"/>
                  </a:rPr>
                  <a:t>04 · Evaluate</a:t>
                </a:r>
                <a:endParaRPr/>
              </a:p>
            </p:txBody>
          </p:sp>
          <p:grpSp>
            <p:nvGrpSpPr>
              <p:cNvPr id="54" name="Group 54"/>
              <p:cNvGrpSpPr/>
              <p:nvPr/>
            </p:nvGrpSpPr>
            <p:grpSpPr bwMode="auto">
              <a:xfrm>
                <a:off x="7697986" y="2698552"/>
                <a:ext cx="263128" cy="222647"/>
                <a:chOff x="7697986" y="2698552"/>
                <a:chExt cx="263128" cy="222647"/>
              </a:xfrm>
            </p:grpSpPr>
            <p:sp>
              <p:nvSpPr>
                <p:cNvPr id="52" name="Freeform 52"/>
                <p:cNvSpPr/>
                <p:nvPr/>
              </p:nvSpPr>
              <p:spPr bwMode="auto">
                <a:xfrm>
                  <a:off x="7708106" y="2708672"/>
                  <a:ext cx="242888" cy="202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88" h="202406" fill="norm" stroke="1" extrusionOk="0">
                      <a:moveTo>
                        <a:pt x="242888" y="10120"/>
                      </a:moveTo>
                      <a:lnTo>
                        <a:pt x="242888" y="202406"/>
                      </a:lnTo>
                      <a:lnTo>
                        <a:pt x="0" y="202406"/>
                      </a:lnTo>
                      <a:lnTo>
                        <a:pt x="0" y="0"/>
                      </a:lnTo>
                      <a:lnTo>
                        <a:pt x="232767" y="0"/>
                      </a:lnTo>
                      <a:cubicBezTo>
                        <a:pt x="238356" y="0"/>
                        <a:pt x="242888" y="4531"/>
                        <a:pt x="242888" y="10120"/>
                      </a:cubicBezTo>
                      <a:close/>
                    </a:path>
                  </a:pathLst>
                </a:custGeom>
                <a:solidFill>
                  <a:srgbClr val="D04A0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3" name="Freeform 53"/>
                <p:cNvSpPr/>
                <p:nvPr/>
              </p:nvSpPr>
              <p:spPr bwMode="auto">
                <a:xfrm>
                  <a:off x="7697986" y="2698552"/>
                  <a:ext cx="263128" cy="2226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3128" h="222647" fill="norm" stroke="1" extrusionOk="0">
                      <a:moveTo>
                        <a:pt x="263128" y="212527"/>
                      </a:moveTo>
                      <a:cubicBezTo>
                        <a:pt x="263128" y="218116"/>
                        <a:pt x="258597" y="222647"/>
                        <a:pt x="253008" y="222647"/>
                      </a:cubicBezTo>
                      <a:lnTo>
                        <a:pt x="10120" y="222647"/>
                      </a:lnTo>
                      <a:cubicBezTo>
                        <a:pt x="4531" y="222647"/>
                        <a:pt x="0" y="218116"/>
                        <a:pt x="0" y="212527"/>
                      </a:cubicBezTo>
                      <a:lnTo>
                        <a:pt x="0" y="10120"/>
                      </a:lnTo>
                      <a:cubicBezTo>
                        <a:pt x="0" y="4531"/>
                        <a:pt x="4531" y="0"/>
                        <a:pt x="10120" y="0"/>
                      </a:cubicBezTo>
                      <a:cubicBezTo>
                        <a:pt x="15710" y="0"/>
                        <a:pt x="20241" y="4531"/>
                        <a:pt x="20241" y="10120"/>
                      </a:cubicBezTo>
                      <a:lnTo>
                        <a:pt x="20241" y="147617"/>
                      </a:lnTo>
                      <a:lnTo>
                        <a:pt x="83923" y="83923"/>
                      </a:lnTo>
                      <a:cubicBezTo>
                        <a:pt x="85821" y="82022"/>
                        <a:pt x="88397" y="80955"/>
                        <a:pt x="91083" y="80955"/>
                      </a:cubicBezTo>
                      <a:cubicBezTo>
                        <a:pt x="93769" y="80955"/>
                        <a:pt x="96345" y="82022"/>
                        <a:pt x="98243" y="83923"/>
                      </a:cubicBezTo>
                      <a:lnTo>
                        <a:pt x="131564" y="117256"/>
                      </a:lnTo>
                      <a:lnTo>
                        <a:pt x="198219" y="50602"/>
                      </a:lnTo>
                      <a:lnTo>
                        <a:pt x="172045" y="50602"/>
                      </a:lnTo>
                      <a:cubicBezTo>
                        <a:pt x="166456" y="50602"/>
                        <a:pt x="161925" y="46071"/>
                        <a:pt x="161925" y="40481"/>
                      </a:cubicBezTo>
                      <a:cubicBezTo>
                        <a:pt x="161925" y="34892"/>
                        <a:pt x="166456" y="30361"/>
                        <a:pt x="172045" y="30361"/>
                      </a:cubicBezTo>
                      <a:lnTo>
                        <a:pt x="222647" y="30361"/>
                      </a:lnTo>
                      <a:cubicBezTo>
                        <a:pt x="228236" y="30361"/>
                        <a:pt x="232767" y="34892"/>
                        <a:pt x="232767" y="40481"/>
                      </a:cubicBezTo>
                      <a:lnTo>
                        <a:pt x="232767" y="91083"/>
                      </a:lnTo>
                      <a:cubicBezTo>
                        <a:pt x="232767" y="96672"/>
                        <a:pt x="228236" y="101203"/>
                        <a:pt x="222647" y="101203"/>
                      </a:cubicBezTo>
                      <a:cubicBezTo>
                        <a:pt x="217058" y="101203"/>
                        <a:pt x="212527" y="96672"/>
                        <a:pt x="212527" y="91083"/>
                      </a:cubicBezTo>
                      <a:lnTo>
                        <a:pt x="212527" y="64909"/>
                      </a:lnTo>
                      <a:lnTo>
                        <a:pt x="138724" y="138724"/>
                      </a:lnTo>
                      <a:cubicBezTo>
                        <a:pt x="136826" y="140625"/>
                        <a:pt x="134250" y="141692"/>
                        <a:pt x="131564" y="141692"/>
                      </a:cubicBezTo>
                      <a:cubicBezTo>
                        <a:pt x="128878" y="141692"/>
                        <a:pt x="126302" y="140625"/>
                        <a:pt x="124404" y="138724"/>
                      </a:cubicBezTo>
                      <a:lnTo>
                        <a:pt x="91083" y="105390"/>
                      </a:lnTo>
                      <a:lnTo>
                        <a:pt x="20241" y="176233"/>
                      </a:lnTo>
                      <a:lnTo>
                        <a:pt x="20241" y="202406"/>
                      </a:lnTo>
                      <a:lnTo>
                        <a:pt x="253008" y="202406"/>
                      </a:lnTo>
                      <a:cubicBezTo>
                        <a:pt x="258597" y="202406"/>
                        <a:pt x="263128" y="206937"/>
                        <a:pt x="263128" y="212527"/>
                      </a:cubicBezTo>
                      <a:close/>
                    </a:path>
                  </a:pathLst>
                </a:custGeom>
                <a:solidFill>
                  <a:srgbClr val="D04A0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55" name="TextBox 55"/>
              <p:cNvSpPr txBox="1"/>
              <p:nvPr/>
            </p:nvSpPr>
            <p:spPr bwMode="auto">
              <a:xfrm>
                <a:off x="8071485" y="2727960"/>
                <a:ext cx="738968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Метрики</a:t>
                </a:r>
                <a:endParaRPr/>
              </a:p>
            </p:txBody>
          </p:sp>
          <p:sp>
            <p:nvSpPr>
              <p:cNvPr id="56" name="TextBox 56"/>
              <p:cNvSpPr txBox="1"/>
              <p:nvPr/>
            </p:nvSpPr>
            <p:spPr bwMode="auto">
              <a:xfrm>
                <a:off x="7654290" y="3201352"/>
                <a:ext cx="1069467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OOF и holdout</a:t>
                </a:r>
                <a:endParaRPr/>
              </a:p>
            </p:txBody>
          </p:sp>
          <p:sp>
            <p:nvSpPr>
              <p:cNvPr id="57" name="TextBox 57"/>
              <p:cNvSpPr txBox="1"/>
              <p:nvPr/>
            </p:nvSpPr>
            <p:spPr bwMode="auto">
              <a:xfrm>
                <a:off x="7654290" y="3420428"/>
                <a:ext cx="1008126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F1 по классам</a:t>
                </a:r>
                <a:endParaRPr/>
              </a:p>
            </p:txBody>
          </p:sp>
          <p:sp>
            <p:nvSpPr>
              <p:cNvPr id="58" name="TextBox 58"/>
              <p:cNvSpPr txBox="1"/>
              <p:nvPr/>
            </p:nvSpPr>
            <p:spPr bwMode="auto">
              <a:xfrm>
                <a:off x="7654290" y="3639502"/>
                <a:ext cx="116914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матрица ошибок</a:t>
                </a:r>
                <a:endParaRPr/>
              </a:p>
            </p:txBody>
          </p:sp>
          <p:sp>
            <p:nvSpPr>
              <p:cNvPr id="59" name="Rectangle 59"/>
              <p:cNvSpPr/>
              <p:nvPr/>
            </p:nvSpPr>
            <p:spPr bwMode="auto">
              <a:xfrm>
                <a:off x="7667625" y="4476750"/>
                <a:ext cx="142875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60" name="TextBox 60"/>
              <p:cNvSpPr txBox="1"/>
              <p:nvPr/>
            </p:nvSpPr>
            <p:spPr bwMode="auto">
              <a:xfrm>
                <a:off x="7965917" y="4628674"/>
                <a:ext cx="832166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 b="1">
                    <a:solidFill>
                      <a:srgbClr val="D04A02"/>
                    </a:solidFill>
                    <a:latin typeface="Consolas"/>
                    <a:ea typeface="Microsoft YaHei"/>
                    <a:cs typeface="Consolas"/>
                  </a:rPr>
                  <a:t>MLflow run</a:t>
                </a:r>
                <a:endParaRPr/>
              </a:p>
            </p:txBody>
          </p:sp>
        </p:grpSp>
        <p:grpSp>
          <p:nvGrpSpPr>
            <p:cNvPr id="74" name="Group 74"/>
            <p:cNvGrpSpPr/>
            <p:nvPr/>
          </p:nvGrpSpPr>
          <p:grpSpPr bwMode="auto">
            <a:xfrm>
              <a:off x="9658350" y="1885950"/>
              <a:ext cx="1877492" cy="3295650"/>
              <a:chOff x="9658350" y="1885950"/>
              <a:chExt cx="1877492" cy="3295650"/>
            </a:xfrm>
          </p:grpSpPr>
          <p:sp>
            <p:nvSpPr>
              <p:cNvPr id="62" name="Rectangle 62"/>
              <p:cNvSpPr/>
              <p:nvPr/>
            </p:nvSpPr>
            <p:spPr bwMode="auto">
              <a:xfrm>
                <a:off x="9658350" y="1885950"/>
                <a:ext cx="1752599" cy="3295650"/>
              </a:xfrm>
              <a:prstGeom prst="roundRect">
                <a:avLst>
                  <a:gd name="adj" fmla="val 7609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63" name="Rectangle 63"/>
              <p:cNvSpPr/>
              <p:nvPr/>
            </p:nvSpPr>
            <p:spPr bwMode="auto">
              <a:xfrm>
                <a:off x="9658350" y="1885950"/>
                <a:ext cx="1752599" cy="533400"/>
              </a:xfrm>
              <a:prstGeom prst="roundRect">
                <a:avLst>
                  <a:gd name="adj" fmla="val 25000"/>
                </a:avLst>
              </a:prstGeom>
              <a:solidFill>
                <a:srgbClr val="EAF7EE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64" name="TextBox 64"/>
              <p:cNvSpPr txBox="1"/>
              <p:nvPr/>
            </p:nvSpPr>
            <p:spPr bwMode="auto">
              <a:xfrm>
                <a:off x="9869805" y="2073592"/>
                <a:ext cx="1245391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05 · Release</a:t>
                </a:r>
                <a:endParaRPr/>
              </a:p>
            </p:txBody>
          </p:sp>
          <p:grpSp>
            <p:nvGrpSpPr>
              <p:cNvPr id="67" name="Group 67"/>
              <p:cNvGrpSpPr/>
              <p:nvPr/>
            </p:nvGrpSpPr>
            <p:grpSpPr bwMode="auto">
              <a:xfrm>
                <a:off x="9927431" y="2678309"/>
                <a:ext cx="234048" cy="242893"/>
                <a:chOff x="9927431" y="2678309"/>
                <a:chExt cx="234048" cy="242893"/>
              </a:xfrm>
            </p:grpSpPr>
            <p:sp>
              <p:nvSpPr>
                <p:cNvPr id="65" name="Freeform 65"/>
                <p:cNvSpPr/>
                <p:nvPr/>
              </p:nvSpPr>
              <p:spPr bwMode="auto">
                <a:xfrm>
                  <a:off x="10079236" y="2688431"/>
                  <a:ext cx="70842" cy="708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842" h="70842" fill="norm" stroke="1" extrusionOk="0">
                      <a:moveTo>
                        <a:pt x="70842" y="70842"/>
                      </a:moveTo>
                      <a:lnTo>
                        <a:pt x="0" y="7084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E7D3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66" name="Freeform 66"/>
                <p:cNvSpPr/>
                <p:nvPr/>
              </p:nvSpPr>
              <p:spPr bwMode="auto">
                <a:xfrm>
                  <a:off x="9927431" y="2678309"/>
                  <a:ext cx="234048" cy="242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049" h="242893" fill="norm" stroke="1" extrusionOk="0">
                      <a:moveTo>
                        <a:pt x="20241" y="197348"/>
                      </a:moveTo>
                      <a:cubicBezTo>
                        <a:pt x="20241" y="211264"/>
                        <a:pt x="29324" y="222649"/>
                        <a:pt x="40481" y="222649"/>
                      </a:cubicBezTo>
                      <a:cubicBezTo>
                        <a:pt x="45417" y="222538"/>
                        <a:pt x="50090" y="220407"/>
                        <a:pt x="53410" y="216754"/>
                      </a:cubicBezTo>
                      <a:cubicBezTo>
                        <a:pt x="57290" y="212802"/>
                        <a:pt x="63626" y="212703"/>
                        <a:pt x="67628" y="216532"/>
                      </a:cubicBezTo>
                      <a:cubicBezTo>
                        <a:pt x="71629" y="220360"/>
                        <a:pt x="71810" y="226694"/>
                        <a:pt x="68034" y="230745"/>
                      </a:cubicBezTo>
                      <a:cubicBezTo>
                        <a:pt x="60912" y="238412"/>
                        <a:pt x="50945" y="242805"/>
                        <a:pt x="40481" y="242890"/>
                      </a:cubicBezTo>
                      <a:cubicBezTo>
                        <a:pt x="18153" y="242890"/>
                        <a:pt x="0" y="222459"/>
                        <a:pt x="0" y="197348"/>
                      </a:cubicBezTo>
                      <a:cubicBezTo>
                        <a:pt x="0" y="172237"/>
                        <a:pt x="18153" y="151807"/>
                        <a:pt x="40481" y="151807"/>
                      </a:cubicBezTo>
                      <a:cubicBezTo>
                        <a:pt x="50945" y="151892"/>
                        <a:pt x="60912" y="156285"/>
                        <a:pt x="68034" y="163951"/>
                      </a:cubicBezTo>
                      <a:cubicBezTo>
                        <a:pt x="71810" y="168002"/>
                        <a:pt x="71629" y="174336"/>
                        <a:pt x="67628" y="178165"/>
                      </a:cubicBezTo>
                      <a:cubicBezTo>
                        <a:pt x="63626" y="181993"/>
                        <a:pt x="57290" y="181894"/>
                        <a:pt x="53410" y="177943"/>
                      </a:cubicBezTo>
                      <a:cubicBezTo>
                        <a:pt x="50090" y="174289"/>
                        <a:pt x="45417" y="172158"/>
                        <a:pt x="40481" y="172047"/>
                      </a:cubicBezTo>
                      <a:cubicBezTo>
                        <a:pt x="29324" y="172047"/>
                        <a:pt x="20241" y="183433"/>
                        <a:pt x="20241" y="197348"/>
                      </a:cubicBezTo>
                      <a:close/>
                      <a:moveTo>
                        <a:pt x="120938" y="186355"/>
                      </a:moveTo>
                      <a:cubicBezTo>
                        <a:pt x="115878" y="184888"/>
                        <a:pt x="110640" y="183382"/>
                        <a:pt x="107718" y="181497"/>
                      </a:cubicBezTo>
                      <a:cubicBezTo>
                        <a:pt x="106137" y="180473"/>
                        <a:pt x="106162" y="180232"/>
                        <a:pt x="106301" y="179094"/>
                      </a:cubicBezTo>
                      <a:cubicBezTo>
                        <a:pt x="106346" y="177229"/>
                        <a:pt x="107288" y="175500"/>
                        <a:pt x="108831" y="174451"/>
                      </a:cubicBezTo>
                      <a:cubicBezTo>
                        <a:pt x="114650" y="170504"/>
                        <a:pt x="128237" y="172262"/>
                        <a:pt x="133917" y="173743"/>
                      </a:cubicBezTo>
                      <a:cubicBezTo>
                        <a:pt x="139325" y="175189"/>
                        <a:pt x="144881" y="171977"/>
                        <a:pt x="146327" y="166570"/>
                      </a:cubicBezTo>
                      <a:cubicBezTo>
                        <a:pt x="147773" y="161162"/>
                        <a:pt x="144562" y="155606"/>
                        <a:pt x="139154" y="154160"/>
                      </a:cubicBezTo>
                      <a:cubicBezTo>
                        <a:pt x="136472" y="153464"/>
                        <a:pt x="112588" y="147556"/>
                        <a:pt x="97610" y="157651"/>
                      </a:cubicBezTo>
                      <a:cubicBezTo>
                        <a:pt x="91198" y="161955"/>
                        <a:pt x="87027" y="168883"/>
                        <a:pt x="86225" y="176564"/>
                      </a:cubicBezTo>
                      <a:cubicBezTo>
                        <a:pt x="83695" y="196652"/>
                        <a:pt x="103493" y="202383"/>
                        <a:pt x="115321" y="205799"/>
                      </a:cubicBezTo>
                      <a:cubicBezTo>
                        <a:pt x="130577" y="210214"/>
                        <a:pt x="131918" y="212023"/>
                        <a:pt x="131488" y="215400"/>
                      </a:cubicBezTo>
                      <a:cubicBezTo>
                        <a:pt x="131096" y="218449"/>
                        <a:pt x="129894" y="219626"/>
                        <a:pt x="128781" y="220372"/>
                      </a:cubicBezTo>
                      <a:cubicBezTo>
                        <a:pt x="122962" y="224243"/>
                        <a:pt x="109590" y="222345"/>
                        <a:pt x="104049" y="220827"/>
                      </a:cubicBezTo>
                      <a:cubicBezTo>
                        <a:pt x="98656" y="219322"/>
                        <a:pt x="93063" y="222474"/>
                        <a:pt x="91557" y="227867"/>
                      </a:cubicBezTo>
                      <a:cubicBezTo>
                        <a:pt x="90052" y="233261"/>
                        <a:pt x="93203" y="238854"/>
                        <a:pt x="98597" y="240360"/>
                      </a:cubicBezTo>
                      <a:cubicBezTo>
                        <a:pt x="104872" y="242003"/>
                        <a:pt x="111327" y="242853"/>
                        <a:pt x="117813" y="242890"/>
                      </a:cubicBezTo>
                      <a:cubicBezTo>
                        <a:pt x="125176" y="242890"/>
                        <a:pt x="133373" y="241625"/>
                        <a:pt x="139939" y="237248"/>
                      </a:cubicBezTo>
                      <a:cubicBezTo>
                        <a:pt x="146500" y="232887"/>
                        <a:pt x="150766" y="225819"/>
                        <a:pt x="151564" y="217981"/>
                      </a:cubicBezTo>
                      <a:cubicBezTo>
                        <a:pt x="154335" y="196083"/>
                        <a:pt x="133449" y="189973"/>
                        <a:pt x="120938" y="186355"/>
                      </a:cubicBezTo>
                      <a:close/>
                      <a:moveTo>
                        <a:pt x="226050" y="152401"/>
                      </a:moveTo>
                      <a:cubicBezTo>
                        <a:pt x="223522" y="151496"/>
                        <a:pt x="220738" y="151633"/>
                        <a:pt x="218311" y="152781"/>
                      </a:cubicBezTo>
                      <a:cubicBezTo>
                        <a:pt x="215883" y="153930"/>
                        <a:pt x="214012" y="155996"/>
                        <a:pt x="213108" y="158524"/>
                      </a:cubicBezTo>
                      <a:lnTo>
                        <a:pt x="197346" y="202674"/>
                      </a:lnTo>
                      <a:lnTo>
                        <a:pt x="181571" y="158524"/>
                      </a:lnTo>
                      <a:cubicBezTo>
                        <a:pt x="179692" y="153260"/>
                        <a:pt x="173900" y="150516"/>
                        <a:pt x="168636" y="152395"/>
                      </a:cubicBezTo>
                      <a:cubicBezTo>
                        <a:pt x="163372" y="154274"/>
                        <a:pt x="160628" y="160066"/>
                        <a:pt x="162507" y="165330"/>
                      </a:cubicBezTo>
                      <a:lnTo>
                        <a:pt x="187808" y="236172"/>
                      </a:lnTo>
                      <a:cubicBezTo>
                        <a:pt x="189245" y="240202"/>
                        <a:pt x="193061" y="242893"/>
                        <a:pt x="197340" y="242893"/>
                      </a:cubicBezTo>
                      <a:cubicBezTo>
                        <a:pt x="201618" y="242893"/>
                        <a:pt x="205434" y="240202"/>
                        <a:pt x="206872" y="236172"/>
                      </a:cubicBezTo>
                      <a:lnTo>
                        <a:pt x="232173" y="165330"/>
                      </a:lnTo>
                      <a:cubicBezTo>
                        <a:pt x="234049" y="160069"/>
                        <a:pt x="231309" y="154283"/>
                        <a:pt x="226050" y="152401"/>
                      </a:cubicBezTo>
                      <a:close/>
                      <a:moveTo>
                        <a:pt x="232767" y="80965"/>
                      </a:moveTo>
                      <a:lnTo>
                        <a:pt x="232767" y="111326"/>
                      </a:lnTo>
                      <a:cubicBezTo>
                        <a:pt x="232767" y="116915"/>
                        <a:pt x="228236" y="121446"/>
                        <a:pt x="222647" y="121446"/>
                      </a:cubicBezTo>
                      <a:cubicBezTo>
                        <a:pt x="217058" y="121446"/>
                        <a:pt x="212527" y="116915"/>
                        <a:pt x="212527" y="111326"/>
                      </a:cubicBezTo>
                      <a:lnTo>
                        <a:pt x="212527" y="91085"/>
                      </a:lnTo>
                      <a:lnTo>
                        <a:pt x="151805" y="91085"/>
                      </a:lnTo>
                      <a:cubicBezTo>
                        <a:pt x="146215" y="91085"/>
                        <a:pt x="141684" y="86554"/>
                        <a:pt x="141684" y="80965"/>
                      </a:cubicBezTo>
                      <a:lnTo>
                        <a:pt x="141684" y="20243"/>
                      </a:lnTo>
                      <a:lnTo>
                        <a:pt x="30361" y="20243"/>
                      </a:lnTo>
                      <a:lnTo>
                        <a:pt x="30361" y="111326"/>
                      </a:lnTo>
                      <a:cubicBezTo>
                        <a:pt x="30361" y="116915"/>
                        <a:pt x="25830" y="121446"/>
                        <a:pt x="20241" y="121446"/>
                      </a:cubicBezTo>
                      <a:cubicBezTo>
                        <a:pt x="14651" y="121446"/>
                        <a:pt x="10120" y="116915"/>
                        <a:pt x="10120" y="111326"/>
                      </a:cubicBezTo>
                      <a:lnTo>
                        <a:pt x="10120" y="20243"/>
                      </a:lnTo>
                      <a:cubicBezTo>
                        <a:pt x="10120" y="9064"/>
                        <a:pt x="19182" y="2"/>
                        <a:pt x="30361" y="2"/>
                      </a:cubicBezTo>
                      <a:lnTo>
                        <a:pt x="151805" y="2"/>
                      </a:lnTo>
                      <a:cubicBezTo>
                        <a:pt x="154490" y="0"/>
                        <a:pt x="157065" y="1065"/>
                        <a:pt x="158965" y="2962"/>
                      </a:cubicBezTo>
                      <a:lnTo>
                        <a:pt x="229807" y="73804"/>
                      </a:lnTo>
                      <a:cubicBezTo>
                        <a:pt x="231704" y="75704"/>
                        <a:pt x="232769" y="78280"/>
                        <a:pt x="232767" y="80965"/>
                      </a:cubicBezTo>
                      <a:close/>
                      <a:moveTo>
                        <a:pt x="198219" y="70844"/>
                      </a:moveTo>
                      <a:lnTo>
                        <a:pt x="161925" y="34550"/>
                      </a:lnTo>
                      <a:lnTo>
                        <a:pt x="161925" y="70844"/>
                      </a:lnTo>
                      <a:close/>
                    </a:path>
                  </a:pathLst>
                </a:custGeom>
                <a:solidFill>
                  <a:srgbClr val="2E7D3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68" name="TextBox 68"/>
              <p:cNvSpPr txBox="1"/>
              <p:nvPr/>
            </p:nvSpPr>
            <p:spPr bwMode="auto">
              <a:xfrm>
                <a:off x="10290810" y="2727960"/>
                <a:ext cx="1245032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2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Предсказания</a:t>
                </a:r>
                <a:endParaRPr/>
              </a:p>
            </p:txBody>
          </p:sp>
          <p:sp>
            <p:nvSpPr>
              <p:cNvPr id="69" name="TextBox 69"/>
              <p:cNvSpPr txBox="1"/>
              <p:nvPr/>
            </p:nvSpPr>
            <p:spPr bwMode="auto">
              <a:xfrm>
                <a:off x="9873615" y="3201352"/>
                <a:ext cx="65541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rc1.yaml</a:t>
                </a:r>
                <a:endParaRPr/>
              </a:p>
            </p:txBody>
          </p:sp>
          <p:sp>
            <p:nvSpPr>
              <p:cNvPr id="70" name="TextBox 70"/>
              <p:cNvSpPr txBox="1"/>
              <p:nvPr/>
            </p:nvSpPr>
            <p:spPr bwMode="auto">
              <a:xfrm>
                <a:off x="9873615" y="3420428"/>
                <a:ext cx="116147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submission.csv</a:t>
                </a:r>
                <a:endParaRPr/>
              </a:p>
            </p:txBody>
          </p:sp>
          <p:sp>
            <p:nvSpPr>
              <p:cNvPr id="71" name="TextBox 71"/>
              <p:cNvSpPr txBox="1"/>
              <p:nvPr/>
            </p:nvSpPr>
            <p:spPr bwMode="auto">
              <a:xfrm>
                <a:off x="9873615" y="3639502"/>
                <a:ext cx="98512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demo/app.py</a:t>
                </a:r>
                <a:endParaRPr/>
              </a:p>
            </p:txBody>
          </p:sp>
          <p:sp>
            <p:nvSpPr>
              <p:cNvPr id="72" name="Rectangle 72"/>
              <p:cNvSpPr/>
              <p:nvPr/>
            </p:nvSpPr>
            <p:spPr bwMode="auto">
              <a:xfrm>
                <a:off x="9886950" y="4476750"/>
                <a:ext cx="129540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73" name="TextBox 73"/>
              <p:cNvSpPr txBox="1"/>
              <p:nvPr/>
            </p:nvSpPr>
            <p:spPr bwMode="auto">
              <a:xfrm>
                <a:off x="10043808" y="4628674"/>
                <a:ext cx="981685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 b="1">
                    <a:solidFill>
                      <a:srgbClr val="2E7D32"/>
                    </a:solidFill>
                    <a:latin typeface="Consolas"/>
                    <a:ea typeface="Microsoft YaHei"/>
                    <a:cs typeface="Consolas"/>
                  </a:rPr>
                  <a:t>validated CSV</a:t>
                </a:r>
                <a:endParaRPr/>
              </a:p>
            </p:txBody>
          </p:sp>
        </p:grpSp>
        <p:grpSp>
          <p:nvGrpSpPr>
            <p:cNvPr id="83" name="Group 83"/>
            <p:cNvGrpSpPr/>
            <p:nvPr/>
          </p:nvGrpSpPr>
          <p:grpSpPr bwMode="auto">
            <a:xfrm>
              <a:off x="2667000" y="3409950"/>
              <a:ext cx="6886575" cy="190500"/>
              <a:chOff x="2667000" y="3409950"/>
              <a:chExt cx="6886575" cy="190500"/>
            </a:xfrm>
          </p:grpSpPr>
          <p:sp>
            <p:nvSpPr>
              <p:cNvPr id="75" name="Polygon 75"/>
              <p:cNvSpPr/>
              <p:nvPr/>
            </p:nvSpPr>
            <p:spPr bwMode="auto">
              <a:xfrm>
                <a:off x="2724150" y="3409950"/>
                <a:ext cx="1714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90500" fill="norm" stroke="1" extrusionOk="0">
                    <a:moveTo>
                      <a:pt x="0" y="95250"/>
                    </a:moveTo>
                    <a:lnTo>
                      <a:pt x="171450" y="0"/>
                    </a:lnTo>
                    <a:lnTo>
                      <a:pt x="171450" y="190500"/>
                    </a:ln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</p:sp>
          <p:sp>
            <p:nvSpPr>
              <p:cNvPr id="76" name="Line 76"/>
              <p:cNvSpPr/>
              <p:nvPr/>
            </p:nvSpPr>
            <p:spPr bwMode="auto">
              <a:xfrm>
                <a:off x="2667000" y="3505199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 fill="norm" stroke="1" extrusionOk="0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rgbClr val="1565C0"/>
                </a:solidFill>
              </a:ln>
            </p:spPr>
          </p:sp>
          <p:sp>
            <p:nvSpPr>
              <p:cNvPr id="77" name="Polygon 77"/>
              <p:cNvSpPr/>
              <p:nvPr/>
            </p:nvSpPr>
            <p:spPr bwMode="auto">
              <a:xfrm>
                <a:off x="4943475" y="3409950"/>
                <a:ext cx="1714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90500" fill="norm" stroke="1" extrusionOk="0">
                    <a:moveTo>
                      <a:pt x="0" y="95250"/>
                    </a:moveTo>
                    <a:lnTo>
                      <a:pt x="171450" y="0"/>
                    </a:lnTo>
                    <a:lnTo>
                      <a:pt x="171450" y="190500"/>
                    </a:ln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</p:sp>
          <p:sp>
            <p:nvSpPr>
              <p:cNvPr id="78" name="Line 78"/>
              <p:cNvSpPr/>
              <p:nvPr/>
            </p:nvSpPr>
            <p:spPr bwMode="auto">
              <a:xfrm>
                <a:off x="4886325" y="3505199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 fill="norm" stroke="1" extrusionOk="0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rgbClr val="1565C0"/>
                </a:solidFill>
              </a:ln>
            </p:spPr>
          </p:sp>
          <p:sp>
            <p:nvSpPr>
              <p:cNvPr id="79" name="Polygon 79"/>
              <p:cNvSpPr/>
              <p:nvPr/>
            </p:nvSpPr>
            <p:spPr bwMode="auto">
              <a:xfrm>
                <a:off x="7162800" y="3409950"/>
                <a:ext cx="1714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90500" fill="norm" stroke="1" extrusionOk="0">
                    <a:moveTo>
                      <a:pt x="0" y="95250"/>
                    </a:moveTo>
                    <a:lnTo>
                      <a:pt x="171450" y="0"/>
                    </a:lnTo>
                    <a:lnTo>
                      <a:pt x="171450" y="190500"/>
                    </a:ln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</p:sp>
          <p:sp>
            <p:nvSpPr>
              <p:cNvPr id="80" name="Line 80"/>
              <p:cNvSpPr/>
              <p:nvPr/>
            </p:nvSpPr>
            <p:spPr bwMode="auto">
              <a:xfrm>
                <a:off x="7105650" y="3505199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 fill="norm" stroke="1" extrusionOk="0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rgbClr val="1565C0"/>
                </a:solidFill>
              </a:ln>
            </p:spPr>
          </p:sp>
          <p:sp>
            <p:nvSpPr>
              <p:cNvPr id="81" name="Polygon 81"/>
              <p:cNvSpPr/>
              <p:nvPr/>
            </p:nvSpPr>
            <p:spPr bwMode="auto">
              <a:xfrm>
                <a:off x="9382125" y="3409950"/>
                <a:ext cx="1714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90500" fill="norm" stroke="1" extrusionOk="0">
                    <a:moveTo>
                      <a:pt x="0" y="95250"/>
                    </a:moveTo>
                    <a:lnTo>
                      <a:pt x="171450" y="0"/>
                    </a:lnTo>
                    <a:lnTo>
                      <a:pt x="171450" y="190500"/>
                    </a:ln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</p:sp>
          <p:sp>
            <p:nvSpPr>
              <p:cNvPr id="82" name="Line 82"/>
              <p:cNvSpPr/>
              <p:nvPr/>
            </p:nvSpPr>
            <p:spPr bwMode="auto">
              <a:xfrm>
                <a:off x="9324975" y="3505199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 fill="norm" stroke="1" extrusionOk="0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rgbClr val="1565C0"/>
                </a:solidFill>
              </a:ln>
            </p:spPr>
          </p:sp>
        </p:grpSp>
      </p:grpSp>
      <p:sp>
        <p:nvSpPr>
          <p:cNvPr id="86" name="TextBox 86"/>
          <p:cNvSpPr txBox="1"/>
          <p:nvPr/>
        </p:nvSpPr>
        <p:spPr bwMode="auto">
          <a:xfrm rot="0" flipH="0" flipV="0">
            <a:off x="1298258" y="11949588"/>
            <a:ext cx="95758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uv sync → make full-pipeline → uv run python -m src.inference.predict --config configs/release/rc1.yaml</a:t>
            </a:r>
            <a:endParaRPr/>
          </a:p>
        </p:txBody>
      </p:sp>
      <p:sp>
        <p:nvSpPr>
          <p:cNvPr id="5" name="TextBox 5"/>
          <p:cNvSpPr txBox="1"/>
          <p:nvPr/>
        </p:nvSpPr>
        <p:spPr bwMode="auto">
          <a:xfrm rot="0" flipH="0" flipV="0">
            <a:off x="501014" y="248601"/>
            <a:ext cx="11264658" cy="7775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Процесс воспроизводим: каждый шаг оставляет проверяемый артефакт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 bwMode="auto">
          <a:xfrm flipH="0" flipV="0">
            <a:off x="501014" y="248601"/>
            <a:ext cx="11537782" cy="998519"/>
            <a:chOff x="0" y="0"/>
            <a:chExt cx="11537782" cy="998519"/>
          </a:xfrm>
        </p:grpSpPr>
        <p:sp>
          <p:nvSpPr>
            <p:cNvPr id="5" name="TextBox 5"/>
            <p:cNvSpPr txBox="1"/>
            <p:nvPr/>
          </p:nvSpPr>
          <p:spPr bwMode="auto">
            <a:xfrm>
              <a:off x="0" y="0"/>
              <a:ext cx="11537782" cy="38897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2550" b="1">
                  <a:solidFill>
                    <a:srgbClr val="0F2A44"/>
                  </a:solidFill>
                  <a:latin typeface="Georgia"/>
                  <a:ea typeface="SimSun"/>
                  <a:cs typeface="Georgia"/>
                </a:rPr>
                <a:t>Мы проверили архитектуры и способы борьбы с дисбалансом, затем зафиксировали release-кандидата</a:t>
              </a:r>
              <a:endParaRPr/>
            </a:p>
          </p:txBody>
        </p:sp>
        <p:sp>
          <p:nvSpPr>
            <p:cNvPr id="7" name="TextBox 7"/>
            <p:cNvSpPr txBox="1"/>
            <p:nvPr/>
          </p:nvSpPr>
          <p:spPr bwMode="auto">
            <a:xfrm>
              <a:off x="147047" y="800039"/>
              <a:ext cx="5510677" cy="198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defRPr/>
              </a:pPr>
              <a:r>
                <a:rPr lang="zh-CN" sz="1300" b="1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Эксперименты были не перебором ради перебора: каждый шаг закрывал конкретный риск качества</a:t>
              </a:r>
              <a:endParaRPr/>
            </a:p>
          </p:txBody>
        </p:sp>
      </p:grpSp>
      <p:grpSp>
        <p:nvGrpSpPr>
          <p:cNvPr id="65" name="Group 65"/>
          <p:cNvGrpSpPr/>
          <p:nvPr/>
        </p:nvGrpSpPr>
        <p:grpSpPr bwMode="auto">
          <a:xfrm>
            <a:off x="533400" y="1790700"/>
            <a:ext cx="11125200" cy="3543300"/>
            <a:chOff x="533400" y="1790700"/>
            <a:chExt cx="11125200" cy="3543300"/>
          </a:xfrm>
        </p:grpSpPr>
        <p:grpSp>
          <p:nvGrpSpPr>
            <p:cNvPr id="24" name="Group 24"/>
            <p:cNvGrpSpPr/>
            <p:nvPr/>
          </p:nvGrpSpPr>
          <p:grpSpPr bwMode="auto">
            <a:xfrm>
              <a:off x="533400" y="1790700"/>
              <a:ext cx="11125200" cy="1028700"/>
              <a:chOff x="533400" y="1790700"/>
              <a:chExt cx="11125200" cy="1028700"/>
            </a:xfrm>
          </p:grpSpPr>
          <p:sp>
            <p:nvSpPr>
              <p:cNvPr id="9" name="Polygon 9"/>
              <p:cNvSpPr/>
              <p:nvPr/>
            </p:nvSpPr>
            <p:spPr bwMode="auto">
              <a:xfrm>
                <a:off x="533400" y="1790700"/>
                <a:ext cx="2057400" cy="1028700"/>
              </a:xfrm>
              <a:custGeom>
                <a:avLst/>
                <a:gdLst/>
                <a:ahLst/>
                <a:cxnLst/>
                <a:rect l="l" t="t" r="r" b="b"/>
                <a:pathLst>
                  <a:path w="2057400" h="1028700" fill="norm" stroke="1" extrusionOk="0">
                    <a:moveTo>
                      <a:pt x="0" y="0"/>
                    </a:moveTo>
                    <a:lnTo>
                      <a:pt x="1733550" y="0"/>
                    </a:lnTo>
                    <a:lnTo>
                      <a:pt x="2057400" y="514350"/>
                    </a:lnTo>
                    <a:lnTo>
                      <a:pt x="1733550" y="1028700"/>
                    </a:lnTo>
                    <a:lnTo>
                      <a:pt x="0" y="1028700"/>
                    </a:lnTo>
                    <a:close/>
                  </a:path>
                </a:pathLst>
              </a:custGeom>
              <a:solidFill>
                <a:srgbClr val="0F2A44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 bwMode="auto">
              <a:xfrm>
                <a:off x="1055530" y="2083118"/>
                <a:ext cx="84169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Baseline</a:t>
                </a:r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 bwMode="auto">
              <a:xfrm>
                <a:off x="1403473" y="2371249"/>
                <a:ext cx="14580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D8E1EA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  <a:endParaRPr/>
              </a:p>
            </p:txBody>
          </p:sp>
          <p:sp>
            <p:nvSpPr>
              <p:cNvPr id="12" name="Polygon 12"/>
              <p:cNvSpPr/>
              <p:nvPr/>
            </p:nvSpPr>
            <p:spPr bwMode="auto">
              <a:xfrm>
                <a:off x="2647949" y="1790700"/>
                <a:ext cx="2057400" cy="1028700"/>
              </a:xfrm>
              <a:custGeom>
                <a:avLst/>
                <a:gdLst/>
                <a:ahLst/>
                <a:cxnLst/>
                <a:rect l="l" t="t" r="r" b="b"/>
                <a:pathLst>
                  <a:path w="2057400" h="1028700" fill="norm" stroke="1" extrusionOk="0">
                    <a:moveTo>
                      <a:pt x="0" y="0"/>
                    </a:moveTo>
                    <a:lnTo>
                      <a:pt x="1733550" y="0"/>
                    </a:lnTo>
                    <a:lnTo>
                      <a:pt x="2057400" y="514350"/>
                    </a:lnTo>
                    <a:lnTo>
                      <a:pt x="1733550" y="1028700"/>
                    </a:lnTo>
                    <a:lnTo>
                      <a:pt x="0" y="1028700"/>
                    </a:lnTo>
                    <a:lnTo>
                      <a:pt x="323850" y="514350"/>
                    </a:ln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 bwMode="auto">
              <a:xfrm>
                <a:off x="3147116" y="2083118"/>
                <a:ext cx="105906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Backbones</a:t>
                </a:r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 bwMode="auto">
              <a:xfrm>
                <a:off x="3585948" y="2371249"/>
                <a:ext cx="18140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D8E1EA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  <a:endParaRPr/>
              </a:p>
            </p:txBody>
          </p:sp>
          <p:sp>
            <p:nvSpPr>
              <p:cNvPr id="15" name="Polygon 15"/>
              <p:cNvSpPr/>
              <p:nvPr/>
            </p:nvSpPr>
            <p:spPr bwMode="auto">
              <a:xfrm>
                <a:off x="4762500" y="1790700"/>
                <a:ext cx="2171700" cy="1028700"/>
              </a:xfrm>
              <a:custGeom>
                <a:avLst/>
                <a:gdLst/>
                <a:ahLst/>
                <a:cxnLst/>
                <a:rect l="l" t="t" r="r" b="b"/>
                <a:pathLst>
                  <a:path w="2171700" h="1028700" fill="norm" stroke="1" extrusionOk="0">
                    <a:moveTo>
                      <a:pt x="0" y="0"/>
                    </a:moveTo>
                    <a:lnTo>
                      <a:pt x="1847850" y="0"/>
                    </a:lnTo>
                    <a:lnTo>
                      <a:pt x="2171700" y="514350"/>
                    </a:lnTo>
                    <a:lnTo>
                      <a:pt x="1847850" y="1028700"/>
                    </a:lnTo>
                    <a:lnTo>
                      <a:pt x="0" y="1028700"/>
                    </a:lnTo>
                    <a:lnTo>
                      <a:pt x="323850" y="514350"/>
                    </a:lnTo>
                    <a:close/>
                  </a:path>
                </a:pathLst>
              </a:custGeom>
              <a:solidFill>
                <a:srgbClr val="00A6D6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 bwMode="auto">
              <a:xfrm>
                <a:off x="5349870" y="2083118"/>
                <a:ext cx="99695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Imbalance</a:t>
                </a:r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 bwMode="auto">
              <a:xfrm>
                <a:off x="5757648" y="2371249"/>
                <a:ext cx="18140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EAF3FB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  <a:endParaRPr/>
              </a:p>
            </p:txBody>
          </p:sp>
          <p:sp>
            <p:nvSpPr>
              <p:cNvPr id="18" name="Polygon 18"/>
              <p:cNvSpPr/>
              <p:nvPr/>
            </p:nvSpPr>
            <p:spPr bwMode="auto">
              <a:xfrm>
                <a:off x="6991350" y="1790700"/>
                <a:ext cx="2171700" cy="1028700"/>
              </a:xfrm>
              <a:custGeom>
                <a:avLst/>
                <a:gdLst/>
                <a:ahLst/>
                <a:cxnLst/>
                <a:rect l="l" t="t" r="r" b="b"/>
                <a:pathLst>
                  <a:path w="2171700" h="1028700" fill="norm" stroke="1" extrusionOk="0">
                    <a:moveTo>
                      <a:pt x="0" y="0"/>
                    </a:moveTo>
                    <a:lnTo>
                      <a:pt x="1847850" y="0"/>
                    </a:lnTo>
                    <a:lnTo>
                      <a:pt x="2171700" y="514350"/>
                    </a:lnTo>
                    <a:lnTo>
                      <a:pt x="1847850" y="1028700"/>
                    </a:lnTo>
                    <a:lnTo>
                      <a:pt x="0" y="1028700"/>
                    </a:lnTo>
                    <a:lnTo>
                      <a:pt x="323850" y="514350"/>
                    </a:lnTo>
                    <a:close/>
                  </a:path>
                </a:pathLst>
              </a:custGeom>
              <a:solidFill>
                <a:srgbClr val="2E7D32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 bwMode="auto">
              <a:xfrm>
                <a:off x="7568369" y="2083118"/>
                <a:ext cx="101766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Validation</a:t>
                </a:r>
                <a:endParaRPr/>
              </a:p>
            </p:txBody>
          </p:sp>
          <p:sp>
            <p:nvSpPr>
              <p:cNvPr id="20" name="TextBox 20"/>
              <p:cNvSpPr txBox="1"/>
              <p:nvPr/>
            </p:nvSpPr>
            <p:spPr bwMode="auto">
              <a:xfrm>
                <a:off x="7986498" y="2371249"/>
                <a:ext cx="18140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EAF7EE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  <a:endParaRPr/>
              </a:p>
            </p:txBody>
          </p:sp>
          <p:sp>
            <p:nvSpPr>
              <p:cNvPr id="21" name="Polygon 21"/>
              <p:cNvSpPr/>
              <p:nvPr/>
            </p:nvSpPr>
            <p:spPr bwMode="auto">
              <a:xfrm>
                <a:off x="9220200" y="1790700"/>
                <a:ext cx="2438400" cy="1028700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1028700" fill="norm" stroke="1" extrusionOk="0">
                    <a:moveTo>
                      <a:pt x="0" y="0"/>
                    </a:moveTo>
                    <a:lnTo>
                      <a:pt x="2114550" y="0"/>
                    </a:lnTo>
                    <a:lnTo>
                      <a:pt x="2438400" y="514350"/>
                    </a:lnTo>
                    <a:lnTo>
                      <a:pt x="2114550" y="1028700"/>
                    </a:lnTo>
                    <a:lnTo>
                      <a:pt x="0" y="1028700"/>
                    </a:lnTo>
                    <a:lnTo>
                      <a:pt x="323850" y="514350"/>
                    </a:lnTo>
                    <a:close/>
                  </a:path>
                </a:pathLst>
              </a:custGeom>
              <a:solidFill>
                <a:srgbClr val="D04A02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 bwMode="auto">
              <a:xfrm>
                <a:off x="10049608" y="2083118"/>
                <a:ext cx="77958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Release</a:t>
                </a:r>
                <a:endParaRPr/>
              </a:p>
            </p:txBody>
          </p:sp>
          <p:sp>
            <p:nvSpPr>
              <p:cNvPr id="23" name="TextBox 23"/>
              <p:cNvSpPr txBox="1"/>
              <p:nvPr/>
            </p:nvSpPr>
            <p:spPr bwMode="auto">
              <a:xfrm>
                <a:off x="10348698" y="2371249"/>
                <a:ext cx="18140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FFF4ED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  <a:endParaRPr/>
              </a:p>
            </p:txBody>
          </p:sp>
        </p:grpSp>
        <p:grpSp>
          <p:nvGrpSpPr>
            <p:cNvPr id="32" name="Group 32"/>
            <p:cNvGrpSpPr/>
            <p:nvPr/>
          </p:nvGrpSpPr>
          <p:grpSpPr bwMode="auto">
            <a:xfrm>
              <a:off x="533400" y="3238500"/>
              <a:ext cx="2108883" cy="2095500"/>
              <a:chOff x="533400" y="3238500"/>
              <a:chExt cx="2108883" cy="2095500"/>
            </a:xfrm>
          </p:grpSpPr>
          <p:sp>
            <p:nvSpPr>
              <p:cNvPr id="25" name="Rectangle 25"/>
              <p:cNvSpPr/>
              <p:nvPr/>
            </p:nvSpPr>
            <p:spPr bwMode="auto">
              <a:xfrm>
                <a:off x="533400" y="3238500"/>
                <a:ext cx="2000250" cy="2095500"/>
              </a:xfrm>
              <a:prstGeom prst="roundRect">
                <a:avLst>
                  <a:gd name="adj" fmla="val 666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6" name="TextBox 26"/>
              <p:cNvSpPr txBox="1"/>
              <p:nvPr/>
            </p:nvSpPr>
            <p:spPr bwMode="auto">
              <a:xfrm>
                <a:off x="764858" y="3453289"/>
                <a:ext cx="1596580" cy="2590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0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Стартовая линия</a:t>
                </a:r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 bwMode="auto">
              <a:xfrm>
                <a:off x="767715" y="3830002"/>
                <a:ext cx="126115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простой baseline</a:t>
                </a:r>
                <a:endParaRPr/>
              </a:p>
            </p:txBody>
          </p:sp>
          <p:sp>
            <p:nvSpPr>
              <p:cNvPr id="28" name="TextBox 28"/>
              <p:cNvSpPr txBox="1"/>
              <p:nvPr/>
            </p:nvSpPr>
            <p:spPr bwMode="auto">
              <a:xfrm>
                <a:off x="767715" y="4058602"/>
                <a:ext cx="187456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быстрая smoke-проверка</a:t>
                </a:r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 bwMode="auto">
              <a:xfrm>
                <a:off x="767715" y="4287202"/>
                <a:ext cx="116914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единая метрика</a:t>
                </a:r>
                <a:endParaRPr/>
              </a:p>
            </p:txBody>
          </p:sp>
          <p:sp>
            <p:nvSpPr>
              <p:cNvPr id="30" name="Rectangle 30"/>
              <p:cNvSpPr/>
              <p:nvPr/>
            </p:nvSpPr>
            <p:spPr bwMode="auto">
              <a:xfrm>
                <a:off x="781050" y="4762500"/>
                <a:ext cx="13525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1" name="TextBox 31"/>
              <p:cNvSpPr txBox="1"/>
              <p:nvPr/>
            </p:nvSpPr>
            <p:spPr bwMode="auto">
              <a:xfrm>
                <a:off x="1061418" y="4865370"/>
                <a:ext cx="791813" cy="1828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900">
                    <a:solidFill>
                      <a:srgbClr val="0F2A44"/>
                    </a:solidFill>
                    <a:latin typeface="Consolas"/>
                    <a:ea typeface="Microsoft YaHei"/>
                    <a:cs typeface="Consolas"/>
                  </a:rPr>
                  <a:t>baseline run</a:t>
                </a:r>
                <a:endParaRPr/>
              </a:p>
            </p:txBody>
          </p:sp>
        </p:grpSp>
        <p:grpSp>
          <p:nvGrpSpPr>
            <p:cNvPr id="40" name="Group 40"/>
            <p:cNvGrpSpPr/>
            <p:nvPr/>
          </p:nvGrpSpPr>
          <p:grpSpPr bwMode="auto">
            <a:xfrm>
              <a:off x="2800350" y="3238500"/>
              <a:ext cx="2001536" cy="2095500"/>
              <a:chOff x="2800350" y="3238500"/>
              <a:chExt cx="2001536" cy="2095500"/>
            </a:xfrm>
          </p:grpSpPr>
          <p:sp>
            <p:nvSpPr>
              <p:cNvPr id="33" name="Rectangle 33"/>
              <p:cNvSpPr/>
              <p:nvPr/>
            </p:nvSpPr>
            <p:spPr bwMode="auto">
              <a:xfrm>
                <a:off x="2800350" y="3238500"/>
                <a:ext cx="2000250" cy="2095500"/>
              </a:xfrm>
              <a:prstGeom prst="roundRect">
                <a:avLst>
                  <a:gd name="adj" fmla="val 666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4" name="TextBox 34"/>
              <p:cNvSpPr txBox="1"/>
              <p:nvPr/>
            </p:nvSpPr>
            <p:spPr bwMode="auto">
              <a:xfrm>
                <a:off x="3031808" y="3453289"/>
                <a:ext cx="1215308" cy="2590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0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Архитектуры</a:t>
                </a:r>
                <a:endParaRPr/>
              </a:p>
            </p:txBody>
          </p:sp>
          <p:sp>
            <p:nvSpPr>
              <p:cNvPr id="35" name="TextBox 35"/>
              <p:cNvSpPr txBox="1"/>
              <p:nvPr/>
            </p:nvSpPr>
            <p:spPr bwMode="auto">
              <a:xfrm>
                <a:off x="3034665" y="3830002"/>
                <a:ext cx="1767221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ConvNeXt, EfficientNet</a:t>
                </a:r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 bwMode="auto">
              <a:xfrm>
                <a:off x="3034665" y="4058602"/>
                <a:ext cx="53273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ResNet</a:t>
                </a:r>
                <a:endParaRPr/>
              </a:p>
            </p:txBody>
          </p:sp>
          <p:sp>
            <p:nvSpPr>
              <p:cNvPr id="37" name="TextBox 37"/>
              <p:cNvSpPr txBox="1"/>
              <p:nvPr/>
            </p:nvSpPr>
            <p:spPr bwMode="auto">
              <a:xfrm>
                <a:off x="3034665" y="4287202"/>
                <a:ext cx="716756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ViT / CLIP</a:t>
                </a:r>
                <a:endParaRPr/>
              </a:p>
            </p:txBody>
          </p:sp>
          <p:sp>
            <p:nvSpPr>
              <p:cNvPr id="38" name="Rectangle 38"/>
              <p:cNvSpPr/>
              <p:nvPr/>
            </p:nvSpPr>
            <p:spPr bwMode="auto">
              <a:xfrm>
                <a:off x="3048000" y="4762500"/>
                <a:ext cx="13525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9" name="TextBox 39"/>
              <p:cNvSpPr txBox="1"/>
              <p:nvPr/>
            </p:nvSpPr>
            <p:spPr bwMode="auto">
              <a:xfrm>
                <a:off x="3302079" y="4865370"/>
                <a:ext cx="844391" cy="1828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900">
                    <a:solidFill>
                      <a:srgbClr val="1565C0"/>
                    </a:solidFill>
                    <a:latin typeface="Consolas"/>
                    <a:ea typeface="Microsoft YaHei"/>
                    <a:cs typeface="Consolas"/>
                  </a:rPr>
                  <a:t>timm configs</a:t>
                </a:r>
                <a:endParaRPr/>
              </a:p>
            </p:txBody>
          </p:sp>
        </p:grpSp>
        <p:grpSp>
          <p:nvGrpSpPr>
            <p:cNvPr id="48" name="Group 48"/>
            <p:cNvGrpSpPr/>
            <p:nvPr/>
          </p:nvGrpSpPr>
          <p:grpSpPr bwMode="auto">
            <a:xfrm>
              <a:off x="5067300" y="3238500"/>
              <a:ext cx="2000250" cy="2095500"/>
              <a:chOff x="5067300" y="3238500"/>
              <a:chExt cx="2000250" cy="2095500"/>
            </a:xfrm>
          </p:grpSpPr>
          <p:sp>
            <p:nvSpPr>
              <p:cNvPr id="41" name="Rectangle 41"/>
              <p:cNvSpPr/>
              <p:nvPr/>
            </p:nvSpPr>
            <p:spPr bwMode="auto">
              <a:xfrm>
                <a:off x="5067300" y="3238500"/>
                <a:ext cx="2000250" cy="2095500"/>
              </a:xfrm>
              <a:prstGeom prst="roundRect">
                <a:avLst>
                  <a:gd name="adj" fmla="val 666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42" name="TextBox 42"/>
              <p:cNvSpPr txBox="1"/>
              <p:nvPr/>
            </p:nvSpPr>
            <p:spPr bwMode="auto">
              <a:xfrm>
                <a:off x="5298758" y="3453289"/>
                <a:ext cx="1000231" cy="2590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00" b="1">
                    <a:solidFill>
                      <a:srgbClr val="00A6D6"/>
                    </a:solidFill>
                    <a:latin typeface="Arial"/>
                    <a:ea typeface="Microsoft YaHei"/>
                    <a:cs typeface="Arial"/>
                  </a:rPr>
                  <a:t>Дисбаланс</a:t>
                </a:r>
                <a:endParaRPr/>
              </a:p>
            </p:txBody>
          </p:sp>
          <p:sp>
            <p:nvSpPr>
              <p:cNvPr id="43" name="TextBox 43"/>
              <p:cNvSpPr txBox="1"/>
              <p:nvPr/>
            </p:nvSpPr>
            <p:spPr bwMode="auto">
              <a:xfrm>
                <a:off x="5301615" y="3830002"/>
                <a:ext cx="1215152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взвешенная loss</a:t>
                </a:r>
                <a:endParaRPr/>
              </a:p>
            </p:txBody>
          </p:sp>
          <p:sp>
            <p:nvSpPr>
              <p:cNvPr id="44" name="TextBox 44"/>
              <p:cNvSpPr txBox="1"/>
              <p:nvPr/>
            </p:nvSpPr>
            <p:spPr bwMode="auto">
              <a:xfrm>
                <a:off x="5301615" y="4058602"/>
                <a:ext cx="79343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Focal Loss</a:t>
                </a:r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 bwMode="auto">
              <a:xfrm>
                <a:off x="5301615" y="4287202"/>
                <a:ext cx="129182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balanced sampler</a:t>
                </a:r>
                <a:endParaRPr/>
              </a:p>
            </p:txBody>
          </p:sp>
          <p:sp>
            <p:nvSpPr>
              <p:cNvPr id="46" name="Rectangle 46"/>
              <p:cNvSpPr/>
              <p:nvPr/>
            </p:nvSpPr>
            <p:spPr bwMode="auto">
              <a:xfrm>
                <a:off x="5314950" y="4762500"/>
                <a:ext cx="13525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47" name="TextBox 47"/>
              <p:cNvSpPr txBox="1"/>
              <p:nvPr/>
            </p:nvSpPr>
            <p:spPr bwMode="auto">
              <a:xfrm>
                <a:off x="5578888" y="4865370"/>
                <a:ext cx="824674" cy="1828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900">
                    <a:solidFill>
                      <a:srgbClr val="00A6D6"/>
                    </a:solidFill>
                    <a:latin typeface="Consolas"/>
                    <a:ea typeface="Microsoft YaHei"/>
                    <a:cs typeface="Consolas"/>
                  </a:rPr>
                  <a:t>rare classes</a:t>
                </a:r>
                <a:endParaRPr/>
              </a:p>
            </p:txBody>
          </p:sp>
        </p:grpSp>
        <p:grpSp>
          <p:nvGrpSpPr>
            <p:cNvPr id="56" name="Group 56"/>
            <p:cNvGrpSpPr/>
            <p:nvPr/>
          </p:nvGrpSpPr>
          <p:grpSpPr bwMode="auto">
            <a:xfrm>
              <a:off x="7334250" y="3238500"/>
              <a:ext cx="2000250" cy="2095500"/>
              <a:chOff x="7334250" y="3238500"/>
              <a:chExt cx="2000250" cy="2095500"/>
            </a:xfrm>
          </p:grpSpPr>
          <p:sp>
            <p:nvSpPr>
              <p:cNvPr id="49" name="Rectangle 49"/>
              <p:cNvSpPr/>
              <p:nvPr/>
            </p:nvSpPr>
            <p:spPr bwMode="auto">
              <a:xfrm>
                <a:off x="7334250" y="3238500"/>
                <a:ext cx="2000250" cy="2095500"/>
              </a:xfrm>
              <a:prstGeom prst="roundRect">
                <a:avLst>
                  <a:gd name="adj" fmla="val 6667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50" name="TextBox 50"/>
              <p:cNvSpPr txBox="1"/>
              <p:nvPr/>
            </p:nvSpPr>
            <p:spPr bwMode="auto">
              <a:xfrm>
                <a:off x="7565708" y="3453289"/>
                <a:ext cx="892693" cy="2590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0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Проверки</a:t>
                </a:r>
                <a:endParaRPr/>
              </a:p>
            </p:txBody>
          </p:sp>
          <p:sp>
            <p:nvSpPr>
              <p:cNvPr id="51" name="TextBox 51"/>
              <p:cNvSpPr txBox="1"/>
              <p:nvPr/>
            </p:nvSpPr>
            <p:spPr bwMode="auto">
              <a:xfrm>
                <a:off x="7568565" y="3830002"/>
                <a:ext cx="1069467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OOF + holdout</a:t>
                </a:r>
                <a:endParaRPr/>
              </a:p>
            </p:txBody>
          </p:sp>
          <p:sp>
            <p:nvSpPr>
              <p:cNvPr id="52" name="TextBox 52"/>
              <p:cNvSpPr txBox="1"/>
              <p:nvPr/>
            </p:nvSpPr>
            <p:spPr bwMode="auto">
              <a:xfrm>
                <a:off x="7568565" y="4058602"/>
                <a:ext cx="1008126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F1 по классам</a:t>
                </a:r>
                <a:endParaRPr/>
              </a:p>
            </p:txBody>
          </p:sp>
          <p:sp>
            <p:nvSpPr>
              <p:cNvPr id="53" name="TextBox 53"/>
              <p:cNvSpPr txBox="1"/>
              <p:nvPr/>
            </p:nvSpPr>
            <p:spPr bwMode="auto">
              <a:xfrm>
                <a:off x="7568565" y="4287202"/>
                <a:ext cx="116914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матрица ошибок</a:t>
                </a:r>
                <a:endParaRPr/>
              </a:p>
            </p:txBody>
          </p:sp>
          <p:sp>
            <p:nvSpPr>
              <p:cNvPr id="54" name="Rectangle 54"/>
              <p:cNvSpPr/>
              <p:nvPr/>
            </p:nvSpPr>
            <p:spPr bwMode="auto">
              <a:xfrm>
                <a:off x="7581899" y="4762500"/>
                <a:ext cx="13525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55" name="TextBox 55"/>
              <p:cNvSpPr txBox="1"/>
              <p:nvPr/>
            </p:nvSpPr>
            <p:spPr bwMode="auto">
              <a:xfrm>
                <a:off x="7898416" y="4865370"/>
                <a:ext cx="719519" cy="1828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900">
                    <a:solidFill>
                      <a:srgbClr val="2E7D32"/>
                    </a:solidFill>
                    <a:latin typeface="Consolas"/>
                    <a:ea typeface="Microsoft YaHei"/>
                    <a:cs typeface="Consolas"/>
                  </a:rPr>
                  <a:t>run_id only</a:t>
                </a: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 bwMode="auto">
            <a:xfrm>
              <a:off x="9601200" y="3238500"/>
              <a:ext cx="2057400" cy="2095500"/>
              <a:chOff x="9601200" y="3238500"/>
              <a:chExt cx="2057400" cy="2095500"/>
            </a:xfrm>
          </p:grpSpPr>
          <p:sp>
            <p:nvSpPr>
              <p:cNvPr id="57" name="Rectangle 57"/>
              <p:cNvSpPr/>
              <p:nvPr/>
            </p:nvSpPr>
            <p:spPr bwMode="auto">
              <a:xfrm>
                <a:off x="9601200" y="3238500"/>
                <a:ext cx="2057400" cy="2095500"/>
              </a:xfrm>
              <a:prstGeom prst="roundRect">
                <a:avLst>
                  <a:gd name="adj" fmla="val 6481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58" name="TextBox 58"/>
              <p:cNvSpPr txBox="1"/>
              <p:nvPr/>
            </p:nvSpPr>
            <p:spPr bwMode="auto">
              <a:xfrm>
                <a:off x="9832658" y="3453289"/>
                <a:ext cx="892693" cy="2590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00" b="1">
                    <a:solidFill>
                      <a:srgbClr val="D04A02"/>
                    </a:solidFill>
                    <a:latin typeface="Arial"/>
                    <a:ea typeface="Microsoft YaHei"/>
                    <a:cs typeface="Arial"/>
                  </a:rPr>
                  <a:t>Фиксация</a:t>
                </a:r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 bwMode="auto">
              <a:xfrm>
                <a:off x="9835515" y="3830002"/>
                <a:ext cx="100045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release_cv03</a:t>
                </a:r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 bwMode="auto">
              <a:xfrm>
                <a:off x="9835515" y="4058602"/>
                <a:ext cx="65541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rc1.yaml</a:t>
                </a:r>
                <a:endParaRPr/>
              </a:p>
            </p:txBody>
          </p:sp>
          <p:sp>
            <p:nvSpPr>
              <p:cNvPr id="61" name="TextBox 61"/>
              <p:cNvSpPr txBox="1"/>
              <p:nvPr/>
            </p:nvSpPr>
            <p:spPr bwMode="auto">
              <a:xfrm>
                <a:off x="9835515" y="4287202"/>
                <a:ext cx="126115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checkpoint + CSV</a:t>
                </a:r>
                <a:endParaRPr/>
              </a:p>
            </p:txBody>
          </p:sp>
          <p:sp>
            <p:nvSpPr>
              <p:cNvPr id="62" name="Rectangle 62"/>
              <p:cNvSpPr/>
              <p:nvPr/>
            </p:nvSpPr>
            <p:spPr bwMode="auto">
              <a:xfrm>
                <a:off x="9848850" y="4762500"/>
                <a:ext cx="14287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63" name="TextBox 63"/>
              <p:cNvSpPr txBox="1"/>
              <p:nvPr/>
            </p:nvSpPr>
            <p:spPr bwMode="auto">
              <a:xfrm>
                <a:off x="10114740" y="4865370"/>
                <a:ext cx="896969" cy="1828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900">
                    <a:solidFill>
                      <a:srgbClr val="D04A02"/>
                    </a:solidFill>
                    <a:latin typeface="Consolas"/>
                    <a:ea typeface="Microsoft YaHei"/>
                    <a:cs typeface="Consolas"/>
                  </a:rPr>
                  <a:t>release ready</a:t>
                </a:r>
                <a:endParaRPr/>
              </a:p>
            </p:txBody>
          </p:sp>
        </p:grpSp>
      </p:grpSp>
      <p:grpSp>
        <p:nvGrpSpPr>
          <p:cNvPr id="68" name="Group 68"/>
          <p:cNvGrpSpPr/>
          <p:nvPr/>
        </p:nvGrpSpPr>
        <p:grpSpPr bwMode="auto">
          <a:xfrm>
            <a:off x="533400" y="5600700"/>
            <a:ext cx="11125200" cy="323850"/>
            <a:chOff x="533400" y="5600700"/>
            <a:chExt cx="11125200" cy="323850"/>
          </a:xfrm>
        </p:grpSpPr>
        <p:sp>
          <p:nvSpPr>
            <p:cNvPr id="66" name="Rectangle 66"/>
            <p:cNvSpPr/>
            <p:nvPr/>
          </p:nvSpPr>
          <p:spPr bwMode="auto">
            <a:xfrm>
              <a:off x="533400" y="5600700"/>
              <a:ext cx="11125200" cy="323850"/>
            </a:xfrm>
            <a:prstGeom prst="roundRect">
              <a:avLst>
                <a:gd name="adj" fmla="val 50000"/>
              </a:avLst>
            </a:prstGeom>
            <a:solidFill>
              <a:srgbClr val="EAF3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 bwMode="auto">
            <a:xfrm>
              <a:off x="2028983" y="5706428"/>
              <a:ext cx="81340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050" b="1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Итоговый research-кандидат: ConvNeXt XL, 512×512, Focal Loss, balanced sampler, AMP, early stopping</a:t>
              </a:r>
              <a:endParaRPr/>
            </a:p>
          </p:txBody>
        </p:sp>
      </p:grpSp>
      <p:sp>
        <p:nvSpPr>
          <p:cNvPr id="70" name="TextBox 70"/>
          <p:cNvSpPr txBox="1"/>
          <p:nvPr/>
        </p:nvSpPr>
        <p:spPr bwMode="auto">
          <a:xfrm rot="0" flipH="0" flipV="0">
            <a:off x="11797522" y="13118782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07 /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 bwMode="auto">
            <a:xfrm flipH="0" flipV="0">
              <a:off x="3143250" y="571500"/>
              <a:ext cx="6335750" cy="6111875"/>
            </a:xfrm>
            <a:prstGeom prst="ellipse">
              <a:avLst/>
            </a:prstGeom>
            <a:gradFill>
              <a:gsLst>
                <a:gs pos="0">
                  <a:srgbClr val="00A6D6">
                    <a:alpha val="16000"/>
                  </a:srgbClr>
                </a:gs>
                <a:gs pos="100000">
                  <a:srgbClr val="00A6D6">
                    <a:alpha val="0"/>
                  </a:srgbClr>
                </a:gs>
              </a:gsLst>
              <a:path path="circle"/>
            </a:gra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 bwMode="auto">
          <a:xfrm rot="0" flipH="0" flipV="0">
            <a:off x="501014" y="277178"/>
            <a:ext cx="11369444" cy="3889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Macro F1 ≈ 0.7934 показывает, что качество не маскируется частыми классами</a:t>
            </a:r>
            <a:endParaRPr/>
          </a:p>
        </p:txBody>
      </p:sp>
      <p:sp>
        <p:nvSpPr>
          <p:cNvPr id="29" name="TextBox 29"/>
          <p:cNvSpPr txBox="1"/>
          <p:nvPr/>
        </p:nvSpPr>
        <p:spPr bwMode="auto">
          <a:xfrm rot="0" flipH="0" flipV="0">
            <a:off x="11797522" y="13118782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08 / 13</a:t>
            </a:r>
            <a:endParaRPr/>
          </a:p>
        </p:txBody>
      </p:sp>
      <p:grpSp>
        <p:nvGrpSpPr>
          <p:cNvPr id="1385990629" name="Group 22"/>
          <p:cNvGrpSpPr/>
          <p:nvPr/>
        </p:nvGrpSpPr>
        <p:grpSpPr bwMode="auto">
          <a:xfrm flipH="0" flipV="0">
            <a:off x="3927788" y="1158874"/>
            <a:ext cx="5076040" cy="3860799"/>
            <a:chOff x="0" y="0"/>
            <a:chExt cx="5076040" cy="3860799"/>
          </a:xfrm>
        </p:grpSpPr>
        <p:sp>
          <p:nvSpPr>
            <p:cNvPr id="1149050279" name="Freeform 10"/>
            <p:cNvSpPr/>
            <p:nvPr/>
          </p:nvSpPr>
          <p:spPr bwMode="auto">
            <a:xfrm>
              <a:off x="152604" y="477163"/>
              <a:ext cx="4790670" cy="2549641"/>
            </a:xfrm>
            <a:custGeom>
              <a:avLst/>
              <a:gdLst/>
              <a:ahLst/>
              <a:cxnLst/>
              <a:rect l="l" t="t" r="r" b="b"/>
              <a:pathLst>
                <a:path w="4076700" h="2038350" fill="norm" stroke="1" extrusionOk="0">
                  <a:moveTo>
                    <a:pt x="0" y="2038350"/>
                  </a:moveTo>
                  <a:cubicBezTo>
                    <a:pt x="0" y="912600"/>
                    <a:pt x="912600" y="0"/>
                    <a:pt x="2038350" y="0"/>
                  </a:cubicBezTo>
                  <a:cubicBezTo>
                    <a:pt x="3164100" y="0"/>
                    <a:pt x="4076700" y="912600"/>
                    <a:pt x="4076700" y="2038350"/>
                  </a:cubicBezTo>
                </a:path>
              </a:pathLst>
            </a:custGeom>
            <a:noFill/>
            <a:ln w="323850" cap="rnd">
              <a:solidFill>
                <a:srgbClr val="D8E1EA"/>
              </a:solidFill>
            </a:ln>
          </p:spPr>
        </p:sp>
        <p:sp>
          <p:nvSpPr>
            <p:cNvPr id="665749020" name="Freeform 11"/>
            <p:cNvSpPr/>
            <p:nvPr/>
          </p:nvSpPr>
          <p:spPr bwMode="auto">
            <a:xfrm>
              <a:off x="152604" y="295803"/>
              <a:ext cx="4309364" cy="2731001"/>
            </a:xfrm>
            <a:custGeom>
              <a:avLst/>
              <a:gdLst/>
              <a:ahLst/>
              <a:cxnLst/>
              <a:rect l="l" t="t" r="r" b="b"/>
              <a:pathLst>
                <a:path w="3667125" h="2183341" fill="norm" stroke="1" extrusionOk="0">
                  <a:moveTo>
                    <a:pt x="0" y="2183341"/>
                  </a:moveTo>
                  <a:cubicBezTo>
                    <a:pt x="10778" y="1311209"/>
                    <a:pt x="575253" y="542576"/>
                    <a:pt x="1404188" y="271288"/>
                  </a:cubicBezTo>
                  <a:cubicBezTo>
                    <a:pt x="2233123" y="0"/>
                    <a:pt x="3142809" y="286180"/>
                    <a:pt x="3667125" y="983191"/>
                  </a:cubicBezTo>
                </a:path>
              </a:pathLst>
            </a:custGeom>
            <a:noFill/>
            <a:ln w="323850" cap="rnd">
              <a:gradFill>
                <a:gsLst>
                  <a:gs pos="0">
                    <a:srgbClr val="1565C0"/>
                  </a:gs>
                  <a:gs pos="100000">
                    <a:srgbClr val="2E7D32"/>
                  </a:gs>
                </a:gsLst>
                <a:lin ang="0" scaled="1"/>
              </a:gradFill>
            </a:ln>
          </p:spPr>
        </p:sp>
        <p:sp>
          <p:nvSpPr>
            <p:cNvPr id="21564761" name="Line 12"/>
            <p:cNvSpPr/>
            <p:nvPr/>
          </p:nvSpPr>
          <p:spPr bwMode="auto">
            <a:xfrm>
              <a:off x="152604" y="3026805"/>
              <a:ext cx="291022" cy="11914"/>
            </a:xfrm>
            <a:custGeom>
              <a:avLst/>
              <a:gdLst/>
              <a:ahLst/>
              <a:cxnLst/>
              <a:rect l="l" t="t" r="r" b="b"/>
              <a:pathLst>
                <a:path w="247650" h="9525" fill="norm" stroke="1" extrusionOk="0">
                  <a:moveTo>
                    <a:pt x="0" y="0"/>
                  </a:moveTo>
                  <a:lnTo>
                    <a:pt x="247650" y="0"/>
                  </a:lnTo>
                </a:path>
              </a:pathLst>
            </a:custGeom>
            <a:noFill/>
            <a:ln w="28575">
              <a:solidFill>
                <a:srgbClr val="94A3B8"/>
              </a:solidFill>
            </a:ln>
          </p:spPr>
        </p:sp>
        <p:sp>
          <p:nvSpPr>
            <p:cNvPr id="6069185" name="Line 13"/>
            <p:cNvSpPr/>
            <p:nvPr/>
          </p:nvSpPr>
          <p:spPr bwMode="auto">
            <a:xfrm>
              <a:off x="2547939" y="247815"/>
              <a:ext cx="11193" cy="309769"/>
            </a:xfrm>
            <a:custGeom>
              <a:avLst/>
              <a:gdLst/>
              <a:ahLst/>
              <a:cxnLst/>
              <a:rect l="l" t="t" r="r" b="b"/>
              <a:pathLst>
                <a:path w="9525" h="247650" fill="norm" stroke="1" extrusionOk="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28575">
              <a:solidFill>
                <a:srgbClr val="94A3B8"/>
              </a:solidFill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812768818" name="Line 14"/>
            <p:cNvSpPr/>
            <p:nvPr/>
          </p:nvSpPr>
          <p:spPr bwMode="auto">
            <a:xfrm>
              <a:off x="4652252" y="3026805"/>
              <a:ext cx="291022" cy="11914"/>
            </a:xfrm>
            <a:custGeom>
              <a:avLst/>
              <a:gdLst/>
              <a:ahLst/>
              <a:cxnLst/>
              <a:rect l="l" t="t" r="r" b="b"/>
              <a:pathLst>
                <a:path w="247650" h="9525" fill="norm" stroke="1" extrusionOk="0">
                  <a:moveTo>
                    <a:pt x="247650" y="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94A3B8"/>
              </a:solidFill>
            </a:ln>
          </p:spPr>
        </p:sp>
        <p:sp>
          <p:nvSpPr>
            <p:cNvPr id="1984980638" name="TextBox 15"/>
            <p:cNvSpPr txBox="1"/>
            <p:nvPr/>
          </p:nvSpPr>
          <p:spPr bwMode="auto">
            <a:xfrm>
              <a:off x="0" y="3419378"/>
              <a:ext cx="306287" cy="1527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00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0.0</a:t>
              </a:r>
              <a:endParaRPr/>
            </a:p>
          </p:txBody>
        </p:sp>
        <p:sp>
          <p:nvSpPr>
            <p:cNvPr id="504608305" name="TextBox 16"/>
            <p:cNvSpPr txBox="1"/>
            <p:nvPr/>
          </p:nvSpPr>
          <p:spPr bwMode="auto">
            <a:xfrm>
              <a:off x="2395335" y="0"/>
              <a:ext cx="306287" cy="1527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00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0.5</a:t>
              </a:r>
              <a:endParaRPr/>
            </a:p>
          </p:txBody>
        </p:sp>
        <p:sp>
          <p:nvSpPr>
            <p:cNvPr id="810628759" name="TextBox 17"/>
            <p:cNvSpPr txBox="1"/>
            <p:nvPr/>
          </p:nvSpPr>
          <p:spPr bwMode="auto">
            <a:xfrm>
              <a:off x="4811586" y="3419378"/>
              <a:ext cx="264454" cy="1527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00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1.0</a:t>
              </a:r>
              <a:endParaRPr/>
            </a:p>
          </p:txBody>
        </p:sp>
        <p:sp>
          <p:nvSpPr>
            <p:cNvPr id="417019823" name="TextBox 18"/>
            <p:cNvSpPr txBox="1"/>
            <p:nvPr/>
          </p:nvSpPr>
          <p:spPr bwMode="auto">
            <a:xfrm>
              <a:off x="627477" y="1743645"/>
              <a:ext cx="3842005" cy="9376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6150" b="1">
                  <a:solidFill>
                    <a:srgbClr val="0F2A44"/>
                  </a:solidFill>
                  <a:latin typeface="Georgia"/>
                  <a:ea typeface="SimSun"/>
                  <a:cs typeface="Georgia"/>
                </a:rPr>
                <a:t>0.7934</a:t>
              </a:r>
              <a:endParaRPr/>
            </a:p>
          </p:txBody>
        </p:sp>
        <p:sp>
          <p:nvSpPr>
            <p:cNvPr id="1895019480" name="TextBox 19"/>
            <p:cNvSpPr txBox="1"/>
            <p:nvPr/>
          </p:nvSpPr>
          <p:spPr bwMode="auto">
            <a:xfrm>
              <a:off x="1123316" y="2841538"/>
              <a:ext cx="2850325" cy="2670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750" b="1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final OOF Macro F1</a:t>
              </a:r>
              <a:endParaRPr/>
            </a:p>
          </p:txBody>
        </p:sp>
        <p:sp>
          <p:nvSpPr>
            <p:cNvPr id="157533982" name="Rectangle 20"/>
            <p:cNvSpPr/>
            <p:nvPr/>
          </p:nvSpPr>
          <p:spPr bwMode="auto">
            <a:xfrm>
              <a:off x="1227146" y="3408059"/>
              <a:ext cx="2641584" cy="452740"/>
            </a:xfrm>
            <a:prstGeom prst="roundRect">
              <a:avLst>
                <a:gd name="adj" fmla="val 50000"/>
              </a:avLst>
            </a:prstGeom>
            <a:solidFill>
              <a:srgbClr val="EAF7EE"/>
            </a:solidFill>
            <a:ln>
              <a:noFill/>
            </a:ln>
          </p:spPr>
        </p:sp>
        <p:sp>
          <p:nvSpPr>
            <p:cNvPr id="899376621" name="TextBox 21"/>
            <p:cNvSpPr txBox="1"/>
            <p:nvPr/>
          </p:nvSpPr>
          <p:spPr bwMode="auto">
            <a:xfrm>
              <a:off x="1380623" y="3542093"/>
              <a:ext cx="2335713" cy="1756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defRPr/>
              </a:pPr>
              <a:r>
                <a:rPr lang="zh-CN" sz="1150" b="1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редкие классы в фокусе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7" name="Group 97"/>
          <p:cNvGrpSpPr/>
          <p:nvPr/>
        </p:nvGrpSpPr>
        <p:grpSpPr bwMode="auto">
          <a:xfrm flipH="0" flipV="0">
            <a:off x="461723" y="1466850"/>
            <a:ext cx="11485295" cy="4765221"/>
            <a:chOff x="0" y="0"/>
            <a:chExt cx="11485295" cy="4765221"/>
          </a:xfrm>
        </p:grpSpPr>
        <p:grpSp>
          <p:nvGrpSpPr>
            <p:cNvPr id="73" name="Group 73"/>
            <p:cNvGrpSpPr/>
            <p:nvPr/>
          </p:nvGrpSpPr>
          <p:grpSpPr bwMode="auto">
            <a:xfrm flipH="0" flipV="0">
              <a:off x="0" y="0"/>
              <a:ext cx="6247939" cy="4765221"/>
              <a:chOff x="0" y="0"/>
              <a:chExt cx="6247939" cy="4765221"/>
            </a:xfrm>
          </p:grpSpPr>
          <p:sp>
            <p:nvSpPr>
              <p:cNvPr id="9" name="Rectangle 9"/>
              <p:cNvSpPr/>
              <p:nvPr/>
            </p:nvSpPr>
            <p:spPr bwMode="auto">
              <a:xfrm>
                <a:off x="67404" y="0"/>
                <a:ext cx="6180535" cy="4765221"/>
              </a:xfrm>
              <a:prstGeom prst="roundRect">
                <a:avLst>
                  <a:gd name="adj" fmla="val 386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0" name="TextBox 10"/>
              <p:cNvSpPr txBox="1"/>
              <p:nvPr/>
            </p:nvSpPr>
            <p:spPr bwMode="auto">
              <a:xfrm>
                <a:off x="318208" y="235193"/>
                <a:ext cx="3800135" cy="22895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5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Зоны визуальной похожести классов</a:t>
                </a:r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 bwMode="auto">
              <a:xfrm>
                <a:off x="323582" y="553215"/>
                <a:ext cx="4618608" cy="16037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Интенсивность — где модель чаще нуждается в top-k и модераторе</a:t>
                </a:r>
                <a:endParaRPr/>
              </a:p>
            </p:txBody>
          </p:sp>
          <p:grpSp>
            <p:nvGrpSpPr>
              <p:cNvPr id="72" name="Group 72"/>
              <p:cNvGrpSpPr/>
              <p:nvPr/>
            </p:nvGrpSpPr>
            <p:grpSpPr bwMode="auto">
              <a:xfrm flipH="0" flipV="0">
                <a:off x="0" y="1052746"/>
                <a:ext cx="5388039" cy="3252314"/>
                <a:chOff x="0" y="0"/>
                <a:chExt cx="5388039" cy="3252314"/>
              </a:xfrm>
            </p:grpSpPr>
            <p:sp>
              <p:nvSpPr>
                <p:cNvPr id="12" name="TextBox 12"/>
                <p:cNvSpPr txBox="1"/>
                <p:nvPr/>
              </p:nvSpPr>
              <p:spPr bwMode="auto">
                <a:xfrm>
                  <a:off x="1132617" y="0"/>
                  <a:ext cx="539208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спальня</a:t>
                  </a:r>
                  <a:endParaRPr/>
                </a:p>
              </p:txBody>
            </p:sp>
            <p:sp>
              <p:nvSpPr>
                <p:cNvPr id="13" name="TextBox 13"/>
                <p:cNvSpPr txBox="1"/>
                <p:nvPr/>
              </p:nvSpPr>
              <p:spPr bwMode="auto">
                <a:xfrm>
                  <a:off x="1991521" y="0"/>
                  <a:ext cx="612859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гостиная</a:t>
                  </a:r>
                  <a:endParaRPr/>
                </a:p>
              </p:txBody>
            </p:sp>
            <p:sp>
              <p:nvSpPr>
                <p:cNvPr id="14" name="TextBox 14"/>
                <p:cNvSpPr txBox="1"/>
                <p:nvPr/>
              </p:nvSpPr>
              <p:spPr bwMode="auto">
                <a:xfrm>
                  <a:off x="2887250" y="0"/>
                  <a:ext cx="612859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универс.</a:t>
                  </a:r>
                  <a:endParaRPr/>
                </a:p>
              </p:txBody>
            </p:sp>
            <p:sp>
              <p:nvSpPr>
                <p:cNvPr id="15" name="TextBox 15"/>
                <p:cNvSpPr txBox="1"/>
                <p:nvPr/>
              </p:nvSpPr>
              <p:spPr bwMode="auto">
                <a:xfrm>
                  <a:off x="3709329" y="0"/>
                  <a:ext cx="760162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кух.-гост.</a:t>
                  </a:r>
                  <a:endParaRPr/>
                </a:p>
              </p:txBody>
            </p:sp>
            <p:sp>
              <p:nvSpPr>
                <p:cNvPr id="16" name="TextBox 16"/>
                <p:cNvSpPr txBox="1"/>
                <p:nvPr/>
              </p:nvSpPr>
              <p:spPr bwMode="auto">
                <a:xfrm>
                  <a:off x="4715536" y="0"/>
                  <a:ext cx="539208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санузел</a:t>
                  </a:r>
                  <a:endParaRPr/>
                </a:p>
              </p:txBody>
            </p:sp>
            <p:sp>
              <p:nvSpPr>
                <p:cNvPr id="17" name="TextBox 17"/>
                <p:cNvSpPr txBox="1"/>
                <p:nvPr/>
              </p:nvSpPr>
              <p:spPr bwMode="auto">
                <a:xfrm>
                  <a:off x="220954" y="521515"/>
                  <a:ext cx="539208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спальня</a:t>
                  </a:r>
                  <a:endParaRPr/>
                </a:p>
              </p:txBody>
            </p:sp>
            <p:sp>
              <p:nvSpPr>
                <p:cNvPr id="18" name="TextBox 18"/>
                <p:cNvSpPr txBox="1"/>
                <p:nvPr/>
              </p:nvSpPr>
              <p:spPr bwMode="auto">
                <a:xfrm>
                  <a:off x="147303" y="1135063"/>
                  <a:ext cx="612859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гостиная</a:t>
                  </a:r>
                  <a:endParaRPr/>
                </a:p>
              </p:txBody>
            </p:sp>
            <p:sp>
              <p:nvSpPr>
                <p:cNvPr id="19" name="TextBox 19"/>
                <p:cNvSpPr txBox="1"/>
                <p:nvPr/>
              </p:nvSpPr>
              <p:spPr bwMode="auto">
                <a:xfrm>
                  <a:off x="147303" y="1748611"/>
                  <a:ext cx="612859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универс.</a:t>
                  </a:r>
                  <a:endParaRPr/>
                </a:p>
              </p:txBody>
            </p:sp>
            <p:sp>
              <p:nvSpPr>
                <p:cNvPr id="20" name="TextBox 20"/>
                <p:cNvSpPr txBox="1"/>
                <p:nvPr/>
              </p:nvSpPr>
              <p:spPr bwMode="auto">
                <a:xfrm>
                  <a:off x="0" y="2362159"/>
                  <a:ext cx="760162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кух.-гост.</a:t>
                  </a:r>
                  <a:endParaRPr/>
                </a:p>
              </p:txBody>
            </p:sp>
            <p:sp>
              <p:nvSpPr>
                <p:cNvPr id="21" name="TextBox 21"/>
                <p:cNvSpPr txBox="1"/>
                <p:nvPr/>
              </p:nvSpPr>
              <p:spPr bwMode="auto">
                <a:xfrm>
                  <a:off x="220954" y="2975706"/>
                  <a:ext cx="539208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r">
                    <a:defRPr/>
                  </a:pPr>
                  <a:r>
                    <a:rPr lang="zh-CN" sz="100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санузел</a:t>
                  </a:r>
                  <a:endParaRPr/>
                </a:p>
              </p:txBody>
            </p:sp>
            <p:sp>
              <p:nvSpPr>
                <p:cNvPr id="22" name="Rectangle 22"/>
                <p:cNvSpPr/>
                <p:nvPr/>
              </p:nvSpPr>
              <p:spPr bwMode="auto">
                <a:xfrm>
                  <a:off x="998963" y="286833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7EE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3" name="TextBox 23"/>
                <p:cNvSpPr txBox="1"/>
                <p:nvPr/>
              </p:nvSpPr>
              <p:spPr bwMode="auto">
                <a:xfrm>
                  <a:off x="1206268" y="490838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2E7D32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24" name="Rectangle 24"/>
                <p:cNvSpPr/>
                <p:nvPr/>
              </p:nvSpPr>
              <p:spPr bwMode="auto">
                <a:xfrm>
                  <a:off x="1894692" y="286833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FE1D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5" name="TextBox 25"/>
                <p:cNvSpPr txBox="1"/>
                <p:nvPr/>
              </p:nvSpPr>
              <p:spPr bwMode="auto">
                <a:xfrm>
                  <a:off x="2138824" y="490838"/>
                  <a:ext cx="318254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выс.</a:t>
                  </a:r>
                  <a:endParaRPr/>
                </a:p>
              </p:txBody>
            </p:sp>
            <p:sp>
              <p:nvSpPr>
                <p:cNvPr id="26" name="Rectangle 26"/>
                <p:cNvSpPr/>
                <p:nvPr/>
              </p:nvSpPr>
              <p:spPr bwMode="auto">
                <a:xfrm>
                  <a:off x="2790422" y="286833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FE1D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7" name="TextBox 27"/>
                <p:cNvSpPr txBox="1"/>
                <p:nvPr/>
              </p:nvSpPr>
              <p:spPr bwMode="auto">
                <a:xfrm>
                  <a:off x="3034553" y="490838"/>
                  <a:ext cx="318254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выс.</a:t>
                  </a:r>
                  <a:endParaRPr/>
                </a:p>
              </p:txBody>
            </p:sp>
            <p:sp>
              <p:nvSpPr>
                <p:cNvPr id="28" name="Rectangle 28"/>
                <p:cNvSpPr/>
                <p:nvPr/>
              </p:nvSpPr>
              <p:spPr bwMode="auto">
                <a:xfrm>
                  <a:off x="3686152" y="286833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BEBD6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9" name="TextBox 29"/>
                <p:cNvSpPr txBox="1"/>
                <p:nvPr/>
              </p:nvSpPr>
              <p:spPr bwMode="auto">
                <a:xfrm>
                  <a:off x="3893457" y="490838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сред.</a:t>
                  </a:r>
                  <a:endParaRPr/>
                </a:p>
              </p:txBody>
            </p:sp>
            <p:sp>
              <p:nvSpPr>
                <p:cNvPr id="30" name="Rectangle 30"/>
                <p:cNvSpPr/>
                <p:nvPr/>
              </p:nvSpPr>
              <p:spPr bwMode="auto">
                <a:xfrm>
                  <a:off x="4581882" y="286833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31" name="TextBox 31"/>
                <p:cNvSpPr txBox="1"/>
                <p:nvPr/>
              </p:nvSpPr>
              <p:spPr bwMode="auto">
                <a:xfrm>
                  <a:off x="4789187" y="490838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32" name="Rectangle 32"/>
                <p:cNvSpPr/>
                <p:nvPr/>
              </p:nvSpPr>
              <p:spPr bwMode="auto">
                <a:xfrm>
                  <a:off x="998963" y="900381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FE1D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33" name="TextBox 33"/>
                <p:cNvSpPr txBox="1"/>
                <p:nvPr/>
              </p:nvSpPr>
              <p:spPr bwMode="auto">
                <a:xfrm>
                  <a:off x="1243094" y="1104386"/>
                  <a:ext cx="318254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выс.</a:t>
                  </a:r>
                  <a:endParaRPr/>
                </a:p>
              </p:txBody>
            </p:sp>
            <p:sp>
              <p:nvSpPr>
                <p:cNvPr id="34" name="Rectangle 34"/>
                <p:cNvSpPr/>
                <p:nvPr/>
              </p:nvSpPr>
              <p:spPr bwMode="auto">
                <a:xfrm>
                  <a:off x="1894692" y="900381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7EE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35" name="TextBox 35"/>
                <p:cNvSpPr txBox="1"/>
                <p:nvPr/>
              </p:nvSpPr>
              <p:spPr bwMode="auto">
                <a:xfrm>
                  <a:off x="2101998" y="1104386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2E7D32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36" name="Rectangle 36"/>
                <p:cNvSpPr/>
                <p:nvPr/>
              </p:nvSpPr>
              <p:spPr bwMode="auto">
                <a:xfrm>
                  <a:off x="2790422" y="900381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FE1D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37" name="TextBox 37"/>
                <p:cNvSpPr txBox="1"/>
                <p:nvPr/>
              </p:nvSpPr>
              <p:spPr bwMode="auto">
                <a:xfrm>
                  <a:off x="3034553" y="1104386"/>
                  <a:ext cx="318254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выс.</a:t>
                  </a:r>
                  <a:endParaRPr/>
                </a:p>
              </p:txBody>
            </p:sp>
            <p:sp>
              <p:nvSpPr>
                <p:cNvPr id="38" name="Rectangle 38"/>
                <p:cNvSpPr/>
                <p:nvPr/>
              </p:nvSpPr>
              <p:spPr bwMode="auto">
                <a:xfrm>
                  <a:off x="3686152" y="900381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BEBD6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39" name="TextBox 39"/>
                <p:cNvSpPr txBox="1"/>
                <p:nvPr/>
              </p:nvSpPr>
              <p:spPr bwMode="auto">
                <a:xfrm>
                  <a:off x="3893457" y="1104386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сред.</a:t>
                  </a:r>
                  <a:endParaRPr/>
                </a:p>
              </p:txBody>
            </p:sp>
            <p:sp>
              <p:nvSpPr>
                <p:cNvPr id="40" name="Rectangle 40"/>
                <p:cNvSpPr/>
                <p:nvPr/>
              </p:nvSpPr>
              <p:spPr bwMode="auto">
                <a:xfrm>
                  <a:off x="4581882" y="900381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1" name="TextBox 41"/>
                <p:cNvSpPr txBox="1"/>
                <p:nvPr/>
              </p:nvSpPr>
              <p:spPr bwMode="auto">
                <a:xfrm>
                  <a:off x="4789187" y="1104386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42" name="Rectangle 42"/>
                <p:cNvSpPr/>
                <p:nvPr/>
              </p:nvSpPr>
              <p:spPr bwMode="auto">
                <a:xfrm>
                  <a:off x="998963" y="1513928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FE1D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3" name="TextBox 43"/>
                <p:cNvSpPr txBox="1"/>
                <p:nvPr/>
              </p:nvSpPr>
              <p:spPr bwMode="auto">
                <a:xfrm>
                  <a:off x="1243094" y="1717933"/>
                  <a:ext cx="318254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выс.</a:t>
                  </a:r>
                  <a:endParaRPr/>
                </a:p>
              </p:txBody>
            </p:sp>
            <p:sp>
              <p:nvSpPr>
                <p:cNvPr id="44" name="Rectangle 44"/>
                <p:cNvSpPr/>
                <p:nvPr/>
              </p:nvSpPr>
              <p:spPr bwMode="auto">
                <a:xfrm>
                  <a:off x="1894692" y="1513928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FE1D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5" name="TextBox 45"/>
                <p:cNvSpPr txBox="1"/>
                <p:nvPr/>
              </p:nvSpPr>
              <p:spPr bwMode="auto">
                <a:xfrm>
                  <a:off x="2138824" y="1717933"/>
                  <a:ext cx="318254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выс.</a:t>
                  </a:r>
                  <a:endParaRPr/>
                </a:p>
              </p:txBody>
            </p:sp>
            <p:sp>
              <p:nvSpPr>
                <p:cNvPr id="46" name="Rectangle 46"/>
                <p:cNvSpPr/>
                <p:nvPr/>
              </p:nvSpPr>
              <p:spPr bwMode="auto">
                <a:xfrm>
                  <a:off x="2790422" y="1513928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7EE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7" name="TextBox 47"/>
                <p:cNvSpPr txBox="1"/>
                <p:nvPr/>
              </p:nvSpPr>
              <p:spPr bwMode="auto">
                <a:xfrm>
                  <a:off x="2997727" y="1717933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2E7D32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48" name="Rectangle 48"/>
                <p:cNvSpPr/>
                <p:nvPr/>
              </p:nvSpPr>
              <p:spPr bwMode="auto">
                <a:xfrm>
                  <a:off x="3686152" y="1513928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BEBD6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9" name="TextBox 49"/>
                <p:cNvSpPr txBox="1"/>
                <p:nvPr/>
              </p:nvSpPr>
              <p:spPr bwMode="auto">
                <a:xfrm>
                  <a:off x="3893457" y="1717933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сред.</a:t>
                  </a:r>
                  <a:endParaRPr/>
                </a:p>
              </p:txBody>
            </p:sp>
            <p:sp>
              <p:nvSpPr>
                <p:cNvPr id="50" name="Rectangle 50"/>
                <p:cNvSpPr/>
                <p:nvPr/>
              </p:nvSpPr>
              <p:spPr bwMode="auto">
                <a:xfrm>
                  <a:off x="4581882" y="1513928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1" name="TextBox 51"/>
                <p:cNvSpPr txBox="1"/>
                <p:nvPr/>
              </p:nvSpPr>
              <p:spPr bwMode="auto">
                <a:xfrm>
                  <a:off x="4789187" y="1717933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52" name="Rectangle 52"/>
                <p:cNvSpPr/>
                <p:nvPr/>
              </p:nvSpPr>
              <p:spPr bwMode="auto">
                <a:xfrm>
                  <a:off x="998963" y="2127476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BEBD6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3" name="TextBox 53"/>
                <p:cNvSpPr txBox="1"/>
                <p:nvPr/>
              </p:nvSpPr>
              <p:spPr bwMode="auto">
                <a:xfrm>
                  <a:off x="1206268" y="2331481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сред.</a:t>
                  </a:r>
                  <a:endParaRPr/>
                </a:p>
              </p:txBody>
            </p:sp>
            <p:sp>
              <p:nvSpPr>
                <p:cNvPr id="54" name="Rectangle 54"/>
                <p:cNvSpPr/>
                <p:nvPr/>
              </p:nvSpPr>
              <p:spPr bwMode="auto">
                <a:xfrm>
                  <a:off x="1894692" y="2127476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BEBD6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5" name="TextBox 55"/>
                <p:cNvSpPr txBox="1"/>
                <p:nvPr/>
              </p:nvSpPr>
              <p:spPr bwMode="auto">
                <a:xfrm>
                  <a:off x="2101998" y="2331481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сред.</a:t>
                  </a:r>
                  <a:endParaRPr/>
                </a:p>
              </p:txBody>
            </p:sp>
            <p:sp>
              <p:nvSpPr>
                <p:cNvPr id="56" name="Rectangle 56"/>
                <p:cNvSpPr/>
                <p:nvPr/>
              </p:nvSpPr>
              <p:spPr bwMode="auto">
                <a:xfrm>
                  <a:off x="2790422" y="2127476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FBEBD6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7" name="TextBox 57"/>
                <p:cNvSpPr txBox="1"/>
                <p:nvPr/>
              </p:nvSpPr>
              <p:spPr bwMode="auto">
                <a:xfrm>
                  <a:off x="2997727" y="2331481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D04A02"/>
                      </a:solidFill>
                      <a:latin typeface="Arial"/>
                      <a:ea typeface="Microsoft YaHei"/>
                      <a:cs typeface="Arial"/>
                    </a:rPr>
                    <a:t>сред.</a:t>
                  </a:r>
                  <a:endParaRPr/>
                </a:p>
              </p:txBody>
            </p:sp>
            <p:sp>
              <p:nvSpPr>
                <p:cNvPr id="58" name="Rectangle 58"/>
                <p:cNvSpPr/>
                <p:nvPr/>
              </p:nvSpPr>
              <p:spPr bwMode="auto">
                <a:xfrm>
                  <a:off x="3686152" y="2127476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7EE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9" name="TextBox 59"/>
                <p:cNvSpPr txBox="1"/>
                <p:nvPr/>
              </p:nvSpPr>
              <p:spPr bwMode="auto">
                <a:xfrm>
                  <a:off x="3893457" y="2331481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2E7D32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60" name="Rectangle 60"/>
                <p:cNvSpPr/>
                <p:nvPr/>
              </p:nvSpPr>
              <p:spPr bwMode="auto">
                <a:xfrm>
                  <a:off x="4581882" y="2127476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61" name="TextBox 61"/>
                <p:cNvSpPr txBox="1"/>
                <p:nvPr/>
              </p:nvSpPr>
              <p:spPr bwMode="auto">
                <a:xfrm>
                  <a:off x="4789187" y="2331481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62" name="Rectangle 62"/>
                <p:cNvSpPr/>
                <p:nvPr/>
              </p:nvSpPr>
              <p:spPr bwMode="auto">
                <a:xfrm>
                  <a:off x="998963" y="2741024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63" name="TextBox 63"/>
                <p:cNvSpPr txBox="1"/>
                <p:nvPr/>
              </p:nvSpPr>
              <p:spPr bwMode="auto">
                <a:xfrm>
                  <a:off x="1206268" y="2945029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64" name="Rectangle 64"/>
                <p:cNvSpPr/>
                <p:nvPr/>
              </p:nvSpPr>
              <p:spPr bwMode="auto">
                <a:xfrm>
                  <a:off x="1894692" y="2741024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65" name="TextBox 65"/>
                <p:cNvSpPr txBox="1"/>
                <p:nvPr/>
              </p:nvSpPr>
              <p:spPr bwMode="auto">
                <a:xfrm>
                  <a:off x="2101998" y="2945029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66" name="Rectangle 66"/>
                <p:cNvSpPr/>
                <p:nvPr/>
              </p:nvSpPr>
              <p:spPr bwMode="auto">
                <a:xfrm>
                  <a:off x="2790422" y="2741024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67" name="TextBox 67"/>
                <p:cNvSpPr txBox="1"/>
                <p:nvPr/>
              </p:nvSpPr>
              <p:spPr bwMode="auto">
                <a:xfrm>
                  <a:off x="2997727" y="2945029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68" name="Rectangle 68"/>
                <p:cNvSpPr/>
                <p:nvPr/>
              </p:nvSpPr>
              <p:spPr bwMode="auto">
                <a:xfrm>
                  <a:off x="3686152" y="2741024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3FB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69" name="TextBox 69"/>
                <p:cNvSpPr txBox="1"/>
                <p:nvPr/>
              </p:nvSpPr>
              <p:spPr bwMode="auto">
                <a:xfrm>
                  <a:off x="3893457" y="2945029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1565C0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  <p:sp>
              <p:nvSpPr>
                <p:cNvPr id="70" name="Rectangle 70"/>
                <p:cNvSpPr/>
                <p:nvPr/>
              </p:nvSpPr>
              <p:spPr bwMode="auto">
                <a:xfrm>
                  <a:off x="4581882" y="2741024"/>
                  <a:ext cx="806156" cy="511289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AF7EE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71" name="TextBox 71"/>
                <p:cNvSpPr txBox="1"/>
                <p:nvPr/>
              </p:nvSpPr>
              <p:spPr bwMode="auto">
                <a:xfrm>
                  <a:off x="4789187" y="2945029"/>
                  <a:ext cx="391906" cy="15275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00">
                      <a:solidFill>
                        <a:srgbClr val="2E7D32"/>
                      </a:solidFill>
                      <a:latin typeface="Arial"/>
                      <a:ea typeface="Microsoft YaHei"/>
                      <a:cs typeface="Arial"/>
                    </a:rPr>
                    <a:t>низк.</a:t>
                  </a:r>
                  <a:endParaRPr/>
                </a:p>
              </p:txBody>
            </p:sp>
          </p:grpSp>
        </p:grpSp>
        <p:grpSp>
          <p:nvGrpSpPr>
            <p:cNvPr id="96" name="Group 96"/>
            <p:cNvGrpSpPr/>
            <p:nvPr/>
          </p:nvGrpSpPr>
          <p:grpSpPr bwMode="auto">
            <a:xfrm flipH="0" flipV="0">
              <a:off x="6570402" y="0"/>
              <a:ext cx="4914893" cy="4765221"/>
              <a:chOff x="0" y="0"/>
              <a:chExt cx="4914893" cy="4765221"/>
            </a:xfrm>
          </p:grpSpPr>
          <p:sp>
            <p:nvSpPr>
              <p:cNvPr id="74" name="Rectangle 74"/>
              <p:cNvSpPr/>
              <p:nvPr/>
            </p:nvSpPr>
            <p:spPr bwMode="auto">
              <a:xfrm flipH="0" flipV="0">
                <a:off x="0" y="0"/>
                <a:ext cx="4739444" cy="4765221"/>
              </a:xfrm>
              <a:prstGeom prst="roundRect">
                <a:avLst>
                  <a:gd name="adj" fmla="val 4072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/>
              <a:p>
                <a:pPr>
                  <a:defRPr/>
                </a:pPr>
                <a:endParaRPr/>
              </a:p>
            </p:txBody>
          </p:sp>
          <p:sp>
            <p:nvSpPr>
              <p:cNvPr id="75" name="TextBox 75"/>
              <p:cNvSpPr txBox="1"/>
              <p:nvPr/>
            </p:nvSpPr>
            <p:spPr bwMode="auto">
              <a:xfrm>
                <a:off x="304548" y="235193"/>
                <a:ext cx="2134481" cy="22895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50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Что делаем с риском</a:t>
                </a:r>
                <a:endParaRPr/>
              </a:p>
            </p:txBody>
          </p:sp>
          <p:grpSp>
            <p:nvGrpSpPr>
              <p:cNvPr id="81" name="Group 81"/>
              <p:cNvGrpSpPr/>
              <p:nvPr/>
            </p:nvGrpSpPr>
            <p:grpSpPr bwMode="auto">
              <a:xfrm flipH="0" flipV="0">
                <a:off x="336919" y="877278"/>
                <a:ext cx="4577973" cy="517767"/>
                <a:chOff x="0" y="0"/>
                <a:chExt cx="4577973" cy="517767"/>
              </a:xfrm>
            </p:grpSpPr>
            <p:grpSp>
              <p:nvGrpSpPr>
                <p:cNvPr id="78" name="Group 78"/>
                <p:cNvGrpSpPr/>
                <p:nvPr/>
              </p:nvGrpSpPr>
              <p:grpSpPr bwMode="auto">
                <a:xfrm flipH="0" flipV="0">
                  <a:off x="0" y="0"/>
                  <a:ext cx="259708" cy="294434"/>
                  <a:chOff x="0" y="0"/>
                  <a:chExt cx="259708" cy="294434"/>
                </a:xfrm>
              </p:grpSpPr>
              <p:sp>
                <p:nvSpPr>
                  <p:cNvPr id="76" name="Freeform 76"/>
                  <p:cNvSpPr/>
                  <p:nvPr/>
                </p:nvSpPr>
                <p:spPr bwMode="auto">
                  <a:xfrm>
                    <a:off x="75116" y="83946"/>
                    <a:ext cx="107487" cy="1227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300" h="114300" fill="norm" stroke="1" extrusionOk="0">
                        <a:moveTo>
                          <a:pt x="114300" y="57150"/>
                        </a:moveTo>
                        <a:cubicBezTo>
                          <a:pt x="114300" y="88713"/>
                          <a:pt x="88713" y="114300"/>
                          <a:pt x="57150" y="114300"/>
                        </a:cubicBezTo>
                        <a:cubicBezTo>
                          <a:pt x="25587" y="114300"/>
                          <a:pt x="0" y="88713"/>
                          <a:pt x="0" y="57150"/>
                        </a:cubicBezTo>
                        <a:cubicBezTo>
                          <a:pt x="0" y="25587"/>
                          <a:pt x="25587" y="0"/>
                          <a:pt x="57150" y="0"/>
                        </a:cubicBezTo>
                        <a:cubicBezTo>
                          <a:pt x="88713" y="0"/>
                          <a:pt x="114300" y="25587"/>
                          <a:pt x="114300" y="57150"/>
                        </a:cubicBezTo>
                        <a:close/>
                      </a:path>
                    </a:pathLst>
                  </a:custGeom>
                  <a:solidFill>
                    <a:srgbClr val="1565C0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77" name="Freeform 77"/>
                  <p:cNvSpPr/>
                  <p:nvPr/>
                </p:nvSpPr>
                <p:spPr bwMode="auto">
                  <a:xfrm>
                    <a:off x="0" y="0"/>
                    <a:ext cx="259708" cy="29443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6168" h="274256" fill="norm" stroke="1" extrusionOk="0">
                        <a:moveTo>
                          <a:pt x="248791" y="81955"/>
                        </a:moveTo>
                        <a:cubicBezTo>
                          <a:pt x="276168" y="139212"/>
                          <a:pt x="255871" y="207897"/>
                          <a:pt x="201770" y="241076"/>
                        </a:cubicBezTo>
                        <a:cubicBezTo>
                          <a:pt x="147670" y="274256"/>
                          <a:pt x="77247" y="261209"/>
                          <a:pt x="38624" y="210851"/>
                        </a:cubicBezTo>
                        <a:cubicBezTo>
                          <a:pt x="0" y="160493"/>
                          <a:pt x="5656" y="89095"/>
                          <a:pt x="51726" y="45446"/>
                        </a:cubicBezTo>
                        <a:cubicBezTo>
                          <a:pt x="97797" y="1797"/>
                          <a:pt x="169395" y="0"/>
                          <a:pt x="217597" y="41283"/>
                        </a:cubicBezTo>
                        <a:lnTo>
                          <a:pt x="244588" y="14280"/>
                        </a:lnTo>
                        <a:cubicBezTo>
                          <a:pt x="248310" y="10558"/>
                          <a:pt x="254345" y="10558"/>
                          <a:pt x="258066" y="14280"/>
                        </a:cubicBezTo>
                        <a:cubicBezTo>
                          <a:pt x="261788" y="18002"/>
                          <a:pt x="261788" y="24036"/>
                          <a:pt x="258066" y="27758"/>
                        </a:cubicBezTo>
                        <a:lnTo>
                          <a:pt x="143766" y="142058"/>
                        </a:lnTo>
                        <a:cubicBezTo>
                          <a:pt x="140045" y="145780"/>
                          <a:pt x="134010" y="145780"/>
                          <a:pt x="130288" y="142058"/>
                        </a:cubicBezTo>
                        <a:cubicBezTo>
                          <a:pt x="126567" y="138336"/>
                          <a:pt x="126567" y="132302"/>
                          <a:pt x="130288" y="128580"/>
                        </a:cubicBezTo>
                        <a:lnTo>
                          <a:pt x="163293" y="95576"/>
                        </a:lnTo>
                        <a:cubicBezTo>
                          <a:pt x="144878" y="83397"/>
                          <a:pt x="120508" y="85471"/>
                          <a:pt x="104416" y="100585"/>
                        </a:cubicBezTo>
                        <a:cubicBezTo>
                          <a:pt x="88324" y="115699"/>
                          <a:pt x="84729" y="139892"/>
                          <a:pt x="95731" y="159032"/>
                        </a:cubicBezTo>
                        <a:cubicBezTo>
                          <a:pt x="106732" y="178173"/>
                          <a:pt x="129446" y="187243"/>
                          <a:pt x="150606" y="180946"/>
                        </a:cubicBezTo>
                        <a:cubicBezTo>
                          <a:pt x="171766" y="174648"/>
                          <a:pt x="185824" y="154634"/>
                          <a:pt x="184569" y="132593"/>
                        </a:cubicBezTo>
                        <a:cubicBezTo>
                          <a:pt x="184273" y="127332"/>
                          <a:pt x="188298" y="122828"/>
                          <a:pt x="193558" y="122532"/>
                        </a:cubicBezTo>
                        <a:cubicBezTo>
                          <a:pt x="198819" y="122236"/>
                          <a:pt x="203323" y="126260"/>
                          <a:pt x="203619" y="131521"/>
                        </a:cubicBezTo>
                        <a:cubicBezTo>
                          <a:pt x="205408" y="162739"/>
                          <a:pt x="185262" y="191007"/>
                          <a:pt x="155168" y="199502"/>
                        </a:cubicBezTo>
                        <a:cubicBezTo>
                          <a:pt x="125075" y="207998"/>
                          <a:pt x="93121" y="194439"/>
                          <a:pt x="78320" y="166895"/>
                        </a:cubicBezTo>
                        <a:cubicBezTo>
                          <a:pt x="63519" y="139350"/>
                          <a:pt x="69849" y="105220"/>
                          <a:pt x="93543" y="84814"/>
                        </a:cubicBezTo>
                        <a:cubicBezTo>
                          <a:pt x="117236" y="64409"/>
                          <a:pt x="151927" y="63210"/>
                          <a:pt x="176973" y="81931"/>
                        </a:cubicBezTo>
                        <a:lnTo>
                          <a:pt x="204060" y="54845"/>
                        </a:lnTo>
                        <a:cubicBezTo>
                          <a:pt x="162954" y="20716"/>
                          <a:pt x="102738" y="23039"/>
                          <a:pt x="64382" y="60232"/>
                        </a:cubicBezTo>
                        <a:cubicBezTo>
                          <a:pt x="26027" y="97425"/>
                          <a:pt x="21854" y="157541"/>
                          <a:pt x="54702" y="199677"/>
                        </a:cubicBezTo>
                        <a:cubicBezTo>
                          <a:pt x="87551" y="241813"/>
                          <a:pt x="146868" y="252434"/>
                          <a:pt x="192295" y="224312"/>
                        </a:cubicBezTo>
                        <a:cubicBezTo>
                          <a:pt x="237723" y="196191"/>
                          <a:pt x="254667" y="138361"/>
                          <a:pt x="231599" y="90171"/>
                        </a:cubicBezTo>
                        <a:cubicBezTo>
                          <a:pt x="229330" y="85423"/>
                          <a:pt x="231340" y="79735"/>
                          <a:pt x="236087" y="77467"/>
                        </a:cubicBezTo>
                        <a:cubicBezTo>
                          <a:pt x="240835" y="75198"/>
                          <a:pt x="246523" y="77208"/>
                          <a:pt x="248791" y="81955"/>
                        </a:cubicBezTo>
                        <a:close/>
                      </a:path>
                    </a:pathLst>
                  </a:custGeom>
                  <a:solidFill>
                    <a:srgbClr val="1565C0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79" name="TextBox 79"/>
                <p:cNvSpPr txBox="1"/>
                <p:nvPr/>
              </p:nvSpPr>
              <p:spPr bwMode="auto">
                <a:xfrm>
                  <a:off x="399370" y="50201"/>
                  <a:ext cx="1697178" cy="2061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5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Показываем top-k</a:t>
                  </a:r>
                  <a:endParaRPr/>
                </a:p>
              </p:txBody>
            </p:sp>
            <p:sp>
              <p:nvSpPr>
                <p:cNvPr id="80" name="TextBox 80"/>
                <p:cNvSpPr txBox="1"/>
                <p:nvPr/>
              </p:nvSpPr>
              <p:spPr bwMode="auto">
                <a:xfrm>
                  <a:off x="402057" y="342147"/>
                  <a:ext cx="4175916" cy="17561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15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модератор видит альтернативы, а не только один класс</a:t>
                  </a:r>
                  <a:endParaRPr/>
                </a:p>
              </p:txBody>
            </p:sp>
          </p:grpSp>
          <p:grpSp>
            <p:nvGrpSpPr>
              <p:cNvPr id="87" name="Group 87"/>
              <p:cNvGrpSpPr/>
              <p:nvPr/>
            </p:nvGrpSpPr>
            <p:grpSpPr bwMode="auto">
              <a:xfrm flipH="0" flipV="0">
                <a:off x="339167" y="1850868"/>
                <a:ext cx="3973123" cy="505402"/>
                <a:chOff x="0" y="0"/>
                <a:chExt cx="3973123" cy="505402"/>
              </a:xfrm>
            </p:grpSpPr>
            <p:grpSp>
              <p:nvGrpSpPr>
                <p:cNvPr id="84" name="Group 84"/>
                <p:cNvGrpSpPr/>
                <p:nvPr/>
              </p:nvGrpSpPr>
              <p:grpSpPr bwMode="auto">
                <a:xfrm flipH="0" flipV="0">
                  <a:off x="0" y="0"/>
                  <a:ext cx="253218" cy="255763"/>
                  <a:chOff x="0" y="0"/>
                  <a:chExt cx="253218" cy="255763"/>
                </a:xfrm>
              </p:grpSpPr>
              <p:sp>
                <p:nvSpPr>
                  <p:cNvPr id="82" name="Freeform 82"/>
                  <p:cNvSpPr/>
                  <p:nvPr/>
                </p:nvSpPr>
                <p:spPr bwMode="auto">
                  <a:xfrm>
                    <a:off x="5688" y="6673"/>
                    <a:ext cx="241847" cy="23874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7175" h="222385" fill="norm" stroke="1" extrusionOk="0">
                        <a:moveTo>
                          <a:pt x="232720" y="222385"/>
                        </a:moveTo>
                        <a:lnTo>
                          <a:pt x="24455" y="222385"/>
                        </a:lnTo>
                        <a:cubicBezTo>
                          <a:pt x="9430" y="222385"/>
                          <a:pt x="0" y="206657"/>
                          <a:pt x="7299" y="193917"/>
                        </a:cubicBezTo>
                        <a:lnTo>
                          <a:pt x="111431" y="13097"/>
                        </a:lnTo>
                        <a:cubicBezTo>
                          <a:pt x="118932" y="0"/>
                          <a:pt x="138243" y="0"/>
                          <a:pt x="145744" y="13097"/>
                        </a:cubicBezTo>
                        <a:lnTo>
                          <a:pt x="249876" y="193917"/>
                        </a:lnTo>
                        <a:cubicBezTo>
                          <a:pt x="257175" y="206657"/>
                          <a:pt x="247745" y="222385"/>
                          <a:pt x="232720" y="222385"/>
                        </a:cubicBezTo>
                        <a:close/>
                      </a:path>
                    </a:pathLst>
                  </a:custGeom>
                  <a:solidFill>
                    <a:srgbClr val="D04A02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83" name="Freeform 83"/>
                  <p:cNvSpPr/>
                  <p:nvPr/>
                </p:nvSpPr>
                <p:spPr bwMode="auto">
                  <a:xfrm>
                    <a:off x="0" y="0"/>
                    <a:ext cx="253218" cy="25576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9267" h="238235" fill="norm" stroke="1" extrusionOk="0">
                        <a:moveTo>
                          <a:pt x="264177" y="195370"/>
                        </a:moveTo>
                        <a:lnTo>
                          <a:pt x="160057" y="14550"/>
                        </a:lnTo>
                        <a:lnTo>
                          <a:pt x="160057" y="14550"/>
                        </a:lnTo>
                        <a:cubicBezTo>
                          <a:pt x="154763" y="5536"/>
                          <a:pt x="145091" y="0"/>
                          <a:pt x="134637" y="0"/>
                        </a:cubicBezTo>
                        <a:cubicBezTo>
                          <a:pt x="124183" y="0"/>
                          <a:pt x="114511" y="5536"/>
                          <a:pt x="109217" y="14550"/>
                        </a:cubicBezTo>
                        <a:lnTo>
                          <a:pt x="5097" y="195370"/>
                        </a:lnTo>
                        <a:cubicBezTo>
                          <a:pt x="0" y="204094"/>
                          <a:pt x="0" y="214888"/>
                          <a:pt x="5097" y="223612"/>
                        </a:cubicBezTo>
                        <a:cubicBezTo>
                          <a:pt x="10327" y="232686"/>
                          <a:pt x="20044" y="238235"/>
                          <a:pt x="30517" y="238126"/>
                        </a:cubicBezTo>
                        <a:lnTo>
                          <a:pt x="238757" y="238126"/>
                        </a:lnTo>
                        <a:cubicBezTo>
                          <a:pt x="249222" y="238226"/>
                          <a:pt x="258928" y="232679"/>
                          <a:pt x="264153" y="223612"/>
                        </a:cubicBezTo>
                        <a:cubicBezTo>
                          <a:pt x="269258" y="214892"/>
                          <a:pt x="269267" y="204099"/>
                          <a:pt x="264177" y="195370"/>
                        </a:cubicBezTo>
                        <a:close/>
                        <a:moveTo>
                          <a:pt x="247663" y="214075"/>
                        </a:moveTo>
                        <a:cubicBezTo>
                          <a:pt x="245815" y="217228"/>
                          <a:pt x="242411" y="219139"/>
                          <a:pt x="238757" y="219076"/>
                        </a:cubicBezTo>
                        <a:lnTo>
                          <a:pt x="30517" y="219076"/>
                        </a:lnTo>
                        <a:cubicBezTo>
                          <a:pt x="26863" y="219139"/>
                          <a:pt x="23459" y="217228"/>
                          <a:pt x="21611" y="214075"/>
                        </a:cubicBezTo>
                        <a:cubicBezTo>
                          <a:pt x="19936" y="211240"/>
                          <a:pt x="19936" y="207719"/>
                          <a:pt x="21611" y="204884"/>
                        </a:cubicBezTo>
                        <a:lnTo>
                          <a:pt x="125731" y="24063"/>
                        </a:lnTo>
                        <a:cubicBezTo>
                          <a:pt x="127615" y="20929"/>
                          <a:pt x="131004" y="19011"/>
                          <a:pt x="134661" y="19011"/>
                        </a:cubicBezTo>
                        <a:cubicBezTo>
                          <a:pt x="138318" y="19011"/>
                          <a:pt x="141707" y="20929"/>
                          <a:pt x="143591" y="24063"/>
                        </a:cubicBezTo>
                        <a:lnTo>
                          <a:pt x="247711" y="204884"/>
                        </a:lnTo>
                        <a:cubicBezTo>
                          <a:pt x="249371" y="207727"/>
                          <a:pt x="249352" y="211249"/>
                          <a:pt x="247663" y="214075"/>
                        </a:cubicBezTo>
                        <a:close/>
                        <a:moveTo>
                          <a:pt x="125112" y="142876"/>
                        </a:moveTo>
                        <a:lnTo>
                          <a:pt x="125112" y="95251"/>
                        </a:lnTo>
                        <a:cubicBezTo>
                          <a:pt x="125112" y="89990"/>
                          <a:pt x="129377" y="85726"/>
                          <a:pt x="134637" y="85726"/>
                        </a:cubicBezTo>
                        <a:cubicBezTo>
                          <a:pt x="139898" y="85726"/>
                          <a:pt x="144162" y="89990"/>
                          <a:pt x="144162" y="95251"/>
                        </a:cubicBezTo>
                        <a:lnTo>
                          <a:pt x="144162" y="142876"/>
                        </a:lnTo>
                        <a:cubicBezTo>
                          <a:pt x="144162" y="148136"/>
                          <a:pt x="139898" y="152401"/>
                          <a:pt x="134637" y="152401"/>
                        </a:cubicBezTo>
                        <a:cubicBezTo>
                          <a:pt x="129377" y="152401"/>
                          <a:pt x="125112" y="148136"/>
                          <a:pt x="125112" y="142876"/>
                        </a:cubicBezTo>
                        <a:close/>
                        <a:moveTo>
                          <a:pt x="148925" y="185738"/>
                        </a:moveTo>
                        <a:cubicBezTo>
                          <a:pt x="148925" y="193629"/>
                          <a:pt x="142528" y="200026"/>
                          <a:pt x="134637" y="200026"/>
                        </a:cubicBezTo>
                        <a:cubicBezTo>
                          <a:pt x="126746" y="200026"/>
                          <a:pt x="120350" y="193629"/>
                          <a:pt x="120350" y="185738"/>
                        </a:cubicBezTo>
                        <a:cubicBezTo>
                          <a:pt x="120350" y="177848"/>
                          <a:pt x="126746" y="171451"/>
                          <a:pt x="134637" y="171451"/>
                        </a:cubicBezTo>
                        <a:cubicBezTo>
                          <a:pt x="142528" y="171451"/>
                          <a:pt x="148925" y="177848"/>
                          <a:pt x="148925" y="185738"/>
                        </a:cubicBezTo>
                        <a:close/>
                      </a:path>
                    </a:pathLst>
                  </a:custGeom>
                  <a:solidFill>
                    <a:srgbClr val="D04A02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85" name="TextBox 85"/>
                <p:cNvSpPr txBox="1"/>
                <p:nvPr/>
              </p:nvSpPr>
              <p:spPr bwMode="auto">
                <a:xfrm>
                  <a:off x="397122" y="37837"/>
                  <a:ext cx="1804256" cy="2061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5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Порог уверенности</a:t>
                  </a:r>
                  <a:endParaRPr/>
                </a:p>
              </p:txBody>
            </p:sp>
            <p:sp>
              <p:nvSpPr>
                <p:cNvPr id="86" name="TextBox 86"/>
                <p:cNvSpPr txBox="1"/>
                <p:nvPr/>
              </p:nvSpPr>
              <p:spPr bwMode="auto">
                <a:xfrm>
                  <a:off x="399809" y="329782"/>
                  <a:ext cx="3573313" cy="17561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15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низкая вероятность уходит на ручную проверку</a:t>
                  </a:r>
                  <a:endParaRPr/>
                </a:p>
              </p:txBody>
            </p:sp>
          </p:grpSp>
          <p:grpSp>
            <p:nvGrpSpPr>
              <p:cNvPr id="93" name="Group 93"/>
              <p:cNvGrpSpPr/>
              <p:nvPr/>
            </p:nvGrpSpPr>
            <p:grpSpPr bwMode="auto">
              <a:xfrm flipH="0" flipV="0">
                <a:off x="357411" y="2831540"/>
                <a:ext cx="4124843" cy="485954"/>
                <a:chOff x="0" y="0"/>
                <a:chExt cx="4124843" cy="485954"/>
              </a:xfrm>
            </p:grpSpPr>
            <p:grpSp>
              <p:nvGrpSpPr>
                <p:cNvPr id="90" name="Group 90"/>
                <p:cNvGrpSpPr/>
                <p:nvPr/>
              </p:nvGrpSpPr>
              <p:grpSpPr bwMode="auto">
                <a:xfrm flipH="0" flipV="0">
                  <a:off x="0" y="0"/>
                  <a:ext cx="215855" cy="225979"/>
                  <a:chOff x="0" y="0"/>
                  <a:chExt cx="215855" cy="225979"/>
                </a:xfrm>
              </p:grpSpPr>
              <p:sp>
                <p:nvSpPr>
                  <p:cNvPr id="88" name="Freeform 88"/>
                  <p:cNvSpPr/>
                  <p:nvPr/>
                </p:nvSpPr>
                <p:spPr bwMode="auto">
                  <a:xfrm>
                    <a:off x="108367" y="31682"/>
                    <a:ext cx="98530" cy="1636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4775" h="152400" fill="norm" stroke="1" extrusionOk="0">
                        <a:moveTo>
                          <a:pt x="104775" y="0"/>
                        </a:moveTo>
                        <a:lnTo>
                          <a:pt x="104775" y="152400"/>
                        </a:lnTo>
                        <a:lnTo>
                          <a:pt x="0" y="1524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2E7D32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89" name="Freeform 89"/>
                  <p:cNvSpPr/>
                  <p:nvPr/>
                </p:nvSpPr>
                <p:spPr bwMode="auto">
                  <a:xfrm>
                    <a:off x="0" y="0"/>
                    <a:ext cx="215855" cy="22597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9536" h="210493" fill="norm" stroke="1" extrusionOk="0">
                        <a:moveTo>
                          <a:pt x="229536" y="105711"/>
                        </a:moveTo>
                        <a:cubicBezTo>
                          <a:pt x="229536" y="110971"/>
                          <a:pt x="225271" y="115236"/>
                          <a:pt x="220011" y="115236"/>
                        </a:cubicBezTo>
                        <a:lnTo>
                          <a:pt x="115236" y="115236"/>
                        </a:lnTo>
                        <a:cubicBezTo>
                          <a:pt x="109975" y="115236"/>
                          <a:pt x="105711" y="110971"/>
                          <a:pt x="105711" y="105711"/>
                        </a:cubicBezTo>
                        <a:cubicBezTo>
                          <a:pt x="105711" y="100450"/>
                          <a:pt x="109975" y="96186"/>
                          <a:pt x="115236" y="96186"/>
                        </a:cubicBezTo>
                        <a:lnTo>
                          <a:pt x="220011" y="96186"/>
                        </a:lnTo>
                        <a:cubicBezTo>
                          <a:pt x="225271" y="96186"/>
                          <a:pt x="229536" y="100450"/>
                          <a:pt x="229536" y="105711"/>
                        </a:cubicBezTo>
                        <a:close/>
                        <a:moveTo>
                          <a:pt x="115236" y="39036"/>
                        </a:moveTo>
                        <a:lnTo>
                          <a:pt x="220011" y="39036"/>
                        </a:lnTo>
                        <a:cubicBezTo>
                          <a:pt x="225271" y="39036"/>
                          <a:pt x="229536" y="34771"/>
                          <a:pt x="229536" y="29511"/>
                        </a:cubicBezTo>
                        <a:cubicBezTo>
                          <a:pt x="229536" y="24250"/>
                          <a:pt x="225271" y="19986"/>
                          <a:pt x="220011" y="19986"/>
                        </a:cubicBezTo>
                        <a:lnTo>
                          <a:pt x="115236" y="19986"/>
                        </a:lnTo>
                        <a:cubicBezTo>
                          <a:pt x="109975" y="19986"/>
                          <a:pt x="105711" y="24250"/>
                          <a:pt x="105711" y="29511"/>
                        </a:cubicBezTo>
                        <a:cubicBezTo>
                          <a:pt x="105711" y="34771"/>
                          <a:pt x="109975" y="39036"/>
                          <a:pt x="115236" y="39036"/>
                        </a:cubicBezTo>
                        <a:close/>
                        <a:moveTo>
                          <a:pt x="220011" y="172386"/>
                        </a:moveTo>
                        <a:lnTo>
                          <a:pt x="115236" y="172386"/>
                        </a:lnTo>
                        <a:cubicBezTo>
                          <a:pt x="109975" y="172386"/>
                          <a:pt x="105711" y="176650"/>
                          <a:pt x="105711" y="181911"/>
                        </a:cubicBezTo>
                        <a:cubicBezTo>
                          <a:pt x="105711" y="187171"/>
                          <a:pt x="109975" y="191436"/>
                          <a:pt x="115236" y="191436"/>
                        </a:cubicBezTo>
                        <a:lnTo>
                          <a:pt x="220011" y="191436"/>
                        </a:lnTo>
                        <a:cubicBezTo>
                          <a:pt x="225271" y="191436"/>
                          <a:pt x="229536" y="187171"/>
                          <a:pt x="229536" y="181911"/>
                        </a:cubicBezTo>
                        <a:cubicBezTo>
                          <a:pt x="229536" y="176650"/>
                          <a:pt x="225271" y="172386"/>
                          <a:pt x="220011" y="172386"/>
                        </a:cubicBezTo>
                        <a:close/>
                        <a:moveTo>
                          <a:pt x="60872" y="3722"/>
                        </a:moveTo>
                        <a:lnTo>
                          <a:pt x="29511" y="35095"/>
                        </a:lnTo>
                        <a:lnTo>
                          <a:pt x="17200" y="22772"/>
                        </a:lnTo>
                        <a:cubicBezTo>
                          <a:pt x="13478" y="19050"/>
                          <a:pt x="7444" y="19050"/>
                          <a:pt x="3722" y="22772"/>
                        </a:cubicBezTo>
                        <a:cubicBezTo>
                          <a:pt x="0" y="26494"/>
                          <a:pt x="0" y="32528"/>
                          <a:pt x="3722" y="36250"/>
                        </a:cubicBezTo>
                        <a:lnTo>
                          <a:pt x="22772" y="55300"/>
                        </a:lnTo>
                        <a:cubicBezTo>
                          <a:pt x="24558" y="57088"/>
                          <a:pt x="26983" y="58093"/>
                          <a:pt x="29511" y="58093"/>
                        </a:cubicBezTo>
                        <a:cubicBezTo>
                          <a:pt x="32039" y="58093"/>
                          <a:pt x="34463" y="57088"/>
                          <a:pt x="36250" y="55300"/>
                        </a:cubicBezTo>
                        <a:lnTo>
                          <a:pt x="74350" y="17200"/>
                        </a:lnTo>
                        <a:cubicBezTo>
                          <a:pt x="78071" y="13478"/>
                          <a:pt x="78071" y="7444"/>
                          <a:pt x="74350" y="3722"/>
                        </a:cubicBezTo>
                        <a:cubicBezTo>
                          <a:pt x="70628" y="0"/>
                          <a:pt x="64594" y="0"/>
                          <a:pt x="60872" y="3722"/>
                        </a:cubicBezTo>
                        <a:close/>
                        <a:moveTo>
                          <a:pt x="60872" y="79922"/>
                        </a:moveTo>
                        <a:lnTo>
                          <a:pt x="29511" y="111295"/>
                        </a:lnTo>
                        <a:lnTo>
                          <a:pt x="17200" y="98972"/>
                        </a:lnTo>
                        <a:cubicBezTo>
                          <a:pt x="13478" y="95250"/>
                          <a:pt x="7444" y="95250"/>
                          <a:pt x="3722" y="98972"/>
                        </a:cubicBezTo>
                        <a:cubicBezTo>
                          <a:pt x="0" y="102694"/>
                          <a:pt x="0" y="108728"/>
                          <a:pt x="3722" y="112450"/>
                        </a:cubicBezTo>
                        <a:lnTo>
                          <a:pt x="22772" y="131500"/>
                        </a:lnTo>
                        <a:cubicBezTo>
                          <a:pt x="24558" y="133288"/>
                          <a:pt x="26983" y="134293"/>
                          <a:pt x="29511" y="134293"/>
                        </a:cubicBezTo>
                        <a:cubicBezTo>
                          <a:pt x="32039" y="134293"/>
                          <a:pt x="34463" y="133288"/>
                          <a:pt x="36250" y="131500"/>
                        </a:cubicBezTo>
                        <a:lnTo>
                          <a:pt x="74350" y="93400"/>
                        </a:lnTo>
                        <a:cubicBezTo>
                          <a:pt x="78071" y="89678"/>
                          <a:pt x="78071" y="83644"/>
                          <a:pt x="74350" y="79922"/>
                        </a:cubicBezTo>
                        <a:cubicBezTo>
                          <a:pt x="70628" y="76200"/>
                          <a:pt x="64594" y="76200"/>
                          <a:pt x="60872" y="79922"/>
                        </a:cubicBezTo>
                        <a:close/>
                        <a:moveTo>
                          <a:pt x="60872" y="156122"/>
                        </a:moveTo>
                        <a:lnTo>
                          <a:pt x="29511" y="187495"/>
                        </a:lnTo>
                        <a:lnTo>
                          <a:pt x="17200" y="175172"/>
                        </a:lnTo>
                        <a:cubicBezTo>
                          <a:pt x="13478" y="171450"/>
                          <a:pt x="7444" y="171450"/>
                          <a:pt x="3722" y="175172"/>
                        </a:cubicBezTo>
                        <a:cubicBezTo>
                          <a:pt x="0" y="178894"/>
                          <a:pt x="0" y="184928"/>
                          <a:pt x="3722" y="188650"/>
                        </a:cubicBezTo>
                        <a:lnTo>
                          <a:pt x="22772" y="207700"/>
                        </a:lnTo>
                        <a:cubicBezTo>
                          <a:pt x="24558" y="209488"/>
                          <a:pt x="26983" y="210493"/>
                          <a:pt x="29511" y="210493"/>
                        </a:cubicBezTo>
                        <a:cubicBezTo>
                          <a:pt x="32039" y="210493"/>
                          <a:pt x="34463" y="209488"/>
                          <a:pt x="36250" y="207700"/>
                        </a:cubicBezTo>
                        <a:lnTo>
                          <a:pt x="74350" y="169600"/>
                        </a:lnTo>
                        <a:cubicBezTo>
                          <a:pt x="78071" y="165878"/>
                          <a:pt x="78071" y="159844"/>
                          <a:pt x="74350" y="156122"/>
                        </a:cubicBezTo>
                        <a:cubicBezTo>
                          <a:pt x="70628" y="152400"/>
                          <a:pt x="64594" y="152400"/>
                          <a:pt x="60872" y="156122"/>
                        </a:cubicBezTo>
                        <a:close/>
                      </a:path>
                    </a:pathLst>
                  </a:custGeom>
                  <a:solidFill>
                    <a:srgbClr val="2E7D32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91" name="TextBox 91"/>
                <p:cNvSpPr txBox="1"/>
                <p:nvPr/>
              </p:nvSpPr>
              <p:spPr bwMode="auto">
                <a:xfrm>
                  <a:off x="378878" y="18389"/>
                  <a:ext cx="1979475" cy="2061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5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Class-level контроль</a:t>
                  </a:r>
                  <a:endParaRPr/>
                </a:p>
              </p:txBody>
            </p:sp>
            <p:sp>
              <p:nvSpPr>
                <p:cNvPr id="92" name="TextBox 92"/>
                <p:cNvSpPr txBox="1"/>
                <p:nvPr/>
              </p:nvSpPr>
              <p:spPr bwMode="auto">
                <a:xfrm>
                  <a:off x="381564" y="310334"/>
                  <a:ext cx="3743278" cy="17561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15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не ограничиваемся средней метрикой по датасету</a:t>
                  </a:r>
                  <a:endParaRPr/>
                </a:p>
              </p:txBody>
            </p:sp>
          </p:grpSp>
        </p:grpSp>
      </p:grpSp>
      <p:sp>
        <p:nvSpPr>
          <p:cNvPr id="5" name="TextBox 5"/>
          <p:cNvSpPr txBox="1"/>
          <p:nvPr/>
        </p:nvSpPr>
        <p:spPr bwMode="auto">
          <a:xfrm rot="0" flipH="0" flipV="0">
            <a:off x="501014" y="248601"/>
            <a:ext cx="11445645" cy="3889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Основные риски — похожие жилые комнаты и редкие классы; их закрывают top-k и ручная проверка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6" name="Group 66"/>
          <p:cNvGrpSpPr/>
          <p:nvPr/>
        </p:nvGrpSpPr>
        <p:grpSpPr bwMode="auto">
          <a:xfrm flipH="0" flipV="0">
            <a:off x="533399" y="1428750"/>
            <a:ext cx="11314537" cy="4435457"/>
            <a:chOff x="0" y="0"/>
            <a:chExt cx="11314537" cy="4435457"/>
          </a:xfrm>
        </p:grpSpPr>
        <p:grpSp>
          <p:nvGrpSpPr>
            <p:cNvPr id="23" name="Group 23"/>
            <p:cNvGrpSpPr/>
            <p:nvPr/>
          </p:nvGrpSpPr>
          <p:grpSpPr bwMode="auto">
            <a:xfrm flipH="0" flipV="0">
              <a:off x="0" y="0"/>
              <a:ext cx="11314537" cy="1108099"/>
              <a:chOff x="0" y="0"/>
              <a:chExt cx="11314537" cy="1108099"/>
            </a:xfrm>
          </p:grpSpPr>
          <p:sp>
            <p:nvSpPr>
              <p:cNvPr id="9" name="Rectangle 9"/>
              <p:cNvSpPr/>
              <p:nvPr/>
            </p:nvSpPr>
            <p:spPr bwMode="auto">
              <a:xfrm>
                <a:off x="0" y="0"/>
                <a:ext cx="11314537" cy="1108099"/>
              </a:xfrm>
              <a:prstGeom prst="roundRect">
                <a:avLst>
                  <a:gd name="adj" fmla="val 15385"/>
                </a:avLst>
              </a:prstGeom>
              <a:solidFill>
                <a:srgbClr val="EAF3FB"/>
              </a:solidFill>
              <a:ln w="9525">
                <a:solidFill>
                  <a:srgbClr val="D8E1EA"/>
                </a:solidFill>
              </a:ln>
            </p:spPr>
          </p:sp>
          <p:sp>
            <p:nvSpPr>
              <p:cNvPr id="10" name="Rectangle 10"/>
              <p:cNvSpPr/>
              <p:nvPr/>
            </p:nvSpPr>
            <p:spPr bwMode="auto">
              <a:xfrm>
                <a:off x="232490" y="234405"/>
                <a:ext cx="561852" cy="617978"/>
              </a:xfrm>
              <a:prstGeom prst="roundRect">
                <a:avLst>
                  <a:gd name="adj" fmla="val 20690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</p:spPr>
          </p:sp>
          <p:grpSp>
            <p:nvGrpSpPr>
              <p:cNvPr id="13" name="Group 13"/>
              <p:cNvGrpSpPr/>
              <p:nvPr/>
            </p:nvGrpSpPr>
            <p:grpSpPr bwMode="auto">
              <a:xfrm flipH="0" flipV="0">
                <a:off x="411701" y="422196"/>
                <a:ext cx="203429" cy="242396"/>
                <a:chOff x="0" y="0"/>
                <a:chExt cx="203429" cy="242396"/>
              </a:xfrm>
            </p:grpSpPr>
            <p:sp>
              <p:nvSpPr>
                <p:cNvPr id="11" name="Freeform 11"/>
                <p:cNvSpPr/>
                <p:nvPr/>
              </p:nvSpPr>
              <p:spPr bwMode="auto">
                <a:xfrm>
                  <a:off x="8476" y="9322"/>
                  <a:ext cx="186476" cy="1118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356" h="100012" fill="norm" stroke="1" extrusionOk="0">
                      <a:moveTo>
                        <a:pt x="183356" y="50006"/>
                      </a:moveTo>
                      <a:cubicBezTo>
                        <a:pt x="183356" y="77624"/>
                        <a:pt x="142309" y="100012"/>
                        <a:pt x="91678" y="100012"/>
                      </a:cubicBezTo>
                      <a:cubicBezTo>
                        <a:pt x="41047" y="100012"/>
                        <a:pt x="0" y="77624"/>
                        <a:pt x="0" y="50006"/>
                      </a:cubicBezTo>
                      <a:cubicBezTo>
                        <a:pt x="0" y="22388"/>
                        <a:pt x="41047" y="0"/>
                        <a:pt x="91678" y="0"/>
                      </a:cubicBezTo>
                      <a:cubicBezTo>
                        <a:pt x="142309" y="0"/>
                        <a:pt x="183356" y="22388"/>
                        <a:pt x="183356" y="50006"/>
                      </a:cubicBez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12" name="Freeform 12"/>
                <p:cNvSpPr/>
                <p:nvPr/>
              </p:nvSpPr>
              <p:spPr bwMode="auto">
                <a:xfrm>
                  <a:off x="0" y="0"/>
                  <a:ext cx="203429" cy="2423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16694" fill="norm" stroke="1" extrusionOk="0">
                      <a:moveTo>
                        <a:pt x="100012" y="0"/>
                      </a:moveTo>
                      <a:cubicBezTo>
                        <a:pt x="43933" y="0"/>
                        <a:pt x="0" y="25628"/>
                        <a:pt x="0" y="58341"/>
                      </a:cubicBezTo>
                      <a:lnTo>
                        <a:pt x="0" y="158353"/>
                      </a:lnTo>
                      <a:cubicBezTo>
                        <a:pt x="0" y="191066"/>
                        <a:pt x="43933" y="216694"/>
                        <a:pt x="100012" y="216694"/>
                      </a:cubicBezTo>
                      <a:cubicBezTo>
                        <a:pt x="156092" y="216694"/>
                        <a:pt x="200025" y="191066"/>
                        <a:pt x="200025" y="158353"/>
                      </a:cubicBezTo>
                      <a:lnTo>
                        <a:pt x="200025" y="58341"/>
                      </a:lnTo>
                      <a:cubicBezTo>
                        <a:pt x="200025" y="25628"/>
                        <a:pt x="156092" y="0"/>
                        <a:pt x="100012" y="0"/>
                      </a:cubicBezTo>
                      <a:close/>
                      <a:moveTo>
                        <a:pt x="183356" y="108347"/>
                      </a:moveTo>
                      <a:cubicBezTo>
                        <a:pt x="183356" y="118369"/>
                        <a:pt x="175147" y="128589"/>
                        <a:pt x="160843" y="136392"/>
                      </a:cubicBezTo>
                      <a:cubicBezTo>
                        <a:pt x="144737" y="145174"/>
                        <a:pt x="123130" y="150019"/>
                        <a:pt x="100012" y="150019"/>
                      </a:cubicBezTo>
                      <a:cubicBezTo>
                        <a:pt x="76895" y="150019"/>
                        <a:pt x="55288" y="145174"/>
                        <a:pt x="39182" y="136392"/>
                      </a:cubicBezTo>
                      <a:cubicBezTo>
                        <a:pt x="24878" y="128589"/>
                        <a:pt x="16669" y="118369"/>
                        <a:pt x="16669" y="108347"/>
                      </a:cubicBezTo>
                      <a:lnTo>
                        <a:pt x="16669" y="91011"/>
                      </a:lnTo>
                      <a:cubicBezTo>
                        <a:pt x="34442" y="106638"/>
                        <a:pt x="64831" y="116681"/>
                        <a:pt x="100012" y="116681"/>
                      </a:cubicBezTo>
                      <a:cubicBezTo>
                        <a:pt x="135194" y="116681"/>
                        <a:pt x="165583" y="106597"/>
                        <a:pt x="183356" y="91011"/>
                      </a:cubicBezTo>
                      <a:close/>
                      <a:moveTo>
                        <a:pt x="39182" y="30295"/>
                      </a:moveTo>
                      <a:cubicBezTo>
                        <a:pt x="55288" y="21513"/>
                        <a:pt x="76895" y="16669"/>
                        <a:pt x="100012" y="16669"/>
                      </a:cubicBezTo>
                      <a:cubicBezTo>
                        <a:pt x="123130" y="16669"/>
                        <a:pt x="144737" y="21513"/>
                        <a:pt x="160843" y="30295"/>
                      </a:cubicBezTo>
                      <a:cubicBezTo>
                        <a:pt x="175147" y="38099"/>
                        <a:pt x="183356" y="48319"/>
                        <a:pt x="183356" y="58341"/>
                      </a:cubicBezTo>
                      <a:cubicBezTo>
                        <a:pt x="183356" y="68363"/>
                        <a:pt x="175147" y="78583"/>
                        <a:pt x="160843" y="86386"/>
                      </a:cubicBezTo>
                      <a:cubicBezTo>
                        <a:pt x="144737" y="95168"/>
                        <a:pt x="123130" y="100012"/>
                        <a:pt x="100012" y="100012"/>
                      </a:cubicBezTo>
                      <a:cubicBezTo>
                        <a:pt x="76895" y="100012"/>
                        <a:pt x="55288" y="95168"/>
                        <a:pt x="39182" y="86386"/>
                      </a:cubicBezTo>
                      <a:cubicBezTo>
                        <a:pt x="24878" y="78583"/>
                        <a:pt x="16669" y="68363"/>
                        <a:pt x="16669" y="58341"/>
                      </a:cubicBezTo>
                      <a:cubicBezTo>
                        <a:pt x="16669" y="48319"/>
                        <a:pt x="24878" y="38099"/>
                        <a:pt x="39182" y="30295"/>
                      </a:cubicBezTo>
                      <a:close/>
                      <a:moveTo>
                        <a:pt x="160843" y="186398"/>
                      </a:moveTo>
                      <a:cubicBezTo>
                        <a:pt x="144737" y="195181"/>
                        <a:pt x="123130" y="200025"/>
                        <a:pt x="100012" y="200025"/>
                      </a:cubicBezTo>
                      <a:cubicBezTo>
                        <a:pt x="76895" y="200025"/>
                        <a:pt x="55288" y="195181"/>
                        <a:pt x="39182" y="186398"/>
                      </a:cubicBezTo>
                      <a:cubicBezTo>
                        <a:pt x="24878" y="178595"/>
                        <a:pt x="16669" y="168375"/>
                        <a:pt x="16669" y="158353"/>
                      </a:cubicBezTo>
                      <a:lnTo>
                        <a:pt x="16669" y="141018"/>
                      </a:lnTo>
                      <a:cubicBezTo>
                        <a:pt x="34442" y="156645"/>
                        <a:pt x="64831" y="166688"/>
                        <a:pt x="100012" y="166688"/>
                      </a:cubicBezTo>
                      <a:cubicBezTo>
                        <a:pt x="135194" y="166688"/>
                        <a:pt x="165583" y="156603"/>
                        <a:pt x="183356" y="141018"/>
                      </a:cubicBezTo>
                      <a:lnTo>
                        <a:pt x="183356" y="158353"/>
                      </a:lnTo>
                      <a:cubicBezTo>
                        <a:pt x="183356" y="168375"/>
                        <a:pt x="175147" y="178595"/>
                        <a:pt x="160843" y="186398"/>
                      </a:cubicBez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</p:spPr>
            </p:sp>
          </p:grpSp>
          <p:sp>
            <p:nvSpPr>
              <p:cNvPr id="14" name="TextBox 14"/>
              <p:cNvSpPr txBox="1"/>
              <p:nvPr/>
            </p:nvSpPr>
            <p:spPr bwMode="auto">
              <a:xfrm>
                <a:off x="970647" y="263174"/>
                <a:ext cx="1087979" cy="20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Data layer</a:t>
                </a:r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 bwMode="auto">
              <a:xfrm>
                <a:off x="973553" y="599332"/>
                <a:ext cx="6421093" cy="1756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`data/raw/`, проверка файлов, `content_hash`, schema audit, class mapping</a:t>
                </a: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 bwMode="auto">
            <a:xfrm flipH="0" flipV="0">
              <a:off x="0" y="1278575"/>
              <a:ext cx="11314537" cy="1108099"/>
              <a:chOff x="0" y="0"/>
              <a:chExt cx="11314537" cy="1108099"/>
            </a:xfrm>
          </p:grpSpPr>
          <p:sp>
            <p:nvSpPr>
              <p:cNvPr id="24" name="Rectangle 24"/>
              <p:cNvSpPr/>
              <p:nvPr/>
            </p:nvSpPr>
            <p:spPr bwMode="auto">
              <a:xfrm>
                <a:off x="0" y="0"/>
                <a:ext cx="11314537" cy="1108099"/>
              </a:xfrm>
              <a:prstGeom prst="roundRect">
                <a:avLst>
                  <a:gd name="adj" fmla="val 15385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</p:spPr>
          </p:sp>
          <p:sp>
            <p:nvSpPr>
              <p:cNvPr id="25" name="Rectangle 25"/>
              <p:cNvSpPr/>
              <p:nvPr/>
            </p:nvSpPr>
            <p:spPr bwMode="auto">
              <a:xfrm>
                <a:off x="232490" y="234405"/>
                <a:ext cx="561852" cy="617978"/>
              </a:xfrm>
              <a:prstGeom prst="roundRect">
                <a:avLst>
                  <a:gd name="adj" fmla="val 20690"/>
                </a:avLst>
              </a:prstGeom>
              <a:solidFill>
                <a:srgbClr val="EAF7EE"/>
              </a:solidFill>
              <a:ln w="9525">
                <a:solidFill>
                  <a:srgbClr val="D8E1EA"/>
                </a:solidFill>
              </a:ln>
            </p:spPr>
          </p:sp>
          <p:grpSp>
            <p:nvGrpSpPr>
              <p:cNvPr id="28" name="Group 28"/>
              <p:cNvGrpSpPr/>
              <p:nvPr/>
            </p:nvGrpSpPr>
            <p:grpSpPr bwMode="auto">
              <a:xfrm flipH="0" flipV="0">
                <a:off x="386265" y="417511"/>
                <a:ext cx="254294" cy="242443"/>
                <a:chOff x="0" y="0"/>
                <a:chExt cx="254294" cy="242443"/>
              </a:xfrm>
            </p:grpSpPr>
            <p:sp>
              <p:nvSpPr>
                <p:cNvPr id="26" name="Freeform 26"/>
                <p:cNvSpPr/>
                <p:nvPr/>
              </p:nvSpPr>
              <p:spPr bwMode="auto">
                <a:xfrm>
                  <a:off x="8438" y="14007"/>
                  <a:ext cx="237386" cy="214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414" h="191691" fill="norm" stroke="1" extrusionOk="0">
                      <a:moveTo>
                        <a:pt x="233407" y="95845"/>
                      </a:moveTo>
                      <a:cubicBezTo>
                        <a:pt x="233414" y="117043"/>
                        <a:pt x="220055" y="135942"/>
                        <a:pt x="200070" y="143007"/>
                      </a:cubicBezTo>
                      <a:lnTo>
                        <a:pt x="200070" y="143007"/>
                      </a:lnTo>
                      <a:lnTo>
                        <a:pt x="200070" y="150019"/>
                      </a:lnTo>
                      <a:cubicBezTo>
                        <a:pt x="200070" y="173033"/>
                        <a:pt x="181413" y="191691"/>
                        <a:pt x="158398" y="191691"/>
                      </a:cubicBezTo>
                      <a:cubicBezTo>
                        <a:pt x="135383" y="191691"/>
                        <a:pt x="116726" y="173033"/>
                        <a:pt x="116726" y="150019"/>
                      </a:cubicBezTo>
                      <a:cubicBezTo>
                        <a:pt x="116726" y="173033"/>
                        <a:pt x="98069" y="191691"/>
                        <a:pt x="75054" y="191691"/>
                      </a:cubicBezTo>
                      <a:cubicBezTo>
                        <a:pt x="52039" y="191691"/>
                        <a:pt x="33382" y="173033"/>
                        <a:pt x="33382" y="150019"/>
                      </a:cubicBezTo>
                      <a:lnTo>
                        <a:pt x="33382" y="143007"/>
                      </a:lnTo>
                      <a:lnTo>
                        <a:pt x="33382" y="143007"/>
                      </a:lnTo>
                      <a:cubicBezTo>
                        <a:pt x="13379" y="135957"/>
                        <a:pt x="0" y="117055"/>
                        <a:pt x="0" y="95845"/>
                      </a:cubicBezTo>
                      <a:cubicBezTo>
                        <a:pt x="0" y="74636"/>
                        <a:pt x="13379" y="55734"/>
                        <a:pt x="33382" y="48683"/>
                      </a:cubicBezTo>
                      <a:lnTo>
                        <a:pt x="33382" y="41672"/>
                      </a:lnTo>
                      <a:cubicBezTo>
                        <a:pt x="33382" y="18657"/>
                        <a:pt x="52039" y="0"/>
                        <a:pt x="75054" y="0"/>
                      </a:cubicBezTo>
                      <a:cubicBezTo>
                        <a:pt x="98069" y="0"/>
                        <a:pt x="116726" y="18657"/>
                        <a:pt x="116726" y="41672"/>
                      </a:cubicBezTo>
                      <a:cubicBezTo>
                        <a:pt x="116726" y="18657"/>
                        <a:pt x="135383" y="0"/>
                        <a:pt x="158398" y="0"/>
                      </a:cubicBezTo>
                      <a:cubicBezTo>
                        <a:pt x="181413" y="0"/>
                        <a:pt x="200070" y="18657"/>
                        <a:pt x="200070" y="41672"/>
                      </a:cubicBezTo>
                      <a:lnTo>
                        <a:pt x="200070" y="48683"/>
                      </a:lnTo>
                      <a:cubicBezTo>
                        <a:pt x="220055" y="55749"/>
                        <a:pt x="233414" y="74648"/>
                        <a:pt x="233407" y="95845"/>
                      </a:cubicBezTo>
                      <a:close/>
                    </a:path>
                  </a:pathLst>
                </a:custGeom>
                <a:solidFill>
                  <a:srgbClr val="2E7D32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 bwMode="auto">
                <a:xfrm>
                  <a:off x="0" y="0"/>
                  <a:ext cx="254294" cy="242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0039" h="216736" fill="norm" stroke="1" extrusionOk="0">
                      <a:moveTo>
                        <a:pt x="250039" y="108368"/>
                      </a:moveTo>
                      <a:cubicBezTo>
                        <a:pt x="250017" y="85837"/>
                        <a:pt x="237047" y="65324"/>
                        <a:pt x="216702" y="55643"/>
                      </a:cubicBezTo>
                      <a:lnTo>
                        <a:pt x="216702" y="54195"/>
                      </a:lnTo>
                      <a:cubicBezTo>
                        <a:pt x="216682" y="32145"/>
                        <a:pt x="202223" y="12711"/>
                        <a:pt x="181109" y="6356"/>
                      </a:cubicBezTo>
                      <a:cubicBezTo>
                        <a:pt x="159996" y="0"/>
                        <a:pt x="137212" y="8223"/>
                        <a:pt x="125023" y="26597"/>
                      </a:cubicBezTo>
                      <a:cubicBezTo>
                        <a:pt x="112835" y="8223"/>
                        <a:pt x="90051" y="0"/>
                        <a:pt x="68937" y="6356"/>
                      </a:cubicBezTo>
                      <a:cubicBezTo>
                        <a:pt x="47824" y="12711"/>
                        <a:pt x="33365" y="32145"/>
                        <a:pt x="33345" y="54195"/>
                      </a:cubicBezTo>
                      <a:lnTo>
                        <a:pt x="33345" y="55643"/>
                      </a:lnTo>
                      <a:cubicBezTo>
                        <a:pt x="12981" y="65299"/>
                        <a:pt x="0" y="85820"/>
                        <a:pt x="0" y="108358"/>
                      </a:cubicBezTo>
                      <a:cubicBezTo>
                        <a:pt x="0" y="130895"/>
                        <a:pt x="12981" y="151417"/>
                        <a:pt x="33345" y="161073"/>
                      </a:cubicBezTo>
                      <a:lnTo>
                        <a:pt x="33345" y="162542"/>
                      </a:lnTo>
                      <a:cubicBezTo>
                        <a:pt x="33365" y="184591"/>
                        <a:pt x="47824" y="204025"/>
                        <a:pt x="68937" y="210381"/>
                      </a:cubicBezTo>
                      <a:cubicBezTo>
                        <a:pt x="90051" y="216736"/>
                        <a:pt x="112835" y="208513"/>
                        <a:pt x="125023" y="190139"/>
                      </a:cubicBezTo>
                      <a:cubicBezTo>
                        <a:pt x="137212" y="208513"/>
                        <a:pt x="159996" y="216736"/>
                        <a:pt x="181109" y="210381"/>
                      </a:cubicBezTo>
                      <a:cubicBezTo>
                        <a:pt x="202223" y="204025"/>
                        <a:pt x="216682" y="184591"/>
                        <a:pt x="216702" y="162542"/>
                      </a:cubicBezTo>
                      <a:lnTo>
                        <a:pt x="216702" y="161073"/>
                      </a:lnTo>
                      <a:cubicBezTo>
                        <a:pt x="237043" y="151398"/>
                        <a:pt x="250014" y="130893"/>
                        <a:pt x="250039" y="108368"/>
                      </a:cubicBezTo>
                      <a:close/>
                      <a:moveTo>
                        <a:pt x="83352" y="195879"/>
                      </a:moveTo>
                      <a:cubicBezTo>
                        <a:pt x="66329" y="195877"/>
                        <a:pt x="52042" y="183050"/>
                        <a:pt x="50212" y="166125"/>
                      </a:cubicBezTo>
                      <a:cubicBezTo>
                        <a:pt x="52907" y="166510"/>
                        <a:pt x="55626" y="166705"/>
                        <a:pt x="58348" y="166709"/>
                      </a:cubicBezTo>
                      <a:lnTo>
                        <a:pt x="66683" y="166709"/>
                      </a:lnTo>
                      <a:cubicBezTo>
                        <a:pt x="71286" y="166709"/>
                        <a:pt x="75017" y="162977"/>
                        <a:pt x="75017" y="158374"/>
                      </a:cubicBezTo>
                      <a:cubicBezTo>
                        <a:pt x="75017" y="153771"/>
                        <a:pt x="71286" y="150040"/>
                        <a:pt x="66683" y="150040"/>
                      </a:cubicBezTo>
                      <a:lnTo>
                        <a:pt x="58348" y="150040"/>
                      </a:lnTo>
                      <a:cubicBezTo>
                        <a:pt x="38033" y="150064"/>
                        <a:pt x="20661" y="135435"/>
                        <a:pt x="17227" y="115412"/>
                      </a:cubicBezTo>
                      <a:cubicBezTo>
                        <a:pt x="13794" y="95389"/>
                        <a:pt x="25299" y="75807"/>
                        <a:pt x="44461" y="69061"/>
                      </a:cubicBezTo>
                      <a:cubicBezTo>
                        <a:pt x="47789" y="67883"/>
                        <a:pt x="50013" y="64736"/>
                        <a:pt x="50014" y="61206"/>
                      </a:cubicBezTo>
                      <a:lnTo>
                        <a:pt x="50014" y="54195"/>
                      </a:lnTo>
                      <a:cubicBezTo>
                        <a:pt x="50014" y="35783"/>
                        <a:pt x="64940" y="20857"/>
                        <a:pt x="83352" y="20857"/>
                      </a:cubicBezTo>
                      <a:cubicBezTo>
                        <a:pt x="101763" y="20857"/>
                        <a:pt x="116689" y="35783"/>
                        <a:pt x="116689" y="54195"/>
                      </a:cubicBezTo>
                      <a:lnTo>
                        <a:pt x="116689" y="125308"/>
                      </a:lnTo>
                      <a:cubicBezTo>
                        <a:pt x="107537" y="117076"/>
                        <a:pt x="95661" y="112526"/>
                        <a:pt x="83352" y="112535"/>
                      </a:cubicBezTo>
                      <a:cubicBezTo>
                        <a:pt x="78749" y="112535"/>
                        <a:pt x="75017" y="116267"/>
                        <a:pt x="75017" y="120870"/>
                      </a:cubicBezTo>
                      <a:cubicBezTo>
                        <a:pt x="75017" y="125473"/>
                        <a:pt x="78749" y="129204"/>
                        <a:pt x="83352" y="129204"/>
                      </a:cubicBezTo>
                      <a:cubicBezTo>
                        <a:pt x="101763" y="129204"/>
                        <a:pt x="116689" y="144130"/>
                        <a:pt x="116689" y="162542"/>
                      </a:cubicBezTo>
                      <a:cubicBezTo>
                        <a:pt x="116689" y="180953"/>
                        <a:pt x="101763" y="195879"/>
                        <a:pt x="83352" y="195879"/>
                      </a:cubicBezTo>
                      <a:close/>
                      <a:moveTo>
                        <a:pt x="191698" y="150040"/>
                      </a:moveTo>
                      <a:lnTo>
                        <a:pt x="183364" y="150040"/>
                      </a:lnTo>
                      <a:cubicBezTo>
                        <a:pt x="178761" y="150040"/>
                        <a:pt x="175030" y="153771"/>
                        <a:pt x="175030" y="158374"/>
                      </a:cubicBezTo>
                      <a:cubicBezTo>
                        <a:pt x="175030" y="162977"/>
                        <a:pt x="178761" y="166709"/>
                        <a:pt x="183364" y="166709"/>
                      </a:cubicBezTo>
                      <a:lnTo>
                        <a:pt x="191698" y="166709"/>
                      </a:lnTo>
                      <a:cubicBezTo>
                        <a:pt x="194421" y="166705"/>
                        <a:pt x="197140" y="166510"/>
                        <a:pt x="199835" y="166125"/>
                      </a:cubicBezTo>
                      <a:cubicBezTo>
                        <a:pt x="197906" y="183968"/>
                        <a:pt x="182198" y="197081"/>
                        <a:pt x="164297" y="195793"/>
                      </a:cubicBezTo>
                      <a:cubicBezTo>
                        <a:pt x="146397" y="194505"/>
                        <a:pt x="132729" y="179277"/>
                        <a:pt x="133375" y="161342"/>
                      </a:cubicBezTo>
                      <a:cubicBezTo>
                        <a:pt x="134021" y="143407"/>
                        <a:pt x="148749" y="129201"/>
                        <a:pt x="166695" y="129204"/>
                      </a:cubicBezTo>
                      <a:cubicBezTo>
                        <a:pt x="171298" y="129204"/>
                        <a:pt x="175030" y="125473"/>
                        <a:pt x="175030" y="120870"/>
                      </a:cubicBezTo>
                      <a:cubicBezTo>
                        <a:pt x="175030" y="116267"/>
                        <a:pt x="171298" y="112535"/>
                        <a:pt x="166695" y="112535"/>
                      </a:cubicBezTo>
                      <a:cubicBezTo>
                        <a:pt x="154386" y="112526"/>
                        <a:pt x="142510" y="117076"/>
                        <a:pt x="133358" y="125308"/>
                      </a:cubicBezTo>
                      <a:lnTo>
                        <a:pt x="133358" y="54195"/>
                      </a:lnTo>
                      <a:cubicBezTo>
                        <a:pt x="133358" y="35783"/>
                        <a:pt x="148284" y="20857"/>
                        <a:pt x="166695" y="20857"/>
                      </a:cubicBezTo>
                      <a:cubicBezTo>
                        <a:pt x="185107" y="20857"/>
                        <a:pt x="200033" y="35783"/>
                        <a:pt x="200033" y="54195"/>
                      </a:cubicBezTo>
                      <a:lnTo>
                        <a:pt x="200033" y="61206"/>
                      </a:lnTo>
                      <a:cubicBezTo>
                        <a:pt x="200033" y="64736"/>
                        <a:pt x="202258" y="67883"/>
                        <a:pt x="205586" y="69061"/>
                      </a:cubicBezTo>
                      <a:cubicBezTo>
                        <a:pt x="224748" y="75807"/>
                        <a:pt x="236253" y="95389"/>
                        <a:pt x="232819" y="115412"/>
                      </a:cubicBezTo>
                      <a:cubicBezTo>
                        <a:pt x="229386" y="135435"/>
                        <a:pt x="212014" y="150064"/>
                        <a:pt x="191698" y="150040"/>
                      </a:cubicBezTo>
                      <a:close/>
                      <a:moveTo>
                        <a:pt x="208367" y="95867"/>
                      </a:moveTo>
                      <a:cubicBezTo>
                        <a:pt x="208367" y="100469"/>
                        <a:pt x="204636" y="104201"/>
                        <a:pt x="200033" y="104201"/>
                      </a:cubicBezTo>
                      <a:lnTo>
                        <a:pt x="195866" y="104201"/>
                      </a:lnTo>
                      <a:cubicBezTo>
                        <a:pt x="175152" y="104201"/>
                        <a:pt x="158361" y="87409"/>
                        <a:pt x="158361" y="66696"/>
                      </a:cubicBezTo>
                      <a:lnTo>
                        <a:pt x="158361" y="62529"/>
                      </a:lnTo>
                      <a:cubicBezTo>
                        <a:pt x="158361" y="57926"/>
                        <a:pt x="162092" y="54195"/>
                        <a:pt x="166695" y="54195"/>
                      </a:cubicBezTo>
                      <a:cubicBezTo>
                        <a:pt x="171298" y="54195"/>
                        <a:pt x="175030" y="57926"/>
                        <a:pt x="175030" y="62529"/>
                      </a:cubicBezTo>
                      <a:lnTo>
                        <a:pt x="175030" y="66696"/>
                      </a:lnTo>
                      <a:cubicBezTo>
                        <a:pt x="175030" y="78204"/>
                        <a:pt x="184358" y="87532"/>
                        <a:pt x="195866" y="87532"/>
                      </a:cubicBezTo>
                      <a:lnTo>
                        <a:pt x="200033" y="87532"/>
                      </a:lnTo>
                      <a:cubicBezTo>
                        <a:pt x="204636" y="87532"/>
                        <a:pt x="208367" y="91264"/>
                        <a:pt x="208367" y="95867"/>
                      </a:cubicBezTo>
                      <a:close/>
                      <a:moveTo>
                        <a:pt x="54181" y="104201"/>
                      </a:moveTo>
                      <a:lnTo>
                        <a:pt x="50014" y="104201"/>
                      </a:lnTo>
                      <a:cubicBezTo>
                        <a:pt x="45411" y="104201"/>
                        <a:pt x="41680" y="100469"/>
                        <a:pt x="41680" y="95867"/>
                      </a:cubicBezTo>
                      <a:cubicBezTo>
                        <a:pt x="41680" y="91264"/>
                        <a:pt x="45411" y="87532"/>
                        <a:pt x="50014" y="87532"/>
                      </a:cubicBezTo>
                      <a:lnTo>
                        <a:pt x="54181" y="87532"/>
                      </a:lnTo>
                      <a:cubicBezTo>
                        <a:pt x="65689" y="87532"/>
                        <a:pt x="75017" y="78204"/>
                        <a:pt x="75017" y="66696"/>
                      </a:cubicBezTo>
                      <a:lnTo>
                        <a:pt x="75017" y="62529"/>
                      </a:lnTo>
                      <a:cubicBezTo>
                        <a:pt x="75017" y="57926"/>
                        <a:pt x="78749" y="54195"/>
                        <a:pt x="83352" y="54195"/>
                      </a:cubicBezTo>
                      <a:cubicBezTo>
                        <a:pt x="87955" y="54195"/>
                        <a:pt x="91686" y="57926"/>
                        <a:pt x="91686" y="62529"/>
                      </a:cubicBezTo>
                      <a:lnTo>
                        <a:pt x="91686" y="66696"/>
                      </a:lnTo>
                      <a:cubicBezTo>
                        <a:pt x="91686" y="87409"/>
                        <a:pt x="74895" y="104201"/>
                        <a:pt x="54181" y="104201"/>
                      </a:cubicBezTo>
                      <a:close/>
                    </a:path>
                  </a:pathLst>
                </a:custGeom>
                <a:solidFill>
                  <a:srgbClr val="2E7D32"/>
                </a:solidFill>
                <a:ln>
                  <a:noFill/>
                </a:ln>
              </p:spPr>
            </p:sp>
          </p:grpSp>
          <p:sp>
            <p:nvSpPr>
              <p:cNvPr id="29" name="TextBox 29"/>
              <p:cNvSpPr txBox="1"/>
              <p:nvPr/>
            </p:nvSpPr>
            <p:spPr bwMode="auto">
              <a:xfrm>
                <a:off x="970647" y="263174"/>
                <a:ext cx="2740790" cy="20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Training &amp; evaluation layer</a:t>
                </a:r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 bwMode="auto">
              <a:xfrm>
                <a:off x="973553" y="599332"/>
                <a:ext cx="6730233" cy="1756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PyTorch + timm, AMP, early stopping, Focal Loss, MLflow tracking, OOF и holdout</a:t>
                </a: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 bwMode="auto">
            <a:xfrm flipH="0" flipV="0">
              <a:off x="0" y="2557151"/>
              <a:ext cx="11314537" cy="1108099"/>
              <a:chOff x="0" y="0"/>
              <a:chExt cx="11314537" cy="1108099"/>
            </a:xfrm>
          </p:grpSpPr>
          <p:sp>
            <p:nvSpPr>
              <p:cNvPr id="38" name="Rectangle 38"/>
              <p:cNvSpPr/>
              <p:nvPr/>
            </p:nvSpPr>
            <p:spPr bwMode="auto">
              <a:xfrm>
                <a:off x="0" y="0"/>
                <a:ext cx="11314537" cy="1108099"/>
              </a:xfrm>
              <a:prstGeom prst="roundRect">
                <a:avLst>
                  <a:gd name="adj" fmla="val 15385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</p:spPr>
            <p:txBody>
              <a:bodyPr/>
              <a:p>
                <a:pPr>
                  <a:defRPr/>
                </a:pPr>
                <a:endParaRPr/>
              </a:p>
            </p:txBody>
          </p:sp>
          <p:sp>
            <p:nvSpPr>
              <p:cNvPr id="39" name="Rectangle 39"/>
              <p:cNvSpPr/>
              <p:nvPr/>
            </p:nvSpPr>
            <p:spPr bwMode="auto">
              <a:xfrm>
                <a:off x="232490" y="234405"/>
                <a:ext cx="561852" cy="617978"/>
              </a:xfrm>
              <a:prstGeom prst="roundRect">
                <a:avLst>
                  <a:gd name="adj" fmla="val 20690"/>
                </a:avLst>
              </a:prstGeom>
              <a:solidFill>
                <a:srgbClr val="EAF3FB"/>
              </a:solidFill>
              <a:ln w="9525">
                <a:solidFill>
                  <a:srgbClr val="D8E1EA"/>
                </a:solidFill>
              </a:ln>
            </p:spPr>
          </p:sp>
          <p:grpSp>
            <p:nvGrpSpPr>
              <p:cNvPr id="42" name="Group 42"/>
              <p:cNvGrpSpPr/>
              <p:nvPr/>
            </p:nvGrpSpPr>
            <p:grpSpPr bwMode="auto">
              <a:xfrm flipH="0" flipV="0">
                <a:off x="411701" y="422194"/>
                <a:ext cx="196026" cy="223755"/>
                <a:chOff x="0" y="0"/>
                <a:chExt cx="196026" cy="223755"/>
              </a:xfrm>
            </p:grpSpPr>
            <p:sp>
              <p:nvSpPr>
                <p:cNvPr id="40" name="Freeform 40"/>
                <p:cNvSpPr/>
                <p:nvPr/>
              </p:nvSpPr>
              <p:spPr bwMode="auto">
                <a:xfrm>
                  <a:off x="127143" y="9324"/>
                  <a:ext cx="59333" cy="65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341" h="58341" fill="norm" stroke="1" extrusionOk="0">
                      <a:moveTo>
                        <a:pt x="58341" y="58341"/>
                      </a:moveTo>
                      <a:lnTo>
                        <a:pt x="0" y="5834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41" name="Freeform 41"/>
                <p:cNvSpPr/>
                <p:nvPr/>
              </p:nvSpPr>
              <p:spPr bwMode="auto">
                <a:xfrm>
                  <a:off x="0" y="0"/>
                  <a:ext cx="196026" cy="2237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46" h="200029" fill="norm" stroke="1" extrusionOk="0">
                      <a:moveTo>
                        <a:pt x="16669" y="162522"/>
                      </a:moveTo>
                      <a:cubicBezTo>
                        <a:pt x="16669" y="173982"/>
                        <a:pt x="24149" y="183358"/>
                        <a:pt x="33338" y="183358"/>
                      </a:cubicBezTo>
                      <a:cubicBezTo>
                        <a:pt x="37402" y="183267"/>
                        <a:pt x="41251" y="181512"/>
                        <a:pt x="43985" y="178503"/>
                      </a:cubicBezTo>
                      <a:cubicBezTo>
                        <a:pt x="47180" y="175249"/>
                        <a:pt x="52398" y="175167"/>
                        <a:pt x="55693" y="178320"/>
                      </a:cubicBezTo>
                      <a:cubicBezTo>
                        <a:pt x="58989" y="181473"/>
                        <a:pt x="59138" y="186689"/>
                        <a:pt x="56028" y="190025"/>
                      </a:cubicBezTo>
                      <a:cubicBezTo>
                        <a:pt x="50163" y="196339"/>
                        <a:pt x="41955" y="199957"/>
                        <a:pt x="33338" y="200027"/>
                      </a:cubicBezTo>
                      <a:cubicBezTo>
                        <a:pt x="14950" y="200027"/>
                        <a:pt x="0" y="183202"/>
                        <a:pt x="0" y="162522"/>
                      </a:cubicBezTo>
                      <a:cubicBezTo>
                        <a:pt x="0" y="141842"/>
                        <a:pt x="14950" y="125017"/>
                        <a:pt x="33338" y="125017"/>
                      </a:cubicBezTo>
                      <a:cubicBezTo>
                        <a:pt x="41955" y="125087"/>
                        <a:pt x="50163" y="128705"/>
                        <a:pt x="56028" y="135019"/>
                      </a:cubicBezTo>
                      <a:cubicBezTo>
                        <a:pt x="59138" y="138355"/>
                        <a:pt x="58989" y="143571"/>
                        <a:pt x="55693" y="146724"/>
                      </a:cubicBezTo>
                      <a:cubicBezTo>
                        <a:pt x="52398" y="149877"/>
                        <a:pt x="47180" y="149795"/>
                        <a:pt x="43985" y="146541"/>
                      </a:cubicBezTo>
                      <a:cubicBezTo>
                        <a:pt x="41251" y="143532"/>
                        <a:pt x="37402" y="141777"/>
                        <a:pt x="33338" y="141686"/>
                      </a:cubicBezTo>
                      <a:cubicBezTo>
                        <a:pt x="24149" y="141686"/>
                        <a:pt x="16669" y="151062"/>
                        <a:pt x="16669" y="162522"/>
                      </a:cubicBezTo>
                      <a:close/>
                      <a:moveTo>
                        <a:pt x="99596" y="153469"/>
                      </a:moveTo>
                      <a:cubicBezTo>
                        <a:pt x="95429" y="152260"/>
                        <a:pt x="91116" y="151021"/>
                        <a:pt x="88709" y="149468"/>
                      </a:cubicBezTo>
                      <a:cubicBezTo>
                        <a:pt x="87407" y="148624"/>
                        <a:pt x="87428" y="148427"/>
                        <a:pt x="87542" y="147489"/>
                      </a:cubicBezTo>
                      <a:cubicBezTo>
                        <a:pt x="87579" y="145953"/>
                        <a:pt x="88355" y="144529"/>
                        <a:pt x="89626" y="143666"/>
                      </a:cubicBezTo>
                      <a:cubicBezTo>
                        <a:pt x="94418" y="140415"/>
                        <a:pt x="105607" y="141863"/>
                        <a:pt x="110285" y="143082"/>
                      </a:cubicBezTo>
                      <a:cubicBezTo>
                        <a:pt x="114738" y="144273"/>
                        <a:pt x="119314" y="141628"/>
                        <a:pt x="120505" y="137175"/>
                      </a:cubicBezTo>
                      <a:cubicBezTo>
                        <a:pt x="121696" y="132722"/>
                        <a:pt x="119051" y="128146"/>
                        <a:pt x="114598" y="126955"/>
                      </a:cubicBezTo>
                      <a:cubicBezTo>
                        <a:pt x="112389" y="126382"/>
                        <a:pt x="92720" y="121517"/>
                        <a:pt x="80385" y="129830"/>
                      </a:cubicBezTo>
                      <a:cubicBezTo>
                        <a:pt x="75104" y="133375"/>
                        <a:pt x="71670" y="139080"/>
                        <a:pt x="71009" y="145405"/>
                      </a:cubicBezTo>
                      <a:cubicBezTo>
                        <a:pt x="68925" y="161949"/>
                        <a:pt x="85229" y="166668"/>
                        <a:pt x="94970" y="169481"/>
                      </a:cubicBezTo>
                      <a:cubicBezTo>
                        <a:pt x="107534" y="173117"/>
                        <a:pt x="108639" y="174607"/>
                        <a:pt x="108284" y="177388"/>
                      </a:cubicBezTo>
                      <a:cubicBezTo>
                        <a:pt x="107961" y="179899"/>
                        <a:pt x="106972" y="180868"/>
                        <a:pt x="106055" y="181483"/>
                      </a:cubicBezTo>
                      <a:cubicBezTo>
                        <a:pt x="101263" y="184671"/>
                        <a:pt x="90251" y="183108"/>
                        <a:pt x="85688" y="181858"/>
                      </a:cubicBezTo>
                      <a:cubicBezTo>
                        <a:pt x="81246" y="180618"/>
                        <a:pt x="76640" y="183214"/>
                        <a:pt x="75400" y="187655"/>
                      </a:cubicBezTo>
                      <a:cubicBezTo>
                        <a:pt x="74160" y="192097"/>
                        <a:pt x="76756" y="196703"/>
                        <a:pt x="81198" y="197943"/>
                      </a:cubicBezTo>
                      <a:cubicBezTo>
                        <a:pt x="86365" y="199296"/>
                        <a:pt x="91681" y="199996"/>
                        <a:pt x="97023" y="200027"/>
                      </a:cubicBezTo>
                      <a:cubicBezTo>
                        <a:pt x="103086" y="200027"/>
                        <a:pt x="109837" y="198985"/>
                        <a:pt x="115244" y="195380"/>
                      </a:cubicBezTo>
                      <a:cubicBezTo>
                        <a:pt x="120647" y="191790"/>
                        <a:pt x="124160" y="185968"/>
                        <a:pt x="124818" y="179514"/>
                      </a:cubicBezTo>
                      <a:cubicBezTo>
                        <a:pt x="127099" y="161480"/>
                        <a:pt x="109899" y="156448"/>
                        <a:pt x="99596" y="153469"/>
                      </a:cubicBezTo>
                      <a:close/>
                      <a:moveTo>
                        <a:pt x="186159" y="125507"/>
                      </a:moveTo>
                      <a:cubicBezTo>
                        <a:pt x="184077" y="124762"/>
                        <a:pt x="181784" y="124874"/>
                        <a:pt x="179785" y="125820"/>
                      </a:cubicBezTo>
                      <a:cubicBezTo>
                        <a:pt x="177786" y="126766"/>
                        <a:pt x="176245" y="128467"/>
                        <a:pt x="175501" y="130549"/>
                      </a:cubicBezTo>
                      <a:lnTo>
                        <a:pt x="162520" y="166908"/>
                      </a:lnTo>
                      <a:lnTo>
                        <a:pt x="149529" y="130549"/>
                      </a:lnTo>
                      <a:cubicBezTo>
                        <a:pt x="147981" y="126214"/>
                        <a:pt x="143212" y="123954"/>
                        <a:pt x="138877" y="125502"/>
                      </a:cubicBezTo>
                      <a:cubicBezTo>
                        <a:pt x="134541" y="127050"/>
                        <a:pt x="132281" y="131819"/>
                        <a:pt x="133829" y="136154"/>
                      </a:cubicBezTo>
                      <a:lnTo>
                        <a:pt x="154665" y="194495"/>
                      </a:lnTo>
                      <a:cubicBezTo>
                        <a:pt x="155849" y="197813"/>
                        <a:pt x="158992" y="200029"/>
                        <a:pt x="162515" y="200029"/>
                      </a:cubicBezTo>
                      <a:cubicBezTo>
                        <a:pt x="166039" y="200029"/>
                        <a:pt x="169181" y="197813"/>
                        <a:pt x="170365" y="194495"/>
                      </a:cubicBezTo>
                      <a:lnTo>
                        <a:pt x="191201" y="136154"/>
                      </a:lnTo>
                      <a:cubicBezTo>
                        <a:pt x="192746" y="131822"/>
                        <a:pt x="190490" y="127057"/>
                        <a:pt x="186159" y="125507"/>
                      </a:cubicBezTo>
                      <a:close/>
                      <a:moveTo>
                        <a:pt x="191691" y="66677"/>
                      </a:moveTo>
                      <a:lnTo>
                        <a:pt x="191691" y="91680"/>
                      </a:lnTo>
                      <a:cubicBezTo>
                        <a:pt x="191691" y="96283"/>
                        <a:pt x="187959" y="100014"/>
                        <a:pt x="183356" y="100014"/>
                      </a:cubicBezTo>
                      <a:cubicBezTo>
                        <a:pt x="178753" y="100014"/>
                        <a:pt x="175022" y="96283"/>
                        <a:pt x="175022" y="91680"/>
                      </a:cubicBezTo>
                      <a:lnTo>
                        <a:pt x="175022" y="75011"/>
                      </a:lnTo>
                      <a:lnTo>
                        <a:pt x="125016" y="75011"/>
                      </a:lnTo>
                      <a:cubicBezTo>
                        <a:pt x="120413" y="75011"/>
                        <a:pt x="116681" y="71280"/>
                        <a:pt x="116681" y="66677"/>
                      </a:cubicBezTo>
                      <a:lnTo>
                        <a:pt x="116681" y="16670"/>
                      </a:lnTo>
                      <a:lnTo>
                        <a:pt x="25003" y="16670"/>
                      </a:lnTo>
                      <a:lnTo>
                        <a:pt x="25003" y="91680"/>
                      </a:lnTo>
                      <a:cubicBezTo>
                        <a:pt x="25003" y="96283"/>
                        <a:pt x="21272" y="100014"/>
                        <a:pt x="16669" y="100014"/>
                      </a:cubicBezTo>
                      <a:cubicBezTo>
                        <a:pt x="12066" y="100014"/>
                        <a:pt x="8334" y="96283"/>
                        <a:pt x="8334" y="91680"/>
                      </a:cubicBezTo>
                      <a:lnTo>
                        <a:pt x="8334" y="16670"/>
                      </a:lnTo>
                      <a:cubicBezTo>
                        <a:pt x="8334" y="7465"/>
                        <a:pt x="15797" y="2"/>
                        <a:pt x="25003" y="2"/>
                      </a:cubicBezTo>
                      <a:lnTo>
                        <a:pt x="125016" y="2"/>
                      </a:lnTo>
                      <a:cubicBezTo>
                        <a:pt x="127227" y="0"/>
                        <a:pt x="129348" y="877"/>
                        <a:pt x="130912" y="2440"/>
                      </a:cubicBezTo>
                      <a:lnTo>
                        <a:pt x="189253" y="60780"/>
                      </a:lnTo>
                      <a:cubicBezTo>
                        <a:pt x="190815" y="62345"/>
                        <a:pt x="191692" y="64466"/>
                        <a:pt x="191691" y="66677"/>
                      </a:cubicBezTo>
                      <a:close/>
                      <a:moveTo>
                        <a:pt x="163239" y="58342"/>
                      </a:moveTo>
                      <a:lnTo>
                        <a:pt x="133350" y="28453"/>
                      </a:lnTo>
                      <a:lnTo>
                        <a:pt x="133350" y="58342"/>
                      </a:ln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 bwMode="auto">
              <a:xfrm>
                <a:off x="970647" y="263174"/>
                <a:ext cx="2614461" cy="20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0F2A44"/>
                    </a:solidFill>
                    <a:latin typeface="Arial"/>
                    <a:ea typeface="Microsoft YaHei"/>
                    <a:cs typeface="Arial"/>
                  </a:rPr>
                  <a:t>Release &amp; inference layer</a:t>
                </a:r>
                <a:endParaRPr/>
              </a:p>
            </p:txBody>
          </p:sp>
          <p:sp>
            <p:nvSpPr>
              <p:cNvPr id="44" name="TextBox 44"/>
              <p:cNvSpPr txBox="1"/>
              <p:nvPr/>
            </p:nvSpPr>
            <p:spPr bwMode="auto">
              <a:xfrm>
                <a:off x="973553" y="599332"/>
                <a:ext cx="8568360" cy="1756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`configs/release/rc1.yaml`, checkpoint, `RoomPredictor`, `submission.csv`, validation before sending</a:t>
                </a: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 bwMode="auto">
            <a:xfrm flipH="0" flipV="0">
              <a:off x="7207520" y="4282697"/>
              <a:ext cx="3594141" cy="152759"/>
              <a:chOff x="0" y="0"/>
              <a:chExt cx="3594141" cy="152759"/>
            </a:xfrm>
          </p:grpSpPr>
          <p:sp>
            <p:nvSpPr>
              <p:cNvPr id="60" name="TextBox 60"/>
              <p:cNvSpPr txBox="1"/>
              <p:nvPr/>
            </p:nvSpPr>
            <p:spPr bwMode="auto">
              <a:xfrm>
                <a:off x="0" y="0"/>
                <a:ext cx="503459" cy="1527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Docker</a:t>
                </a:r>
                <a:endParaRPr/>
              </a:p>
            </p:txBody>
          </p:sp>
          <p:sp>
            <p:nvSpPr>
              <p:cNvPr id="62" name="TextBox 62"/>
              <p:cNvSpPr txBox="1"/>
              <p:nvPr/>
            </p:nvSpPr>
            <p:spPr bwMode="auto">
              <a:xfrm>
                <a:off x="1393864" y="0"/>
                <a:ext cx="583111" cy="1527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Jupyter</a:t>
                </a:r>
                <a:endParaRPr/>
              </a:p>
            </p:txBody>
          </p:sp>
          <p:sp>
            <p:nvSpPr>
              <p:cNvPr id="64" name="TextBox 64"/>
              <p:cNvSpPr txBox="1"/>
              <p:nvPr/>
            </p:nvSpPr>
            <p:spPr bwMode="auto">
              <a:xfrm>
                <a:off x="2663456" y="0"/>
                <a:ext cx="930685" cy="1527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0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demo/app.py</a:t>
                </a:r>
                <a:endParaRPr/>
              </a:p>
            </p:txBody>
          </p:sp>
        </p:grpSp>
      </p:grpSp>
      <p:sp>
        <p:nvSpPr>
          <p:cNvPr id="5" name="TextBox 5"/>
          <p:cNvSpPr txBox="1"/>
          <p:nvPr/>
        </p:nvSpPr>
        <p:spPr bwMode="auto">
          <a:xfrm rot="0" flipH="0" flipV="0">
            <a:off x="501014" y="248602"/>
            <a:ext cx="11465415" cy="7775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Решение можно повторно запустить локально, через Docker или через release-конфиг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2" name="Group 62"/>
          <p:cNvGrpSpPr/>
          <p:nvPr/>
        </p:nvGrpSpPr>
        <p:grpSpPr bwMode="auto">
          <a:xfrm>
            <a:off x="533399" y="1504950"/>
            <a:ext cx="11125200" cy="4171950"/>
            <a:chOff x="0" y="0"/>
            <a:chExt cx="11125200" cy="4171950"/>
          </a:xfrm>
        </p:grpSpPr>
        <p:grpSp>
          <p:nvGrpSpPr>
            <p:cNvPr id="26" name="Group 26"/>
            <p:cNvGrpSpPr/>
            <p:nvPr/>
          </p:nvGrpSpPr>
          <p:grpSpPr bwMode="auto">
            <a:xfrm>
              <a:off x="0" y="0"/>
              <a:ext cx="2952750" cy="4171950"/>
              <a:chOff x="0" y="0"/>
              <a:chExt cx="2952750" cy="4171950"/>
            </a:xfrm>
          </p:grpSpPr>
          <p:sp>
            <p:nvSpPr>
              <p:cNvPr id="9" name="Rectangle 9"/>
              <p:cNvSpPr/>
              <p:nvPr/>
            </p:nvSpPr>
            <p:spPr bwMode="auto">
              <a:xfrm>
                <a:off x="0" y="0"/>
                <a:ext cx="2952750" cy="4171950"/>
              </a:xfrm>
              <a:prstGeom prst="roundRect">
                <a:avLst>
                  <a:gd name="adj" fmla="val 5806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0" name="Rectangle 10"/>
              <p:cNvSpPr/>
              <p:nvPr/>
            </p:nvSpPr>
            <p:spPr bwMode="auto">
              <a:xfrm>
                <a:off x="0" y="0"/>
                <a:ext cx="2952750" cy="495300"/>
              </a:xfrm>
              <a:prstGeom prst="roundRect">
                <a:avLst>
                  <a:gd name="adj" fmla="val 34615"/>
                </a:avLst>
              </a:prstGeom>
              <a:solidFill>
                <a:srgbClr val="EAF3FB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1" name="TextBox 11"/>
              <p:cNvSpPr txBox="1"/>
              <p:nvPr/>
            </p:nvSpPr>
            <p:spPr bwMode="auto">
              <a:xfrm>
                <a:off x="755342" y="178118"/>
                <a:ext cx="1442066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CLIENT / DEMO</a:t>
                </a:r>
                <a:endParaRPr/>
              </a:p>
            </p:txBody>
          </p:sp>
          <p:grpSp>
            <p:nvGrpSpPr>
              <p:cNvPr id="18" name="Group 18"/>
              <p:cNvGrpSpPr/>
              <p:nvPr/>
            </p:nvGrpSpPr>
            <p:grpSpPr bwMode="auto">
              <a:xfrm>
                <a:off x="304800" y="895350"/>
                <a:ext cx="2343150" cy="1066800"/>
                <a:chOff x="0" y="0"/>
                <a:chExt cx="2343150" cy="1066800"/>
              </a:xfrm>
            </p:grpSpPr>
            <p:sp>
              <p:nvSpPr>
                <p:cNvPr id="12" name="Rectangle 12"/>
                <p:cNvSpPr/>
                <p:nvPr/>
              </p:nvSpPr>
              <p:spPr bwMode="auto">
                <a:xfrm>
                  <a:off x="0" y="0"/>
                  <a:ext cx="2343150" cy="1066800"/>
                </a:xfrm>
                <a:prstGeom prst="roundRect">
                  <a:avLst>
                    <a:gd name="adj" fmla="val 12500"/>
                  </a:avLst>
                </a:prstGeom>
                <a:solidFill>
                  <a:srgbClr val="F8FAFC"/>
                </a:solidFill>
                <a:ln w="9525">
                  <a:solidFill>
                    <a:srgbClr val="D8E1EA"/>
                  </a:solidFill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grpSp>
              <p:nvGrpSpPr>
                <p:cNvPr id="15" name="Group 15"/>
                <p:cNvGrpSpPr/>
                <p:nvPr/>
              </p:nvGrpSpPr>
              <p:grpSpPr bwMode="auto">
                <a:xfrm>
                  <a:off x="258960" y="317302"/>
                  <a:ext cx="263128" cy="222647"/>
                  <a:chOff x="0" y="0"/>
                  <a:chExt cx="263128" cy="222647"/>
                </a:xfrm>
              </p:grpSpPr>
              <p:sp>
                <p:nvSpPr>
                  <p:cNvPr id="13" name="Freeform 13"/>
                  <p:cNvSpPr/>
                  <p:nvPr/>
                </p:nvSpPr>
                <p:spPr bwMode="auto">
                  <a:xfrm>
                    <a:off x="10120" y="10120"/>
                    <a:ext cx="242888" cy="164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888" h="164531" fill="norm" stroke="1" extrusionOk="0">
                        <a:moveTo>
                          <a:pt x="242888" y="10120"/>
                        </a:moveTo>
                        <a:lnTo>
                          <a:pt x="242888" y="164531"/>
                        </a:lnTo>
                        <a:lnTo>
                          <a:pt x="192640" y="114284"/>
                        </a:lnTo>
                        <a:cubicBezTo>
                          <a:pt x="188688" y="110335"/>
                          <a:pt x="182284" y="110335"/>
                          <a:pt x="178333" y="114284"/>
                        </a:cubicBezTo>
                        <a:lnTo>
                          <a:pt x="145872" y="146745"/>
                        </a:lnTo>
                        <a:lnTo>
                          <a:pt x="83062" y="83923"/>
                        </a:lnTo>
                        <a:cubicBezTo>
                          <a:pt x="81164" y="82022"/>
                          <a:pt x="78588" y="80955"/>
                          <a:pt x="75902" y="80955"/>
                        </a:cubicBezTo>
                        <a:cubicBezTo>
                          <a:pt x="73216" y="80955"/>
                          <a:pt x="70640" y="82022"/>
                          <a:pt x="68742" y="83923"/>
                        </a:cubicBezTo>
                        <a:lnTo>
                          <a:pt x="0" y="152678"/>
                        </a:lnTo>
                        <a:lnTo>
                          <a:pt x="0" y="10120"/>
                        </a:lnTo>
                        <a:cubicBezTo>
                          <a:pt x="0" y="4531"/>
                          <a:pt x="4531" y="0"/>
                          <a:pt x="10120" y="0"/>
                        </a:cubicBezTo>
                        <a:lnTo>
                          <a:pt x="232767" y="0"/>
                        </a:lnTo>
                        <a:cubicBezTo>
                          <a:pt x="238356" y="0"/>
                          <a:pt x="242888" y="4531"/>
                          <a:pt x="242888" y="10120"/>
                        </a:cubicBezTo>
                        <a:close/>
                      </a:path>
                    </a:pathLst>
                  </a:custGeom>
                  <a:solidFill>
                    <a:srgbClr val="1565C0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14" name="Freeform 14"/>
                  <p:cNvSpPr/>
                  <p:nvPr/>
                </p:nvSpPr>
                <p:spPr bwMode="auto">
                  <a:xfrm>
                    <a:off x="0" y="0"/>
                    <a:ext cx="263128" cy="2226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3128" h="222647" fill="norm" stroke="1" extrusionOk="0">
                        <a:moveTo>
                          <a:pt x="242888" y="0"/>
                        </a:moveTo>
                        <a:lnTo>
                          <a:pt x="20241" y="0"/>
                        </a:lnTo>
                        <a:cubicBezTo>
                          <a:pt x="9062" y="0"/>
                          <a:pt x="0" y="9062"/>
                          <a:pt x="0" y="20241"/>
                        </a:cubicBezTo>
                        <a:lnTo>
                          <a:pt x="0" y="202406"/>
                        </a:lnTo>
                        <a:cubicBezTo>
                          <a:pt x="0" y="213585"/>
                          <a:pt x="9062" y="222647"/>
                          <a:pt x="20241" y="222647"/>
                        </a:cubicBezTo>
                        <a:lnTo>
                          <a:pt x="242888" y="222647"/>
                        </a:lnTo>
                        <a:cubicBezTo>
                          <a:pt x="254066" y="222647"/>
                          <a:pt x="263128" y="213585"/>
                          <a:pt x="263128" y="202406"/>
                        </a:cubicBezTo>
                        <a:lnTo>
                          <a:pt x="263128" y="20241"/>
                        </a:lnTo>
                        <a:cubicBezTo>
                          <a:pt x="263128" y="9062"/>
                          <a:pt x="254066" y="0"/>
                          <a:pt x="242888" y="0"/>
                        </a:cubicBezTo>
                        <a:close/>
                        <a:moveTo>
                          <a:pt x="242888" y="20241"/>
                        </a:moveTo>
                        <a:lnTo>
                          <a:pt x="242888" y="150223"/>
                        </a:lnTo>
                        <a:lnTo>
                          <a:pt x="209908" y="117256"/>
                        </a:lnTo>
                        <a:cubicBezTo>
                          <a:pt x="206112" y="113460"/>
                          <a:pt x="200963" y="111326"/>
                          <a:pt x="195594" y="111326"/>
                        </a:cubicBezTo>
                        <a:cubicBezTo>
                          <a:pt x="190225" y="111326"/>
                          <a:pt x="185076" y="113460"/>
                          <a:pt x="181280" y="117256"/>
                        </a:cubicBezTo>
                        <a:lnTo>
                          <a:pt x="155979" y="142557"/>
                        </a:lnTo>
                        <a:lnTo>
                          <a:pt x="100318" y="86896"/>
                        </a:lnTo>
                        <a:cubicBezTo>
                          <a:pt x="92414" y="78997"/>
                          <a:pt x="79606" y="78997"/>
                          <a:pt x="71702" y="86896"/>
                        </a:cubicBezTo>
                        <a:lnTo>
                          <a:pt x="20241" y="138357"/>
                        </a:lnTo>
                        <a:lnTo>
                          <a:pt x="20241" y="20241"/>
                        </a:lnTo>
                        <a:close/>
                        <a:moveTo>
                          <a:pt x="20241" y="166985"/>
                        </a:moveTo>
                        <a:lnTo>
                          <a:pt x="86023" y="101203"/>
                        </a:lnTo>
                        <a:lnTo>
                          <a:pt x="187226" y="202406"/>
                        </a:lnTo>
                        <a:lnTo>
                          <a:pt x="20241" y="202406"/>
                        </a:lnTo>
                        <a:close/>
                        <a:moveTo>
                          <a:pt x="242888" y="202406"/>
                        </a:moveTo>
                        <a:lnTo>
                          <a:pt x="215854" y="202406"/>
                        </a:lnTo>
                        <a:lnTo>
                          <a:pt x="170312" y="156865"/>
                        </a:lnTo>
                        <a:lnTo>
                          <a:pt x="195613" y="131564"/>
                        </a:lnTo>
                        <a:lnTo>
                          <a:pt x="242888" y="178851"/>
                        </a:lnTo>
                        <a:lnTo>
                          <a:pt x="242888" y="202406"/>
                        </a:lnTo>
                        <a:close/>
                        <a:moveTo>
                          <a:pt x="151805" y="75902"/>
                        </a:moveTo>
                        <a:cubicBezTo>
                          <a:pt x="151805" y="67518"/>
                          <a:pt x="158601" y="60722"/>
                          <a:pt x="166985" y="60722"/>
                        </a:cubicBezTo>
                        <a:cubicBezTo>
                          <a:pt x="175369" y="60722"/>
                          <a:pt x="182166" y="67518"/>
                          <a:pt x="182166" y="75902"/>
                        </a:cubicBezTo>
                        <a:cubicBezTo>
                          <a:pt x="182166" y="84286"/>
                          <a:pt x="175369" y="91083"/>
                          <a:pt x="166985" y="91083"/>
                        </a:cubicBezTo>
                        <a:cubicBezTo>
                          <a:pt x="158601" y="91083"/>
                          <a:pt x="151805" y="84286"/>
                          <a:pt x="151805" y="75902"/>
                        </a:cubicBezTo>
                        <a:close/>
                      </a:path>
                    </a:pathLst>
                  </a:custGeom>
                  <a:solidFill>
                    <a:srgbClr val="1565C0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16" name="TextBox 16"/>
                <p:cNvSpPr txBox="1"/>
                <p:nvPr/>
              </p:nvSpPr>
              <p:spPr bwMode="auto">
                <a:xfrm>
                  <a:off x="706754" y="235268"/>
                  <a:ext cx="1462769" cy="27432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5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Загрузка фото</a:t>
                  </a:r>
                  <a:endParaRPr/>
                </a:p>
              </p:txBody>
            </p:sp>
          </p:grpSp>
          <p:grpSp>
            <p:nvGrpSpPr>
              <p:cNvPr id="25" name="Group 25"/>
              <p:cNvGrpSpPr/>
              <p:nvPr/>
            </p:nvGrpSpPr>
            <p:grpSpPr bwMode="auto">
              <a:xfrm>
                <a:off x="304800" y="2305050"/>
                <a:ext cx="2343150" cy="1066800"/>
                <a:chOff x="0" y="0"/>
                <a:chExt cx="2343150" cy="1066800"/>
              </a:xfrm>
            </p:grpSpPr>
            <p:sp>
              <p:nvSpPr>
                <p:cNvPr id="19" name="Rectangle 19"/>
                <p:cNvSpPr/>
                <p:nvPr/>
              </p:nvSpPr>
              <p:spPr bwMode="auto">
                <a:xfrm>
                  <a:off x="0" y="0"/>
                  <a:ext cx="2343150" cy="1066800"/>
                </a:xfrm>
                <a:prstGeom prst="roundRect">
                  <a:avLst>
                    <a:gd name="adj" fmla="val 12500"/>
                  </a:avLst>
                </a:prstGeom>
                <a:solidFill>
                  <a:srgbClr val="F8FAFC"/>
                </a:solidFill>
                <a:ln w="9525">
                  <a:solidFill>
                    <a:srgbClr val="D8E1EA"/>
                  </a:solidFill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grpSp>
              <p:nvGrpSpPr>
                <p:cNvPr id="22" name="Group 22"/>
                <p:cNvGrpSpPr/>
                <p:nvPr/>
              </p:nvGrpSpPr>
              <p:grpSpPr bwMode="auto">
                <a:xfrm>
                  <a:off x="258960" y="286941"/>
                  <a:ext cx="263128" cy="274528"/>
                  <a:chOff x="0" y="0"/>
                  <a:chExt cx="263128" cy="274528"/>
                </a:xfrm>
              </p:grpSpPr>
              <p:sp>
                <p:nvSpPr>
                  <p:cNvPr id="20" name="Freeform 20"/>
                  <p:cNvSpPr/>
                  <p:nvPr/>
                </p:nvSpPr>
                <p:spPr bwMode="auto">
                  <a:xfrm>
                    <a:off x="10120" y="40481"/>
                    <a:ext cx="242888" cy="17204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888" h="172045" fill="norm" stroke="1" extrusionOk="0">
                        <a:moveTo>
                          <a:pt x="242888" y="10120"/>
                        </a:moveTo>
                        <a:lnTo>
                          <a:pt x="242888" y="161925"/>
                        </a:lnTo>
                        <a:cubicBezTo>
                          <a:pt x="242888" y="167514"/>
                          <a:pt x="238356" y="172045"/>
                          <a:pt x="232767" y="172045"/>
                        </a:cubicBezTo>
                        <a:lnTo>
                          <a:pt x="10120" y="172045"/>
                        </a:lnTo>
                        <a:cubicBezTo>
                          <a:pt x="4531" y="172045"/>
                          <a:pt x="0" y="167514"/>
                          <a:pt x="0" y="161925"/>
                        </a:cubicBezTo>
                        <a:lnTo>
                          <a:pt x="0" y="10120"/>
                        </a:lnTo>
                        <a:cubicBezTo>
                          <a:pt x="0" y="4531"/>
                          <a:pt x="4531" y="0"/>
                          <a:pt x="10120" y="0"/>
                        </a:cubicBezTo>
                        <a:lnTo>
                          <a:pt x="232767" y="0"/>
                        </a:lnTo>
                        <a:cubicBezTo>
                          <a:pt x="238356" y="0"/>
                          <a:pt x="242888" y="4531"/>
                          <a:pt x="242888" y="10120"/>
                        </a:cubicBezTo>
                        <a:close/>
                      </a:path>
                    </a:pathLst>
                  </a:custGeom>
                  <a:solidFill>
                    <a:srgbClr val="1565C0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21" name="Freeform 21"/>
                  <p:cNvSpPr/>
                  <p:nvPr/>
                </p:nvSpPr>
                <p:spPr bwMode="auto">
                  <a:xfrm>
                    <a:off x="0" y="0"/>
                    <a:ext cx="263128" cy="274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3128" h="274528" fill="norm" stroke="1" extrusionOk="0">
                        <a:moveTo>
                          <a:pt x="242888" y="30361"/>
                        </a:moveTo>
                        <a:lnTo>
                          <a:pt x="141684" y="30361"/>
                        </a:lnTo>
                        <a:lnTo>
                          <a:pt x="141684" y="10120"/>
                        </a:lnTo>
                        <a:cubicBezTo>
                          <a:pt x="141684" y="4531"/>
                          <a:pt x="137153" y="0"/>
                          <a:pt x="131564" y="0"/>
                        </a:cubicBezTo>
                        <a:cubicBezTo>
                          <a:pt x="125975" y="0"/>
                          <a:pt x="121444" y="4531"/>
                          <a:pt x="121444" y="10120"/>
                        </a:cubicBezTo>
                        <a:lnTo>
                          <a:pt x="121444" y="30361"/>
                        </a:lnTo>
                        <a:lnTo>
                          <a:pt x="20241" y="30361"/>
                        </a:lnTo>
                        <a:cubicBezTo>
                          <a:pt x="9062" y="30361"/>
                          <a:pt x="0" y="39423"/>
                          <a:pt x="0" y="50602"/>
                        </a:cubicBezTo>
                        <a:lnTo>
                          <a:pt x="0" y="202406"/>
                        </a:lnTo>
                        <a:cubicBezTo>
                          <a:pt x="0" y="213585"/>
                          <a:pt x="9062" y="222647"/>
                          <a:pt x="20241" y="222647"/>
                        </a:cubicBezTo>
                        <a:lnTo>
                          <a:pt x="70033" y="222647"/>
                        </a:lnTo>
                        <a:lnTo>
                          <a:pt x="42695" y="256803"/>
                        </a:lnTo>
                        <a:cubicBezTo>
                          <a:pt x="39202" y="261170"/>
                          <a:pt x="39910" y="267541"/>
                          <a:pt x="44276" y="271035"/>
                        </a:cubicBezTo>
                        <a:cubicBezTo>
                          <a:pt x="48643" y="274528"/>
                          <a:pt x="55015" y="273820"/>
                          <a:pt x="58508" y="269453"/>
                        </a:cubicBezTo>
                        <a:lnTo>
                          <a:pt x="95941" y="222647"/>
                        </a:lnTo>
                        <a:lnTo>
                          <a:pt x="167188" y="222647"/>
                        </a:lnTo>
                        <a:lnTo>
                          <a:pt x="204620" y="269453"/>
                        </a:lnTo>
                        <a:cubicBezTo>
                          <a:pt x="208113" y="273820"/>
                          <a:pt x="214485" y="274528"/>
                          <a:pt x="218852" y="271035"/>
                        </a:cubicBezTo>
                        <a:cubicBezTo>
                          <a:pt x="223218" y="267541"/>
                          <a:pt x="223926" y="261170"/>
                          <a:pt x="220433" y="256803"/>
                        </a:cubicBezTo>
                        <a:lnTo>
                          <a:pt x="193096" y="222647"/>
                        </a:lnTo>
                        <a:lnTo>
                          <a:pt x="242888" y="222647"/>
                        </a:lnTo>
                        <a:cubicBezTo>
                          <a:pt x="254066" y="222647"/>
                          <a:pt x="263128" y="213585"/>
                          <a:pt x="263128" y="202406"/>
                        </a:cubicBezTo>
                        <a:lnTo>
                          <a:pt x="263128" y="50602"/>
                        </a:lnTo>
                        <a:cubicBezTo>
                          <a:pt x="263128" y="39423"/>
                          <a:pt x="254066" y="30361"/>
                          <a:pt x="242888" y="30361"/>
                        </a:cubicBezTo>
                        <a:close/>
                        <a:moveTo>
                          <a:pt x="242888" y="202406"/>
                        </a:moveTo>
                        <a:lnTo>
                          <a:pt x="20241" y="202406"/>
                        </a:lnTo>
                        <a:lnTo>
                          <a:pt x="20241" y="50602"/>
                        </a:lnTo>
                        <a:lnTo>
                          <a:pt x="242888" y="50602"/>
                        </a:lnTo>
                        <a:lnTo>
                          <a:pt x="242888" y="202406"/>
                        </a:lnTo>
                        <a:close/>
                        <a:moveTo>
                          <a:pt x="101203" y="131564"/>
                        </a:moveTo>
                        <a:lnTo>
                          <a:pt x="101203" y="161925"/>
                        </a:lnTo>
                        <a:cubicBezTo>
                          <a:pt x="101203" y="167514"/>
                          <a:pt x="96672" y="172045"/>
                          <a:pt x="91083" y="172045"/>
                        </a:cubicBezTo>
                        <a:cubicBezTo>
                          <a:pt x="85494" y="172045"/>
                          <a:pt x="80962" y="167514"/>
                          <a:pt x="80962" y="161925"/>
                        </a:cubicBezTo>
                        <a:lnTo>
                          <a:pt x="80962" y="131564"/>
                        </a:lnTo>
                        <a:cubicBezTo>
                          <a:pt x="80962" y="125975"/>
                          <a:pt x="85494" y="121444"/>
                          <a:pt x="91083" y="121444"/>
                        </a:cubicBezTo>
                        <a:cubicBezTo>
                          <a:pt x="96672" y="121444"/>
                          <a:pt x="101203" y="125975"/>
                          <a:pt x="101203" y="131564"/>
                        </a:cubicBezTo>
                        <a:close/>
                        <a:moveTo>
                          <a:pt x="141684" y="111323"/>
                        </a:moveTo>
                        <a:lnTo>
                          <a:pt x="141684" y="161925"/>
                        </a:lnTo>
                        <a:cubicBezTo>
                          <a:pt x="141684" y="167514"/>
                          <a:pt x="137153" y="172045"/>
                          <a:pt x="131564" y="172045"/>
                        </a:cubicBezTo>
                        <a:cubicBezTo>
                          <a:pt x="125975" y="172045"/>
                          <a:pt x="121444" y="167514"/>
                          <a:pt x="121444" y="161925"/>
                        </a:cubicBezTo>
                        <a:lnTo>
                          <a:pt x="121444" y="111323"/>
                        </a:lnTo>
                        <a:cubicBezTo>
                          <a:pt x="121444" y="105734"/>
                          <a:pt x="125975" y="101203"/>
                          <a:pt x="131564" y="101203"/>
                        </a:cubicBezTo>
                        <a:cubicBezTo>
                          <a:pt x="137153" y="101203"/>
                          <a:pt x="141684" y="105734"/>
                          <a:pt x="141684" y="111323"/>
                        </a:cubicBezTo>
                        <a:close/>
                        <a:moveTo>
                          <a:pt x="182166" y="91083"/>
                        </a:moveTo>
                        <a:lnTo>
                          <a:pt x="182166" y="161925"/>
                        </a:lnTo>
                        <a:cubicBezTo>
                          <a:pt x="182166" y="167514"/>
                          <a:pt x="177635" y="172045"/>
                          <a:pt x="172045" y="172045"/>
                        </a:cubicBezTo>
                        <a:cubicBezTo>
                          <a:pt x="166456" y="172045"/>
                          <a:pt x="161925" y="167514"/>
                          <a:pt x="161925" y="161925"/>
                        </a:cubicBezTo>
                        <a:lnTo>
                          <a:pt x="161925" y="91083"/>
                        </a:lnTo>
                        <a:cubicBezTo>
                          <a:pt x="161925" y="85494"/>
                          <a:pt x="166456" y="80962"/>
                          <a:pt x="172045" y="80962"/>
                        </a:cubicBezTo>
                        <a:cubicBezTo>
                          <a:pt x="177635" y="80962"/>
                          <a:pt x="182166" y="85494"/>
                          <a:pt x="182166" y="91083"/>
                        </a:cubicBezTo>
                        <a:close/>
                      </a:path>
                    </a:pathLst>
                  </a:custGeom>
                  <a:solidFill>
                    <a:srgbClr val="1565C0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23" name="TextBox 23"/>
                <p:cNvSpPr txBox="1"/>
                <p:nvPr/>
              </p:nvSpPr>
              <p:spPr bwMode="auto">
                <a:xfrm>
                  <a:off x="706754" y="235268"/>
                  <a:ext cx="868589" cy="2061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5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Результат</a:t>
                  </a:r>
                  <a:endParaRPr/>
                </a:p>
              </p:txBody>
            </p:sp>
            <p:sp>
              <p:nvSpPr>
                <p:cNvPr id="24" name="TextBox 24"/>
                <p:cNvSpPr txBox="1"/>
                <p:nvPr/>
              </p:nvSpPr>
              <p:spPr bwMode="auto">
                <a:xfrm flipH="0" flipV="0">
                  <a:off x="110932" y="643889"/>
                  <a:ext cx="2128116" cy="16037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zh-CN" sz="105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класс, уверенность, top-k</a:t>
                  </a:r>
                  <a:endParaRPr/>
                </a:p>
              </p:txBody>
            </p:sp>
          </p:grpSp>
        </p:grpSp>
        <p:grpSp>
          <p:nvGrpSpPr>
            <p:cNvPr id="50" name="Group 50"/>
            <p:cNvGrpSpPr/>
            <p:nvPr/>
          </p:nvGrpSpPr>
          <p:grpSpPr bwMode="auto">
            <a:xfrm>
              <a:off x="8172450" y="0"/>
              <a:ext cx="2952750" cy="4171950"/>
              <a:chOff x="0" y="0"/>
              <a:chExt cx="2952750" cy="4171950"/>
            </a:xfrm>
          </p:grpSpPr>
          <p:sp>
            <p:nvSpPr>
              <p:cNvPr id="27" name="Rectangle 27"/>
              <p:cNvSpPr/>
              <p:nvPr/>
            </p:nvSpPr>
            <p:spPr bwMode="auto">
              <a:xfrm>
                <a:off x="0" y="0"/>
                <a:ext cx="2952750" cy="4171950"/>
              </a:xfrm>
              <a:prstGeom prst="roundRect">
                <a:avLst>
                  <a:gd name="adj" fmla="val 5806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8" name="Rectangle 28"/>
              <p:cNvSpPr/>
              <p:nvPr/>
            </p:nvSpPr>
            <p:spPr bwMode="auto">
              <a:xfrm>
                <a:off x="0" y="0"/>
                <a:ext cx="2952750" cy="495300"/>
              </a:xfrm>
              <a:prstGeom prst="roundRect">
                <a:avLst>
                  <a:gd name="adj" fmla="val 34615"/>
                </a:avLst>
              </a:prstGeom>
              <a:solidFill>
                <a:srgbClr val="EAF7EE"/>
              </a:solidFill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9" name="TextBox 29"/>
              <p:cNvSpPr txBox="1"/>
              <p:nvPr/>
            </p:nvSpPr>
            <p:spPr bwMode="auto">
              <a:xfrm>
                <a:off x="672532" y="178118"/>
                <a:ext cx="1607687" cy="2743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SERVER / MODEL</a:t>
                </a:r>
                <a:endParaRPr/>
              </a:p>
            </p:txBody>
          </p:sp>
          <p:grpSp>
            <p:nvGrpSpPr>
              <p:cNvPr id="36" name="Group 36"/>
              <p:cNvGrpSpPr/>
              <p:nvPr/>
            </p:nvGrpSpPr>
            <p:grpSpPr bwMode="auto">
              <a:xfrm>
                <a:off x="304799" y="800099"/>
                <a:ext cx="2646712" cy="914400"/>
                <a:chOff x="0" y="0"/>
                <a:chExt cx="2646712" cy="914400"/>
              </a:xfrm>
            </p:grpSpPr>
            <p:sp>
              <p:nvSpPr>
                <p:cNvPr id="30" name="Rectangle 30"/>
                <p:cNvSpPr/>
                <p:nvPr/>
              </p:nvSpPr>
              <p:spPr bwMode="auto">
                <a:xfrm>
                  <a:off x="0" y="0"/>
                  <a:ext cx="2343150" cy="914400"/>
                </a:xfrm>
                <a:prstGeom prst="roundRect">
                  <a:avLst>
                    <a:gd name="adj" fmla="val 14583"/>
                  </a:avLst>
                </a:prstGeom>
                <a:solidFill>
                  <a:srgbClr val="F8FAFC"/>
                </a:solidFill>
                <a:ln w="9525">
                  <a:solidFill>
                    <a:srgbClr val="D8E1EA"/>
                  </a:solidFill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grpSp>
              <p:nvGrpSpPr>
                <p:cNvPr id="33" name="Group 33"/>
                <p:cNvGrpSpPr/>
                <p:nvPr/>
              </p:nvGrpSpPr>
              <p:grpSpPr bwMode="auto">
                <a:xfrm>
                  <a:off x="238116" y="271437"/>
                  <a:ext cx="285759" cy="247698"/>
                  <a:chOff x="0" y="0"/>
                  <a:chExt cx="285759" cy="247698"/>
                </a:xfrm>
              </p:grpSpPr>
              <p:sp>
                <p:nvSpPr>
                  <p:cNvPr id="31" name="Freeform 31"/>
                  <p:cNvSpPr/>
                  <p:nvPr/>
                </p:nvSpPr>
                <p:spPr bwMode="auto">
                  <a:xfrm>
                    <a:off x="9483" y="14312"/>
                    <a:ext cx="266759" cy="21907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6759" h="219075" fill="norm" stroke="1" extrusionOk="0">
                        <a:moveTo>
                          <a:pt x="266751" y="109538"/>
                        </a:moveTo>
                        <a:cubicBezTo>
                          <a:pt x="266759" y="133763"/>
                          <a:pt x="251491" y="155362"/>
                          <a:pt x="228651" y="163437"/>
                        </a:cubicBezTo>
                        <a:lnTo>
                          <a:pt x="228651" y="163437"/>
                        </a:lnTo>
                        <a:lnTo>
                          <a:pt x="228651" y="171450"/>
                        </a:lnTo>
                        <a:cubicBezTo>
                          <a:pt x="228651" y="197753"/>
                          <a:pt x="207329" y="219075"/>
                          <a:pt x="181026" y="219075"/>
                        </a:cubicBezTo>
                        <a:cubicBezTo>
                          <a:pt x="154724" y="219075"/>
                          <a:pt x="133401" y="197753"/>
                          <a:pt x="133401" y="171450"/>
                        </a:cubicBezTo>
                        <a:cubicBezTo>
                          <a:pt x="133401" y="197753"/>
                          <a:pt x="112079" y="219075"/>
                          <a:pt x="85776" y="219075"/>
                        </a:cubicBezTo>
                        <a:cubicBezTo>
                          <a:pt x="59474" y="219075"/>
                          <a:pt x="38151" y="197753"/>
                          <a:pt x="38151" y="171450"/>
                        </a:cubicBezTo>
                        <a:lnTo>
                          <a:pt x="38151" y="163437"/>
                        </a:lnTo>
                        <a:lnTo>
                          <a:pt x="38151" y="163437"/>
                        </a:lnTo>
                        <a:cubicBezTo>
                          <a:pt x="15291" y="155379"/>
                          <a:pt x="0" y="133777"/>
                          <a:pt x="0" y="109538"/>
                        </a:cubicBezTo>
                        <a:cubicBezTo>
                          <a:pt x="0" y="85298"/>
                          <a:pt x="15291" y="63696"/>
                          <a:pt x="38151" y="55638"/>
                        </a:cubicBezTo>
                        <a:lnTo>
                          <a:pt x="38151" y="47625"/>
                        </a:lnTo>
                        <a:cubicBezTo>
                          <a:pt x="38151" y="21322"/>
                          <a:pt x="59474" y="0"/>
                          <a:pt x="85776" y="0"/>
                        </a:cubicBezTo>
                        <a:cubicBezTo>
                          <a:pt x="112079" y="0"/>
                          <a:pt x="133401" y="21322"/>
                          <a:pt x="133401" y="47625"/>
                        </a:cubicBezTo>
                        <a:cubicBezTo>
                          <a:pt x="133401" y="21322"/>
                          <a:pt x="154724" y="0"/>
                          <a:pt x="181026" y="0"/>
                        </a:cubicBezTo>
                        <a:cubicBezTo>
                          <a:pt x="207329" y="0"/>
                          <a:pt x="228651" y="21322"/>
                          <a:pt x="228651" y="47625"/>
                        </a:cubicBezTo>
                        <a:lnTo>
                          <a:pt x="228651" y="55638"/>
                        </a:lnTo>
                        <a:cubicBezTo>
                          <a:pt x="251491" y="63713"/>
                          <a:pt x="266759" y="85312"/>
                          <a:pt x="266751" y="109538"/>
                        </a:cubicBezTo>
                        <a:close/>
                      </a:path>
                    </a:pathLst>
                  </a:custGeom>
                  <a:solidFill>
                    <a:srgbClr val="2E7D32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32" name="Freeform 32"/>
                  <p:cNvSpPr/>
                  <p:nvPr/>
                </p:nvSpPr>
                <p:spPr bwMode="auto">
                  <a:xfrm>
                    <a:off x="0" y="0"/>
                    <a:ext cx="285759" cy="2476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5759" h="247698" fill="norm" stroke="1" extrusionOk="0">
                        <a:moveTo>
                          <a:pt x="285759" y="123849"/>
                        </a:moveTo>
                        <a:cubicBezTo>
                          <a:pt x="285733" y="98099"/>
                          <a:pt x="270911" y="74656"/>
                          <a:pt x="247659" y="63592"/>
                        </a:cubicBezTo>
                        <a:lnTo>
                          <a:pt x="247659" y="61937"/>
                        </a:lnTo>
                        <a:cubicBezTo>
                          <a:pt x="247636" y="36738"/>
                          <a:pt x="231112" y="14527"/>
                          <a:pt x="206982" y="7264"/>
                        </a:cubicBezTo>
                        <a:cubicBezTo>
                          <a:pt x="182853" y="0"/>
                          <a:pt x="156813" y="9398"/>
                          <a:pt x="142884" y="30397"/>
                        </a:cubicBezTo>
                        <a:cubicBezTo>
                          <a:pt x="128955" y="9398"/>
                          <a:pt x="102915" y="0"/>
                          <a:pt x="78786" y="7264"/>
                        </a:cubicBezTo>
                        <a:cubicBezTo>
                          <a:pt x="54656" y="14527"/>
                          <a:pt x="38131" y="36738"/>
                          <a:pt x="38109" y="61937"/>
                        </a:cubicBezTo>
                        <a:lnTo>
                          <a:pt x="38109" y="63592"/>
                        </a:lnTo>
                        <a:cubicBezTo>
                          <a:pt x="14836" y="74627"/>
                          <a:pt x="0" y="98080"/>
                          <a:pt x="0" y="123837"/>
                        </a:cubicBezTo>
                        <a:cubicBezTo>
                          <a:pt x="0" y="149594"/>
                          <a:pt x="14836" y="173048"/>
                          <a:pt x="38109" y="184083"/>
                        </a:cubicBezTo>
                        <a:lnTo>
                          <a:pt x="38109" y="185762"/>
                        </a:lnTo>
                        <a:cubicBezTo>
                          <a:pt x="38131" y="210961"/>
                          <a:pt x="54656" y="233171"/>
                          <a:pt x="78786" y="240435"/>
                        </a:cubicBezTo>
                        <a:cubicBezTo>
                          <a:pt x="102915" y="247698"/>
                          <a:pt x="128955" y="238301"/>
                          <a:pt x="142884" y="217301"/>
                        </a:cubicBezTo>
                        <a:cubicBezTo>
                          <a:pt x="156813" y="238301"/>
                          <a:pt x="182853" y="247698"/>
                          <a:pt x="206982" y="240435"/>
                        </a:cubicBezTo>
                        <a:cubicBezTo>
                          <a:pt x="231112" y="233171"/>
                          <a:pt x="247636" y="210961"/>
                          <a:pt x="247659" y="185762"/>
                        </a:cubicBezTo>
                        <a:lnTo>
                          <a:pt x="247659" y="184083"/>
                        </a:lnTo>
                        <a:cubicBezTo>
                          <a:pt x="270907" y="173027"/>
                          <a:pt x="285730" y="149592"/>
                          <a:pt x="285759" y="123849"/>
                        </a:cubicBezTo>
                        <a:close/>
                        <a:moveTo>
                          <a:pt x="95259" y="223862"/>
                        </a:moveTo>
                        <a:cubicBezTo>
                          <a:pt x="75804" y="223859"/>
                          <a:pt x="59477" y="209199"/>
                          <a:pt x="57385" y="189857"/>
                        </a:cubicBezTo>
                        <a:cubicBezTo>
                          <a:pt x="60465" y="190297"/>
                          <a:pt x="63573" y="190520"/>
                          <a:pt x="66684" y="190524"/>
                        </a:cubicBezTo>
                        <a:lnTo>
                          <a:pt x="76209" y="190524"/>
                        </a:lnTo>
                        <a:cubicBezTo>
                          <a:pt x="81469" y="190524"/>
                          <a:pt x="85734" y="186260"/>
                          <a:pt x="85734" y="180999"/>
                        </a:cubicBezTo>
                        <a:cubicBezTo>
                          <a:pt x="85734" y="175739"/>
                          <a:pt x="81469" y="171474"/>
                          <a:pt x="76209" y="171474"/>
                        </a:cubicBezTo>
                        <a:lnTo>
                          <a:pt x="66684" y="171474"/>
                        </a:lnTo>
                        <a:cubicBezTo>
                          <a:pt x="43466" y="171501"/>
                          <a:pt x="23613" y="154783"/>
                          <a:pt x="19689" y="131899"/>
                        </a:cubicBezTo>
                        <a:cubicBezTo>
                          <a:pt x="15764" y="109016"/>
                          <a:pt x="28913" y="86637"/>
                          <a:pt x="50813" y="78927"/>
                        </a:cubicBezTo>
                        <a:cubicBezTo>
                          <a:pt x="54616" y="77580"/>
                          <a:pt x="57158" y="73984"/>
                          <a:pt x="57159" y="69950"/>
                        </a:cubicBezTo>
                        <a:lnTo>
                          <a:pt x="57159" y="61937"/>
                        </a:lnTo>
                        <a:cubicBezTo>
                          <a:pt x="57159" y="40895"/>
                          <a:pt x="74217" y="23837"/>
                          <a:pt x="95259" y="23837"/>
                        </a:cubicBezTo>
                        <a:cubicBezTo>
                          <a:pt x="116301" y="23837"/>
                          <a:pt x="133359" y="40895"/>
                          <a:pt x="133359" y="61937"/>
                        </a:cubicBezTo>
                        <a:lnTo>
                          <a:pt x="133359" y="143209"/>
                        </a:lnTo>
                        <a:cubicBezTo>
                          <a:pt x="122899" y="133802"/>
                          <a:pt x="109327" y="128601"/>
                          <a:pt x="95259" y="128612"/>
                        </a:cubicBezTo>
                        <a:cubicBezTo>
                          <a:pt x="89998" y="128612"/>
                          <a:pt x="85734" y="132876"/>
                          <a:pt x="85734" y="138137"/>
                        </a:cubicBezTo>
                        <a:cubicBezTo>
                          <a:pt x="85734" y="143397"/>
                          <a:pt x="89998" y="147662"/>
                          <a:pt x="95259" y="147662"/>
                        </a:cubicBezTo>
                        <a:cubicBezTo>
                          <a:pt x="116301" y="147662"/>
                          <a:pt x="133359" y="164720"/>
                          <a:pt x="133359" y="185762"/>
                        </a:cubicBezTo>
                        <a:cubicBezTo>
                          <a:pt x="133359" y="206804"/>
                          <a:pt x="116301" y="223862"/>
                          <a:pt x="95259" y="223862"/>
                        </a:cubicBezTo>
                        <a:close/>
                        <a:moveTo>
                          <a:pt x="219084" y="171474"/>
                        </a:moveTo>
                        <a:lnTo>
                          <a:pt x="209559" y="171474"/>
                        </a:lnTo>
                        <a:cubicBezTo>
                          <a:pt x="204298" y="171474"/>
                          <a:pt x="200034" y="175739"/>
                          <a:pt x="200034" y="180999"/>
                        </a:cubicBezTo>
                        <a:cubicBezTo>
                          <a:pt x="200034" y="186260"/>
                          <a:pt x="204298" y="190524"/>
                          <a:pt x="209559" y="190524"/>
                        </a:cubicBezTo>
                        <a:lnTo>
                          <a:pt x="219084" y="190524"/>
                        </a:lnTo>
                        <a:cubicBezTo>
                          <a:pt x="222195" y="190520"/>
                          <a:pt x="225303" y="190297"/>
                          <a:pt x="228383" y="189857"/>
                        </a:cubicBezTo>
                        <a:cubicBezTo>
                          <a:pt x="226178" y="210249"/>
                          <a:pt x="208226" y="225236"/>
                          <a:pt x="187768" y="223763"/>
                        </a:cubicBezTo>
                        <a:cubicBezTo>
                          <a:pt x="167311" y="222291"/>
                          <a:pt x="151690" y="204888"/>
                          <a:pt x="152428" y="184391"/>
                        </a:cubicBezTo>
                        <a:cubicBezTo>
                          <a:pt x="153166" y="163893"/>
                          <a:pt x="169998" y="147659"/>
                          <a:pt x="190509" y="147662"/>
                        </a:cubicBezTo>
                        <a:cubicBezTo>
                          <a:pt x="195769" y="147662"/>
                          <a:pt x="200034" y="143397"/>
                          <a:pt x="200034" y="138137"/>
                        </a:cubicBezTo>
                        <a:cubicBezTo>
                          <a:pt x="200034" y="132876"/>
                          <a:pt x="195769" y="128612"/>
                          <a:pt x="190509" y="128612"/>
                        </a:cubicBezTo>
                        <a:cubicBezTo>
                          <a:pt x="176441" y="128601"/>
                          <a:pt x="162868" y="133802"/>
                          <a:pt x="152409" y="143209"/>
                        </a:cubicBezTo>
                        <a:lnTo>
                          <a:pt x="152409" y="61937"/>
                        </a:lnTo>
                        <a:cubicBezTo>
                          <a:pt x="152409" y="40895"/>
                          <a:pt x="169467" y="23837"/>
                          <a:pt x="190509" y="23837"/>
                        </a:cubicBezTo>
                        <a:cubicBezTo>
                          <a:pt x="211551" y="23837"/>
                          <a:pt x="228609" y="40895"/>
                          <a:pt x="228609" y="61937"/>
                        </a:cubicBezTo>
                        <a:lnTo>
                          <a:pt x="228609" y="69950"/>
                        </a:lnTo>
                        <a:cubicBezTo>
                          <a:pt x="228610" y="73984"/>
                          <a:pt x="231152" y="77580"/>
                          <a:pt x="234955" y="78927"/>
                        </a:cubicBezTo>
                        <a:cubicBezTo>
                          <a:pt x="256855" y="86637"/>
                          <a:pt x="270004" y="109016"/>
                          <a:pt x="266079" y="131899"/>
                        </a:cubicBezTo>
                        <a:cubicBezTo>
                          <a:pt x="262155" y="154783"/>
                          <a:pt x="242301" y="171501"/>
                          <a:pt x="219084" y="171474"/>
                        </a:cubicBezTo>
                        <a:close/>
                        <a:moveTo>
                          <a:pt x="238134" y="109562"/>
                        </a:moveTo>
                        <a:cubicBezTo>
                          <a:pt x="238134" y="114822"/>
                          <a:pt x="233869" y="119087"/>
                          <a:pt x="228609" y="119087"/>
                        </a:cubicBezTo>
                        <a:lnTo>
                          <a:pt x="223846" y="119087"/>
                        </a:lnTo>
                        <a:cubicBezTo>
                          <a:pt x="200174" y="119087"/>
                          <a:pt x="180984" y="99897"/>
                          <a:pt x="180984" y="76224"/>
                        </a:cubicBezTo>
                        <a:lnTo>
                          <a:pt x="180984" y="71462"/>
                        </a:lnTo>
                        <a:cubicBezTo>
                          <a:pt x="180984" y="66201"/>
                          <a:pt x="185248" y="61937"/>
                          <a:pt x="190509" y="61937"/>
                        </a:cubicBezTo>
                        <a:cubicBezTo>
                          <a:pt x="195769" y="61937"/>
                          <a:pt x="200034" y="66201"/>
                          <a:pt x="200034" y="71462"/>
                        </a:cubicBezTo>
                        <a:lnTo>
                          <a:pt x="200034" y="76224"/>
                        </a:lnTo>
                        <a:cubicBezTo>
                          <a:pt x="200034" y="89376"/>
                          <a:pt x="210695" y="100037"/>
                          <a:pt x="223846" y="100037"/>
                        </a:cubicBezTo>
                        <a:lnTo>
                          <a:pt x="228609" y="100037"/>
                        </a:lnTo>
                        <a:cubicBezTo>
                          <a:pt x="233869" y="100037"/>
                          <a:pt x="238134" y="104301"/>
                          <a:pt x="238134" y="109562"/>
                        </a:cubicBezTo>
                        <a:close/>
                        <a:moveTo>
                          <a:pt x="61921" y="119087"/>
                        </a:moveTo>
                        <a:lnTo>
                          <a:pt x="57159" y="119087"/>
                        </a:lnTo>
                        <a:cubicBezTo>
                          <a:pt x="51898" y="119087"/>
                          <a:pt x="47634" y="114822"/>
                          <a:pt x="47634" y="109562"/>
                        </a:cubicBezTo>
                        <a:cubicBezTo>
                          <a:pt x="47634" y="104301"/>
                          <a:pt x="51898" y="100037"/>
                          <a:pt x="57159" y="100037"/>
                        </a:cubicBezTo>
                        <a:lnTo>
                          <a:pt x="61921" y="100037"/>
                        </a:lnTo>
                        <a:cubicBezTo>
                          <a:pt x="75073" y="100037"/>
                          <a:pt x="85734" y="89376"/>
                          <a:pt x="85734" y="76224"/>
                        </a:cubicBezTo>
                        <a:lnTo>
                          <a:pt x="85734" y="71462"/>
                        </a:lnTo>
                        <a:cubicBezTo>
                          <a:pt x="85734" y="66201"/>
                          <a:pt x="89998" y="61937"/>
                          <a:pt x="95259" y="61937"/>
                        </a:cubicBezTo>
                        <a:cubicBezTo>
                          <a:pt x="100519" y="61937"/>
                          <a:pt x="104784" y="66201"/>
                          <a:pt x="104784" y="71462"/>
                        </a:cubicBezTo>
                        <a:lnTo>
                          <a:pt x="104784" y="76224"/>
                        </a:lnTo>
                        <a:cubicBezTo>
                          <a:pt x="104784" y="99897"/>
                          <a:pt x="85594" y="119087"/>
                          <a:pt x="61921" y="119087"/>
                        </a:cubicBezTo>
                        <a:close/>
                      </a:path>
                    </a:pathLst>
                  </a:custGeom>
                  <a:solidFill>
                    <a:srgbClr val="2E7D32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34" name="TextBox 34"/>
                <p:cNvSpPr txBox="1"/>
                <p:nvPr/>
              </p:nvSpPr>
              <p:spPr bwMode="auto">
                <a:xfrm>
                  <a:off x="668654" y="254317"/>
                  <a:ext cx="1504174" cy="27432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5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RoomPredictor</a:t>
                  </a:r>
                  <a:endParaRPr/>
                </a:p>
              </p:txBody>
            </p:sp>
            <p:sp>
              <p:nvSpPr>
                <p:cNvPr id="35" name="TextBox 35"/>
                <p:cNvSpPr txBox="1"/>
                <p:nvPr/>
              </p:nvSpPr>
              <p:spPr bwMode="auto">
                <a:xfrm>
                  <a:off x="672465" y="543878"/>
                  <a:ext cx="1974247" cy="21336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05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обёртка inference-логики</a:t>
                  </a:r>
                  <a:endParaRPr/>
                </a:p>
              </p:txBody>
            </p:sp>
          </p:grpSp>
          <p:grpSp>
            <p:nvGrpSpPr>
              <p:cNvPr id="43" name="Group 43"/>
              <p:cNvGrpSpPr/>
              <p:nvPr/>
            </p:nvGrpSpPr>
            <p:grpSpPr bwMode="auto">
              <a:xfrm>
                <a:off x="304799" y="1981200"/>
                <a:ext cx="2600706" cy="914400"/>
                <a:chOff x="0" y="0"/>
                <a:chExt cx="2600706" cy="914400"/>
              </a:xfrm>
            </p:grpSpPr>
            <p:sp>
              <p:nvSpPr>
                <p:cNvPr id="37" name="Rectangle 37"/>
                <p:cNvSpPr/>
                <p:nvPr/>
              </p:nvSpPr>
              <p:spPr bwMode="auto">
                <a:xfrm>
                  <a:off x="0" y="0"/>
                  <a:ext cx="2343150" cy="914400"/>
                </a:xfrm>
                <a:prstGeom prst="roundRect">
                  <a:avLst>
                    <a:gd name="adj" fmla="val 14583"/>
                  </a:avLst>
                </a:prstGeom>
                <a:solidFill>
                  <a:srgbClr val="F8FAFC"/>
                </a:solidFill>
                <a:ln w="9525">
                  <a:solidFill>
                    <a:srgbClr val="D8E1EA"/>
                  </a:solidFill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grpSp>
              <p:nvGrpSpPr>
                <p:cNvPr id="40" name="Group 40"/>
                <p:cNvGrpSpPr/>
                <p:nvPr/>
              </p:nvGrpSpPr>
              <p:grpSpPr bwMode="auto">
                <a:xfrm>
                  <a:off x="266699" y="276224"/>
                  <a:ext cx="228600" cy="247650"/>
                  <a:chOff x="0" y="0"/>
                  <a:chExt cx="228600" cy="247650"/>
                </a:xfrm>
              </p:grpSpPr>
              <p:sp>
                <p:nvSpPr>
                  <p:cNvPr id="38" name="Freeform 38"/>
                  <p:cNvSpPr/>
                  <p:nvPr/>
                </p:nvSpPr>
                <p:spPr bwMode="auto">
                  <a:xfrm>
                    <a:off x="9525" y="9525"/>
                    <a:ext cx="209550" cy="114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9550" h="114300" fill="norm" stroke="1" extrusionOk="0">
                        <a:moveTo>
                          <a:pt x="209550" y="57150"/>
                        </a:moveTo>
                        <a:cubicBezTo>
                          <a:pt x="209550" y="88713"/>
                          <a:pt x="162639" y="114300"/>
                          <a:pt x="104775" y="114300"/>
                        </a:cubicBezTo>
                        <a:cubicBezTo>
                          <a:pt x="46911" y="114300"/>
                          <a:pt x="0" y="88713"/>
                          <a:pt x="0" y="57150"/>
                        </a:cubicBezTo>
                        <a:cubicBezTo>
                          <a:pt x="0" y="25587"/>
                          <a:pt x="46911" y="0"/>
                          <a:pt x="104775" y="0"/>
                        </a:cubicBezTo>
                        <a:cubicBezTo>
                          <a:pt x="162639" y="0"/>
                          <a:pt x="209550" y="25587"/>
                          <a:pt x="209550" y="57150"/>
                        </a:cubicBezTo>
                        <a:close/>
                      </a:path>
                    </a:pathLst>
                  </a:custGeom>
                  <a:solidFill>
                    <a:srgbClr val="2E7D32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39" name="Freeform 39"/>
                  <p:cNvSpPr/>
                  <p:nvPr/>
                </p:nvSpPr>
                <p:spPr bwMode="auto">
                  <a:xfrm>
                    <a:off x="0" y="0"/>
                    <a:ext cx="228600" cy="247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8600" h="247650" fill="norm" stroke="1" extrusionOk="0">
                        <a:moveTo>
                          <a:pt x="114300" y="0"/>
                        </a:moveTo>
                        <a:cubicBezTo>
                          <a:pt x="50209" y="0"/>
                          <a:pt x="0" y="29289"/>
                          <a:pt x="0" y="66675"/>
                        </a:cubicBezTo>
                        <a:lnTo>
                          <a:pt x="0" y="180975"/>
                        </a:lnTo>
                        <a:cubicBezTo>
                          <a:pt x="0" y="218361"/>
                          <a:pt x="50209" y="247650"/>
                          <a:pt x="114300" y="247650"/>
                        </a:cubicBezTo>
                        <a:cubicBezTo>
                          <a:pt x="178391" y="247650"/>
                          <a:pt x="228600" y="218361"/>
                          <a:pt x="228600" y="180975"/>
                        </a:cubicBezTo>
                        <a:lnTo>
                          <a:pt x="228600" y="66675"/>
                        </a:lnTo>
                        <a:cubicBezTo>
                          <a:pt x="228600" y="29289"/>
                          <a:pt x="178391" y="0"/>
                          <a:pt x="114300" y="0"/>
                        </a:cubicBezTo>
                        <a:close/>
                        <a:moveTo>
                          <a:pt x="209550" y="123825"/>
                        </a:moveTo>
                        <a:cubicBezTo>
                          <a:pt x="209550" y="135279"/>
                          <a:pt x="200168" y="146959"/>
                          <a:pt x="183821" y="155877"/>
                        </a:cubicBezTo>
                        <a:cubicBezTo>
                          <a:pt x="165414" y="165914"/>
                          <a:pt x="140720" y="171450"/>
                          <a:pt x="114300" y="171450"/>
                        </a:cubicBezTo>
                        <a:cubicBezTo>
                          <a:pt x="87880" y="171450"/>
                          <a:pt x="63186" y="165914"/>
                          <a:pt x="44779" y="155877"/>
                        </a:cubicBezTo>
                        <a:cubicBezTo>
                          <a:pt x="28432" y="146959"/>
                          <a:pt x="19050" y="135279"/>
                          <a:pt x="19050" y="123825"/>
                        </a:cubicBezTo>
                        <a:lnTo>
                          <a:pt x="19050" y="104013"/>
                        </a:lnTo>
                        <a:cubicBezTo>
                          <a:pt x="39362" y="121872"/>
                          <a:pt x="74093" y="133350"/>
                          <a:pt x="114300" y="133350"/>
                        </a:cubicBezTo>
                        <a:cubicBezTo>
                          <a:pt x="154507" y="133350"/>
                          <a:pt x="189238" y="121825"/>
                          <a:pt x="209550" y="104013"/>
                        </a:cubicBezTo>
                        <a:close/>
                        <a:moveTo>
                          <a:pt x="44779" y="34623"/>
                        </a:moveTo>
                        <a:cubicBezTo>
                          <a:pt x="63186" y="24586"/>
                          <a:pt x="87880" y="19050"/>
                          <a:pt x="114300" y="19050"/>
                        </a:cubicBezTo>
                        <a:cubicBezTo>
                          <a:pt x="140720" y="19050"/>
                          <a:pt x="165414" y="24586"/>
                          <a:pt x="183821" y="34623"/>
                        </a:cubicBezTo>
                        <a:cubicBezTo>
                          <a:pt x="200168" y="43541"/>
                          <a:pt x="209550" y="55221"/>
                          <a:pt x="209550" y="66675"/>
                        </a:cubicBezTo>
                        <a:cubicBezTo>
                          <a:pt x="209550" y="78129"/>
                          <a:pt x="200168" y="89809"/>
                          <a:pt x="183821" y="98727"/>
                        </a:cubicBezTo>
                        <a:cubicBezTo>
                          <a:pt x="165414" y="108764"/>
                          <a:pt x="140720" y="114300"/>
                          <a:pt x="114300" y="114300"/>
                        </a:cubicBezTo>
                        <a:cubicBezTo>
                          <a:pt x="87880" y="114300"/>
                          <a:pt x="63186" y="108764"/>
                          <a:pt x="44779" y="98727"/>
                        </a:cubicBezTo>
                        <a:cubicBezTo>
                          <a:pt x="28432" y="89809"/>
                          <a:pt x="19050" y="78129"/>
                          <a:pt x="19050" y="66675"/>
                        </a:cubicBezTo>
                        <a:cubicBezTo>
                          <a:pt x="19050" y="55221"/>
                          <a:pt x="28432" y="43541"/>
                          <a:pt x="44779" y="34623"/>
                        </a:cubicBezTo>
                        <a:close/>
                        <a:moveTo>
                          <a:pt x="183821" y="213027"/>
                        </a:moveTo>
                        <a:cubicBezTo>
                          <a:pt x="165414" y="223064"/>
                          <a:pt x="140720" y="228600"/>
                          <a:pt x="114300" y="228600"/>
                        </a:cubicBezTo>
                        <a:cubicBezTo>
                          <a:pt x="87880" y="228600"/>
                          <a:pt x="63186" y="223064"/>
                          <a:pt x="44779" y="213027"/>
                        </a:cubicBezTo>
                        <a:cubicBezTo>
                          <a:pt x="28432" y="204109"/>
                          <a:pt x="19050" y="192429"/>
                          <a:pt x="19050" y="180975"/>
                        </a:cubicBezTo>
                        <a:lnTo>
                          <a:pt x="19050" y="161163"/>
                        </a:lnTo>
                        <a:cubicBezTo>
                          <a:pt x="39362" y="179022"/>
                          <a:pt x="74093" y="190500"/>
                          <a:pt x="114300" y="190500"/>
                        </a:cubicBezTo>
                        <a:cubicBezTo>
                          <a:pt x="154507" y="190500"/>
                          <a:pt x="189238" y="178975"/>
                          <a:pt x="209550" y="161163"/>
                        </a:cubicBezTo>
                        <a:lnTo>
                          <a:pt x="209550" y="180975"/>
                        </a:lnTo>
                        <a:cubicBezTo>
                          <a:pt x="209550" y="192429"/>
                          <a:pt x="200168" y="204109"/>
                          <a:pt x="183821" y="213027"/>
                        </a:cubicBezTo>
                        <a:close/>
                      </a:path>
                    </a:pathLst>
                  </a:custGeom>
                  <a:solidFill>
                    <a:srgbClr val="2E7D32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41" name="TextBox 41"/>
                <p:cNvSpPr txBox="1"/>
                <p:nvPr/>
              </p:nvSpPr>
              <p:spPr bwMode="auto">
                <a:xfrm>
                  <a:off x="668654" y="254317"/>
                  <a:ext cx="1524876" cy="27432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5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Release assets</a:t>
                  </a:r>
                  <a:endParaRPr/>
                </a:p>
              </p:txBody>
            </p:sp>
            <p:sp>
              <p:nvSpPr>
                <p:cNvPr id="42" name="TextBox 42"/>
                <p:cNvSpPr txBox="1"/>
                <p:nvPr/>
              </p:nvSpPr>
              <p:spPr bwMode="auto">
                <a:xfrm>
                  <a:off x="672465" y="543878"/>
                  <a:ext cx="1928241" cy="21336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050">
                      <a:solidFill>
                        <a:srgbClr val="64748B"/>
                      </a:solidFill>
                      <a:latin typeface="Arial"/>
                      <a:ea typeface="Microsoft YaHei"/>
                      <a:cs typeface="Arial"/>
                    </a:rPr>
                    <a:t>ckpt + rc1.yaml + mapping</a:t>
                  </a:r>
                  <a:endParaRPr/>
                </a:p>
              </p:txBody>
            </p:sp>
          </p:grpSp>
          <p:grpSp>
            <p:nvGrpSpPr>
              <p:cNvPr id="49" name="Group 49"/>
              <p:cNvGrpSpPr/>
              <p:nvPr/>
            </p:nvGrpSpPr>
            <p:grpSpPr bwMode="auto">
              <a:xfrm>
                <a:off x="304799" y="3162300"/>
                <a:ext cx="2343150" cy="685800"/>
                <a:chOff x="0" y="0"/>
                <a:chExt cx="2343150" cy="685800"/>
              </a:xfrm>
            </p:grpSpPr>
            <p:sp>
              <p:nvSpPr>
                <p:cNvPr id="44" name="Rectangle 44"/>
                <p:cNvSpPr/>
                <p:nvPr/>
              </p:nvSpPr>
              <p:spPr bwMode="auto">
                <a:xfrm>
                  <a:off x="0" y="0"/>
                  <a:ext cx="2343150" cy="685800"/>
                </a:xfrm>
                <a:prstGeom prst="roundRect">
                  <a:avLst>
                    <a:gd name="adj" fmla="val 19444"/>
                  </a:avLst>
                </a:prstGeom>
                <a:solidFill>
                  <a:srgbClr val="EAF7EE"/>
                </a:solidFill>
                <a:ln w="9525">
                  <a:solidFill>
                    <a:srgbClr val="D8E1EA"/>
                  </a:solidFill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grpSp>
              <p:nvGrpSpPr>
                <p:cNvPr id="47" name="Group 47"/>
                <p:cNvGrpSpPr/>
                <p:nvPr/>
              </p:nvGrpSpPr>
              <p:grpSpPr bwMode="auto">
                <a:xfrm>
                  <a:off x="264319" y="217286"/>
                  <a:ext cx="206514" cy="214317"/>
                  <a:chOff x="0" y="0"/>
                  <a:chExt cx="206514" cy="214317"/>
                </a:xfrm>
              </p:grpSpPr>
              <p:sp>
                <p:nvSpPr>
                  <p:cNvPr id="45" name="Freeform 45"/>
                  <p:cNvSpPr/>
                  <p:nvPr/>
                </p:nvSpPr>
                <p:spPr bwMode="auto">
                  <a:xfrm>
                    <a:off x="133945" y="8932"/>
                    <a:ext cx="62508" cy="6250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508" h="62508" fill="norm" stroke="1" extrusionOk="0">
                        <a:moveTo>
                          <a:pt x="62508" y="62508"/>
                        </a:moveTo>
                        <a:lnTo>
                          <a:pt x="0" y="6250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2E7D32">
                      <a:alpha val="20000"/>
                    </a:srgbClr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  <p:sp>
                <p:nvSpPr>
                  <p:cNvPr id="46" name="Freeform 46"/>
                  <p:cNvSpPr/>
                  <p:nvPr/>
                </p:nvSpPr>
                <p:spPr bwMode="auto">
                  <a:xfrm>
                    <a:off x="0" y="0"/>
                    <a:ext cx="206514" cy="2143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6514" h="214317" fill="norm" stroke="1" extrusionOk="0">
                        <a:moveTo>
                          <a:pt x="17859" y="174131"/>
                        </a:moveTo>
                        <a:cubicBezTo>
                          <a:pt x="17859" y="186409"/>
                          <a:pt x="25874" y="196455"/>
                          <a:pt x="35719" y="196455"/>
                        </a:cubicBezTo>
                        <a:cubicBezTo>
                          <a:pt x="40073" y="196357"/>
                          <a:pt x="44197" y="194477"/>
                          <a:pt x="47126" y="191253"/>
                        </a:cubicBezTo>
                        <a:cubicBezTo>
                          <a:pt x="50550" y="187766"/>
                          <a:pt x="56141" y="187679"/>
                          <a:pt x="59671" y="191057"/>
                        </a:cubicBezTo>
                        <a:cubicBezTo>
                          <a:pt x="63202" y="194435"/>
                          <a:pt x="63362" y="200024"/>
                          <a:pt x="60030" y="203599"/>
                        </a:cubicBezTo>
                        <a:cubicBezTo>
                          <a:pt x="53746" y="210363"/>
                          <a:pt x="44952" y="214240"/>
                          <a:pt x="35719" y="214314"/>
                        </a:cubicBezTo>
                        <a:cubicBezTo>
                          <a:pt x="16018" y="214314"/>
                          <a:pt x="0" y="196288"/>
                          <a:pt x="0" y="174131"/>
                        </a:cubicBezTo>
                        <a:cubicBezTo>
                          <a:pt x="0" y="151974"/>
                          <a:pt x="16018" y="133947"/>
                          <a:pt x="35719" y="133947"/>
                        </a:cubicBezTo>
                        <a:cubicBezTo>
                          <a:pt x="44952" y="134022"/>
                          <a:pt x="53746" y="137898"/>
                          <a:pt x="60030" y="144663"/>
                        </a:cubicBezTo>
                        <a:cubicBezTo>
                          <a:pt x="63362" y="148237"/>
                          <a:pt x="63202" y="153826"/>
                          <a:pt x="59671" y="157204"/>
                        </a:cubicBezTo>
                        <a:cubicBezTo>
                          <a:pt x="56141" y="160582"/>
                          <a:pt x="50550" y="160495"/>
                          <a:pt x="47126" y="157008"/>
                        </a:cubicBezTo>
                        <a:cubicBezTo>
                          <a:pt x="44197" y="153784"/>
                          <a:pt x="40073" y="151904"/>
                          <a:pt x="35719" y="151807"/>
                        </a:cubicBezTo>
                        <a:cubicBezTo>
                          <a:pt x="25874" y="151807"/>
                          <a:pt x="17859" y="161852"/>
                          <a:pt x="17859" y="174131"/>
                        </a:cubicBezTo>
                        <a:close/>
                        <a:moveTo>
                          <a:pt x="106710" y="164431"/>
                        </a:moveTo>
                        <a:cubicBezTo>
                          <a:pt x="102245" y="163136"/>
                          <a:pt x="97624" y="161808"/>
                          <a:pt x="95045" y="160145"/>
                        </a:cubicBezTo>
                        <a:cubicBezTo>
                          <a:pt x="93650" y="159241"/>
                          <a:pt x="93672" y="159028"/>
                          <a:pt x="93795" y="158024"/>
                        </a:cubicBezTo>
                        <a:cubicBezTo>
                          <a:pt x="93835" y="156378"/>
                          <a:pt x="94666" y="154853"/>
                          <a:pt x="96028" y="153927"/>
                        </a:cubicBezTo>
                        <a:cubicBezTo>
                          <a:pt x="101162" y="150445"/>
                          <a:pt x="113150" y="151996"/>
                          <a:pt x="118162" y="153302"/>
                        </a:cubicBezTo>
                        <a:cubicBezTo>
                          <a:pt x="122934" y="154578"/>
                          <a:pt x="127836" y="151745"/>
                          <a:pt x="129112" y="146973"/>
                        </a:cubicBezTo>
                        <a:cubicBezTo>
                          <a:pt x="130388" y="142202"/>
                          <a:pt x="127555" y="137299"/>
                          <a:pt x="122783" y="136023"/>
                        </a:cubicBezTo>
                        <a:cubicBezTo>
                          <a:pt x="120417" y="135409"/>
                          <a:pt x="99343" y="130197"/>
                          <a:pt x="86127" y="139104"/>
                        </a:cubicBezTo>
                        <a:cubicBezTo>
                          <a:pt x="80469" y="142901"/>
                          <a:pt x="76789" y="149014"/>
                          <a:pt x="76081" y="155791"/>
                        </a:cubicBezTo>
                        <a:cubicBezTo>
                          <a:pt x="73849" y="173517"/>
                          <a:pt x="91317" y="178573"/>
                          <a:pt x="101754" y="181587"/>
                        </a:cubicBezTo>
                        <a:cubicBezTo>
                          <a:pt x="115215" y="185483"/>
                          <a:pt x="116398" y="187079"/>
                          <a:pt x="116019" y="190059"/>
                        </a:cubicBezTo>
                        <a:cubicBezTo>
                          <a:pt x="115673" y="192749"/>
                          <a:pt x="114613" y="193787"/>
                          <a:pt x="113630" y="194446"/>
                        </a:cubicBezTo>
                        <a:cubicBezTo>
                          <a:pt x="108496" y="197861"/>
                          <a:pt x="96697" y="196187"/>
                          <a:pt x="91808" y="194848"/>
                        </a:cubicBezTo>
                        <a:cubicBezTo>
                          <a:pt x="87049" y="193519"/>
                          <a:pt x="82114" y="196300"/>
                          <a:pt x="80786" y="201059"/>
                        </a:cubicBezTo>
                        <a:cubicBezTo>
                          <a:pt x="79457" y="205818"/>
                          <a:pt x="82238" y="210753"/>
                          <a:pt x="86997" y="212082"/>
                        </a:cubicBezTo>
                        <a:cubicBezTo>
                          <a:pt x="92534" y="213532"/>
                          <a:pt x="98230" y="214282"/>
                          <a:pt x="103953" y="214314"/>
                        </a:cubicBezTo>
                        <a:cubicBezTo>
                          <a:pt x="110449" y="214314"/>
                          <a:pt x="117682" y="213198"/>
                          <a:pt x="123475" y="209336"/>
                        </a:cubicBezTo>
                        <a:cubicBezTo>
                          <a:pt x="129265" y="205489"/>
                          <a:pt x="133029" y="199252"/>
                          <a:pt x="133733" y="192336"/>
                        </a:cubicBezTo>
                        <a:cubicBezTo>
                          <a:pt x="136178" y="173015"/>
                          <a:pt x="117749" y="167623"/>
                          <a:pt x="106710" y="164431"/>
                        </a:cubicBezTo>
                        <a:close/>
                        <a:moveTo>
                          <a:pt x="199456" y="134472"/>
                        </a:moveTo>
                        <a:cubicBezTo>
                          <a:pt x="197225" y="133673"/>
                          <a:pt x="194769" y="133794"/>
                          <a:pt x="192627" y="134807"/>
                        </a:cubicBezTo>
                        <a:cubicBezTo>
                          <a:pt x="190485" y="135820"/>
                          <a:pt x="188834" y="137643"/>
                          <a:pt x="188037" y="139874"/>
                        </a:cubicBezTo>
                        <a:lnTo>
                          <a:pt x="174129" y="178830"/>
                        </a:lnTo>
                        <a:lnTo>
                          <a:pt x="160210" y="139874"/>
                        </a:lnTo>
                        <a:cubicBezTo>
                          <a:pt x="158551" y="135229"/>
                          <a:pt x="153442" y="132808"/>
                          <a:pt x="148796" y="134466"/>
                        </a:cubicBezTo>
                        <a:cubicBezTo>
                          <a:pt x="144151" y="136125"/>
                          <a:pt x="141730" y="141234"/>
                          <a:pt x="143388" y="145879"/>
                        </a:cubicBezTo>
                        <a:lnTo>
                          <a:pt x="165713" y="208387"/>
                        </a:lnTo>
                        <a:cubicBezTo>
                          <a:pt x="166981" y="211943"/>
                          <a:pt x="170348" y="214317"/>
                          <a:pt x="174123" y="214317"/>
                        </a:cubicBezTo>
                        <a:cubicBezTo>
                          <a:pt x="177898" y="214317"/>
                          <a:pt x="181266" y="211943"/>
                          <a:pt x="182534" y="208387"/>
                        </a:cubicBezTo>
                        <a:lnTo>
                          <a:pt x="204858" y="145879"/>
                        </a:lnTo>
                        <a:cubicBezTo>
                          <a:pt x="206514" y="141238"/>
                          <a:pt x="204096" y="136132"/>
                          <a:pt x="199456" y="134472"/>
                        </a:cubicBezTo>
                        <a:close/>
                        <a:moveTo>
                          <a:pt x="205383" y="71439"/>
                        </a:moveTo>
                        <a:lnTo>
                          <a:pt x="205383" y="98228"/>
                        </a:lnTo>
                        <a:cubicBezTo>
                          <a:pt x="205383" y="103160"/>
                          <a:pt x="201385" y="107158"/>
                          <a:pt x="196453" y="107158"/>
                        </a:cubicBezTo>
                        <a:cubicBezTo>
                          <a:pt x="191521" y="107158"/>
                          <a:pt x="187523" y="103160"/>
                          <a:pt x="187523" y="98228"/>
                        </a:cubicBezTo>
                        <a:lnTo>
                          <a:pt x="187523" y="80369"/>
                        </a:lnTo>
                        <a:lnTo>
                          <a:pt x="133945" y="80369"/>
                        </a:lnTo>
                        <a:cubicBezTo>
                          <a:pt x="129014" y="80369"/>
                          <a:pt x="125016" y="76371"/>
                          <a:pt x="125016" y="71439"/>
                        </a:cubicBezTo>
                        <a:lnTo>
                          <a:pt x="125016" y="17861"/>
                        </a:lnTo>
                        <a:lnTo>
                          <a:pt x="26789" y="17861"/>
                        </a:lnTo>
                        <a:lnTo>
                          <a:pt x="26789" y="98228"/>
                        </a:lnTo>
                        <a:cubicBezTo>
                          <a:pt x="26789" y="103160"/>
                          <a:pt x="22791" y="107158"/>
                          <a:pt x="17859" y="107158"/>
                        </a:cubicBezTo>
                        <a:cubicBezTo>
                          <a:pt x="12928" y="107158"/>
                          <a:pt x="8930" y="103160"/>
                          <a:pt x="8930" y="98228"/>
                        </a:cubicBezTo>
                        <a:lnTo>
                          <a:pt x="8930" y="17861"/>
                        </a:lnTo>
                        <a:cubicBezTo>
                          <a:pt x="8930" y="7998"/>
                          <a:pt x="16926" y="2"/>
                          <a:pt x="26789" y="2"/>
                        </a:cubicBezTo>
                        <a:lnTo>
                          <a:pt x="133945" y="2"/>
                        </a:lnTo>
                        <a:cubicBezTo>
                          <a:pt x="136314" y="0"/>
                          <a:pt x="138587" y="940"/>
                          <a:pt x="140263" y="2614"/>
                        </a:cubicBezTo>
                        <a:lnTo>
                          <a:pt x="202771" y="65122"/>
                        </a:lnTo>
                        <a:cubicBezTo>
                          <a:pt x="204445" y="66798"/>
                          <a:pt x="205385" y="69070"/>
                          <a:pt x="205383" y="71439"/>
                        </a:cubicBezTo>
                        <a:close/>
                        <a:moveTo>
                          <a:pt x="174899" y="62510"/>
                        </a:moveTo>
                        <a:lnTo>
                          <a:pt x="142875" y="30486"/>
                        </a:lnTo>
                        <a:lnTo>
                          <a:pt x="142875" y="62510"/>
                        </a:lnTo>
                        <a:close/>
                      </a:path>
                    </a:pathLst>
                  </a:custGeom>
                  <a:solidFill>
                    <a:srgbClr val="2E7D32"/>
                  </a:solidFill>
                  <a:ln>
                    <a:noFill/>
                  </a:ln>
                  <a:effectLst>
                    <a:outerShdw blurRad="76200" dist="28575" dir="5400000" algn="ctr" rotWithShape="0">
                      <a:srgbClr val="0F2A44">
                        <a:alpha val="5250"/>
                      </a:srgbClr>
                    </a:outerShdw>
                  </a:effectLst>
                </p:spPr>
              </p:sp>
            </p:grpSp>
            <p:sp>
              <p:nvSpPr>
                <p:cNvPr id="48" name="TextBox 48"/>
                <p:cNvSpPr txBox="1"/>
                <p:nvPr/>
              </p:nvSpPr>
              <p:spPr bwMode="auto">
                <a:xfrm>
                  <a:off x="669608" y="243364"/>
                  <a:ext cx="1420609" cy="25908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>
                    <a:defRPr/>
                  </a:pPr>
                  <a:r>
                    <a:rPr lang="zh-CN" sz="1300" b="1">
                      <a:solidFill>
                        <a:srgbClr val="111827"/>
                      </a:solidFill>
                      <a:latin typeface="Arial"/>
                      <a:ea typeface="Microsoft YaHei"/>
                      <a:cs typeface="Arial"/>
                    </a:rPr>
                    <a:t>JSON response</a:t>
                  </a:r>
                  <a:endParaRPr/>
                </a:p>
              </p:txBody>
            </p:sp>
          </p:grpSp>
        </p:grpSp>
        <p:grpSp>
          <p:nvGrpSpPr>
            <p:cNvPr id="61" name="Group 61"/>
            <p:cNvGrpSpPr/>
            <p:nvPr/>
          </p:nvGrpSpPr>
          <p:grpSpPr bwMode="auto">
            <a:xfrm>
              <a:off x="2952750" y="101918"/>
              <a:ext cx="5162550" cy="3269933"/>
              <a:chOff x="0" y="0"/>
              <a:chExt cx="5162550" cy="3269933"/>
            </a:xfrm>
          </p:grpSpPr>
          <p:sp>
            <p:nvSpPr>
              <p:cNvPr id="51" name="TextBox 51"/>
              <p:cNvSpPr txBox="1"/>
              <p:nvPr/>
            </p:nvSpPr>
            <p:spPr bwMode="auto">
              <a:xfrm>
                <a:off x="1759426" y="0"/>
                <a:ext cx="170084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Key interactions</a:t>
                </a:r>
                <a:endParaRPr/>
              </a:p>
            </p:txBody>
          </p:sp>
          <p:sp>
            <p:nvSpPr>
              <p:cNvPr id="52" name="Line 52"/>
              <p:cNvSpPr/>
              <p:nvPr/>
            </p:nvSpPr>
            <p:spPr bwMode="auto">
              <a:xfrm>
                <a:off x="0" y="1231581"/>
                <a:ext cx="5162550" cy="1"/>
              </a:xfrm>
              <a:prstGeom prst="line">
                <a:avLst/>
              </a:prstGeom>
              <a:noFill/>
              <a:ln w="28575">
                <a:solidFill>
                  <a:srgbClr val="1565C0"/>
                </a:solidFill>
                <a:tailEnd type="triangle" w="lg" len="lg"/>
              </a:ln>
            </p:spPr>
          </p:sp>
          <p:sp>
            <p:nvSpPr>
              <p:cNvPr id="53" name="Rectangle 53"/>
              <p:cNvSpPr/>
              <p:nvPr/>
            </p:nvSpPr>
            <p:spPr bwMode="auto">
              <a:xfrm>
                <a:off x="990600" y="869632"/>
                <a:ext cx="32385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1565C0"/>
                </a:solidFill>
              </a:ln>
            </p:spPr>
          </p:sp>
          <p:sp>
            <p:nvSpPr>
              <p:cNvPr id="54" name="TextBox 54"/>
              <p:cNvSpPr txBox="1"/>
              <p:nvPr/>
            </p:nvSpPr>
            <p:spPr bwMode="auto">
              <a:xfrm>
                <a:off x="1497553" y="965834"/>
                <a:ext cx="22245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① POST image → demo/app.py</a:t>
                </a:r>
                <a:endParaRPr/>
              </a:p>
            </p:txBody>
          </p:sp>
          <p:sp>
            <p:nvSpPr>
              <p:cNvPr id="55" name="Line 55"/>
              <p:cNvSpPr/>
              <p:nvPr/>
            </p:nvSpPr>
            <p:spPr bwMode="auto">
              <a:xfrm flipH="1">
                <a:off x="0" y="2260282"/>
                <a:ext cx="5162550" cy="1"/>
              </a:xfrm>
              <a:prstGeom prst="line">
                <a:avLst/>
              </a:prstGeom>
              <a:noFill/>
              <a:ln w="28575">
                <a:solidFill>
                  <a:srgbClr val="2E7D32"/>
                </a:solidFill>
                <a:tailEnd type="triangle" w="lg" len="lg"/>
              </a:ln>
            </p:spPr>
          </p:sp>
          <p:sp>
            <p:nvSpPr>
              <p:cNvPr id="56" name="Rectangle 56"/>
              <p:cNvSpPr/>
              <p:nvPr/>
            </p:nvSpPr>
            <p:spPr bwMode="auto">
              <a:xfrm>
                <a:off x="990600" y="2374582"/>
                <a:ext cx="32385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2E7D32"/>
                </a:solidFill>
              </a:ln>
            </p:spPr>
          </p:sp>
          <p:sp>
            <p:nvSpPr>
              <p:cNvPr id="57" name="TextBox 57"/>
              <p:cNvSpPr txBox="1"/>
              <p:nvPr/>
            </p:nvSpPr>
            <p:spPr bwMode="auto">
              <a:xfrm>
                <a:off x="1090976" y="2470784"/>
                <a:ext cx="30377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② return class_id + probability + top_k</a:t>
                </a:r>
                <a:endParaRPr/>
              </a:p>
            </p:txBody>
          </p:sp>
          <p:sp>
            <p:nvSpPr>
              <p:cNvPr id="58" name="Line 58"/>
              <p:cNvSpPr/>
              <p:nvPr/>
            </p:nvSpPr>
            <p:spPr bwMode="auto">
              <a:xfrm>
                <a:off x="0" y="3269932"/>
                <a:ext cx="5162550" cy="1"/>
              </a:xfrm>
              <a:prstGeom prst="line">
                <a:avLst/>
              </a:prstGeom>
              <a:noFill/>
              <a:ln w="28575">
                <a:solidFill>
                  <a:srgbClr val="1565C0"/>
                </a:solidFill>
                <a:tailEnd type="triangle" w="lg" len="lg"/>
              </a:ln>
            </p:spPr>
          </p:sp>
          <p:sp>
            <p:nvSpPr>
              <p:cNvPr id="59" name="Rectangle 59"/>
              <p:cNvSpPr/>
              <p:nvPr/>
            </p:nvSpPr>
            <p:spPr bwMode="auto">
              <a:xfrm>
                <a:off x="990600" y="2907981"/>
                <a:ext cx="32385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1565C0"/>
                </a:solidFill>
              </a:ln>
            </p:spPr>
          </p:sp>
          <p:sp>
            <p:nvSpPr>
              <p:cNvPr id="60" name="TextBox 60"/>
              <p:cNvSpPr txBox="1"/>
              <p:nvPr/>
            </p:nvSpPr>
            <p:spPr bwMode="auto">
              <a:xfrm>
                <a:off x="1163436" y="3004184"/>
                <a:ext cx="2892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③ decision: accept / review / relabel</a:t>
                </a:r>
                <a:endParaRPr/>
              </a:p>
            </p:txBody>
          </p:sp>
        </p:grpSp>
      </p:grpSp>
      <p:sp>
        <p:nvSpPr>
          <p:cNvPr id="67" name="TextBox 67"/>
          <p:cNvSpPr txBox="1"/>
          <p:nvPr/>
        </p:nvSpPr>
        <p:spPr bwMode="auto">
          <a:xfrm rot="0" flipH="0" flipV="0">
            <a:off x="11857767" y="13118782"/>
            <a:ext cx="3342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11 / 13</a:t>
            </a:r>
            <a:endParaRPr/>
          </a:p>
        </p:txBody>
      </p:sp>
      <p:sp>
        <p:nvSpPr>
          <p:cNvPr id="1735600289" name="TextBox 5"/>
          <p:cNvSpPr txBox="1"/>
          <p:nvPr/>
        </p:nvSpPr>
        <p:spPr bwMode="auto">
          <a:xfrm rot="0" flipH="0" flipV="0">
            <a:off x="332099" y="248602"/>
            <a:ext cx="11525668" cy="7775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Демо показывает путь интеграции: фото → RoomPredictor → JSON-ответ → интерфейс модерации</a:t>
            </a:r>
            <a:endParaRPr/>
          </a:p>
        </p:txBody>
      </p:sp>
      <p:sp>
        <p:nvSpPr>
          <p:cNvPr id="1771043215" name="TextBox 17"/>
          <p:cNvSpPr txBox="1"/>
          <p:nvPr/>
        </p:nvSpPr>
        <p:spPr bwMode="auto">
          <a:xfrm flipH="0" flipV="0">
            <a:off x="944100" y="3139260"/>
            <a:ext cx="2132068" cy="160379"/>
          </a:xfrm>
          <a:prstGeom prst="rect">
            <a:avLst/>
          </a:prstGeom>
          <a:noFill/>
          <a:ln>
            <a:noFill/>
          </a:ln>
          <a:effectLst>
            <a:outerShdw blurRad="76200" dist="28575" dir="5400000" algn="ctr" rotWithShape="0">
              <a:srgbClr val="0F2A44">
                <a:alpha val="5250"/>
              </a:srgbClr>
            </a:outerShdw>
          </a:effectLst>
        </p:spPr>
        <p:txBody>
          <a:bodyPr wrap="squar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демо-приложение или API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3" name="Group 63"/>
          <p:cNvGrpSpPr/>
          <p:nvPr/>
        </p:nvGrpSpPr>
        <p:grpSpPr bwMode="auto">
          <a:xfrm>
            <a:off x="533400" y="1504950"/>
            <a:ext cx="11459884" cy="3829050"/>
            <a:chOff x="533400" y="1504950"/>
            <a:chExt cx="11459884" cy="3829050"/>
          </a:xfrm>
        </p:grpSpPr>
        <p:grpSp>
          <p:nvGrpSpPr>
            <p:cNvPr id="17" name="Group 17"/>
            <p:cNvGrpSpPr/>
            <p:nvPr/>
          </p:nvGrpSpPr>
          <p:grpSpPr bwMode="auto">
            <a:xfrm>
              <a:off x="533400" y="1504950"/>
              <a:ext cx="3429000" cy="1752599"/>
              <a:chOff x="533400" y="1504950"/>
              <a:chExt cx="3429000" cy="1752599"/>
            </a:xfrm>
          </p:grpSpPr>
          <p:sp>
            <p:nvSpPr>
              <p:cNvPr id="9" name="Rectangle 9"/>
              <p:cNvSpPr/>
              <p:nvPr/>
            </p:nvSpPr>
            <p:spPr bwMode="auto">
              <a:xfrm>
                <a:off x="533400" y="1504950"/>
                <a:ext cx="3429000" cy="1752599"/>
              </a:xfrm>
              <a:prstGeom prst="roundRect">
                <a:avLst>
                  <a:gd name="adj" fmla="val 978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12" name="Group 12"/>
              <p:cNvGrpSpPr/>
              <p:nvPr/>
            </p:nvGrpSpPr>
            <p:grpSpPr bwMode="auto">
              <a:xfrm>
                <a:off x="858738" y="1843680"/>
                <a:ext cx="278297" cy="271465"/>
                <a:chOff x="858738" y="1843680"/>
                <a:chExt cx="278297" cy="271465"/>
              </a:xfrm>
            </p:grpSpPr>
            <p:sp>
              <p:nvSpPr>
                <p:cNvPr id="10" name="Freeform 10"/>
                <p:cNvSpPr/>
                <p:nvPr/>
              </p:nvSpPr>
              <p:spPr bwMode="auto">
                <a:xfrm>
                  <a:off x="1034058" y="1854994"/>
                  <a:ext cx="79177" cy="79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177" h="79177" fill="norm" stroke="1" extrusionOk="0">
                      <a:moveTo>
                        <a:pt x="79177" y="79177"/>
                      </a:moveTo>
                      <a:lnTo>
                        <a:pt x="0" y="7917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11" name="Freeform 11"/>
                <p:cNvSpPr/>
                <p:nvPr/>
              </p:nvSpPr>
              <p:spPr bwMode="auto">
                <a:xfrm>
                  <a:off x="858738" y="1843680"/>
                  <a:ext cx="278297" cy="2714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297" h="271465" fill="norm" stroke="1" extrusionOk="0">
                      <a:moveTo>
                        <a:pt x="33933" y="169666"/>
                      </a:moveTo>
                      <a:lnTo>
                        <a:pt x="11311" y="169666"/>
                      </a:lnTo>
                      <a:cubicBezTo>
                        <a:pt x="5064" y="169666"/>
                        <a:pt x="0" y="174731"/>
                        <a:pt x="0" y="180977"/>
                      </a:cubicBezTo>
                      <a:lnTo>
                        <a:pt x="0" y="260154"/>
                      </a:lnTo>
                      <a:cubicBezTo>
                        <a:pt x="0" y="266401"/>
                        <a:pt x="5064" y="271465"/>
                        <a:pt x="11311" y="271465"/>
                      </a:cubicBezTo>
                      <a:lnTo>
                        <a:pt x="33933" y="271465"/>
                      </a:lnTo>
                      <a:cubicBezTo>
                        <a:pt x="62044" y="271465"/>
                        <a:pt x="84832" y="248677"/>
                        <a:pt x="84832" y="220566"/>
                      </a:cubicBezTo>
                      <a:cubicBezTo>
                        <a:pt x="84832" y="192455"/>
                        <a:pt x="62044" y="169666"/>
                        <a:pt x="33933" y="169666"/>
                      </a:cubicBezTo>
                      <a:close/>
                      <a:moveTo>
                        <a:pt x="33933" y="248843"/>
                      </a:moveTo>
                      <a:lnTo>
                        <a:pt x="22622" y="248843"/>
                      </a:lnTo>
                      <a:lnTo>
                        <a:pt x="22622" y="192288"/>
                      </a:lnTo>
                      <a:lnTo>
                        <a:pt x="33933" y="192288"/>
                      </a:lnTo>
                      <a:cubicBezTo>
                        <a:pt x="49550" y="192288"/>
                        <a:pt x="62210" y="204948"/>
                        <a:pt x="62210" y="220566"/>
                      </a:cubicBezTo>
                      <a:cubicBezTo>
                        <a:pt x="62210" y="236183"/>
                        <a:pt x="49550" y="248843"/>
                        <a:pt x="33933" y="248843"/>
                      </a:cubicBezTo>
                      <a:close/>
                      <a:moveTo>
                        <a:pt x="273626" y="241901"/>
                      </a:moveTo>
                      <a:cubicBezTo>
                        <a:pt x="278139" y="246219"/>
                        <a:pt x="278297" y="253378"/>
                        <a:pt x="273979" y="257892"/>
                      </a:cubicBezTo>
                      <a:cubicBezTo>
                        <a:pt x="266019" y="266460"/>
                        <a:pt x="254880" y="271370"/>
                        <a:pt x="243185" y="271465"/>
                      </a:cubicBezTo>
                      <a:cubicBezTo>
                        <a:pt x="218230" y="271465"/>
                        <a:pt x="197941" y="248631"/>
                        <a:pt x="197941" y="220566"/>
                      </a:cubicBezTo>
                      <a:cubicBezTo>
                        <a:pt x="197941" y="192500"/>
                        <a:pt x="218230" y="169666"/>
                        <a:pt x="243185" y="169666"/>
                      </a:cubicBezTo>
                      <a:cubicBezTo>
                        <a:pt x="254880" y="169761"/>
                        <a:pt x="266019" y="174671"/>
                        <a:pt x="273979" y="183240"/>
                      </a:cubicBezTo>
                      <a:cubicBezTo>
                        <a:pt x="278200" y="187767"/>
                        <a:pt x="277998" y="194846"/>
                        <a:pt x="273525" y="199125"/>
                      </a:cubicBezTo>
                      <a:cubicBezTo>
                        <a:pt x="269053" y="203404"/>
                        <a:pt x="261971" y="203294"/>
                        <a:pt x="257635" y="198877"/>
                      </a:cubicBezTo>
                      <a:cubicBezTo>
                        <a:pt x="253925" y="194794"/>
                        <a:pt x="248701" y="192412"/>
                        <a:pt x="243185" y="192288"/>
                      </a:cubicBezTo>
                      <a:cubicBezTo>
                        <a:pt x="230715" y="192288"/>
                        <a:pt x="220563" y="205013"/>
                        <a:pt x="220563" y="220566"/>
                      </a:cubicBezTo>
                      <a:cubicBezTo>
                        <a:pt x="220563" y="236118"/>
                        <a:pt x="230715" y="248843"/>
                        <a:pt x="243185" y="248843"/>
                      </a:cubicBezTo>
                      <a:cubicBezTo>
                        <a:pt x="248703" y="248729"/>
                        <a:pt x="253931" y="246346"/>
                        <a:pt x="257635" y="242254"/>
                      </a:cubicBezTo>
                      <a:cubicBezTo>
                        <a:pt x="261953" y="237742"/>
                        <a:pt x="269112" y="237583"/>
                        <a:pt x="273626" y="241901"/>
                      </a:cubicBezTo>
                      <a:close/>
                      <a:moveTo>
                        <a:pt x="141387" y="169666"/>
                      </a:moveTo>
                      <a:cubicBezTo>
                        <a:pt x="116446" y="169666"/>
                        <a:pt x="96143" y="192500"/>
                        <a:pt x="96143" y="220566"/>
                      </a:cubicBezTo>
                      <a:cubicBezTo>
                        <a:pt x="96143" y="248631"/>
                        <a:pt x="116446" y="271465"/>
                        <a:pt x="141387" y="271465"/>
                      </a:cubicBezTo>
                      <a:cubicBezTo>
                        <a:pt x="166327" y="271465"/>
                        <a:pt x="186630" y="248631"/>
                        <a:pt x="186630" y="220566"/>
                      </a:cubicBezTo>
                      <a:cubicBezTo>
                        <a:pt x="186630" y="192500"/>
                        <a:pt x="166327" y="169666"/>
                        <a:pt x="141387" y="169666"/>
                      </a:cubicBezTo>
                      <a:close/>
                      <a:moveTo>
                        <a:pt x="141387" y="248843"/>
                      </a:moveTo>
                      <a:cubicBezTo>
                        <a:pt x="128916" y="248843"/>
                        <a:pt x="118765" y="236118"/>
                        <a:pt x="118765" y="220566"/>
                      </a:cubicBezTo>
                      <a:cubicBezTo>
                        <a:pt x="118765" y="205013"/>
                        <a:pt x="128916" y="192288"/>
                        <a:pt x="141387" y="192288"/>
                      </a:cubicBezTo>
                      <a:cubicBezTo>
                        <a:pt x="153857" y="192288"/>
                        <a:pt x="164009" y="205013"/>
                        <a:pt x="164009" y="220566"/>
                      </a:cubicBezTo>
                      <a:cubicBezTo>
                        <a:pt x="164009" y="236118"/>
                        <a:pt x="153857" y="248843"/>
                        <a:pt x="141387" y="248843"/>
                      </a:cubicBezTo>
                      <a:close/>
                      <a:moveTo>
                        <a:pt x="28277" y="135734"/>
                      </a:moveTo>
                      <a:cubicBezTo>
                        <a:pt x="34524" y="135734"/>
                        <a:pt x="39588" y="130670"/>
                        <a:pt x="39588" y="124423"/>
                      </a:cubicBezTo>
                      <a:lnTo>
                        <a:pt x="39588" y="22624"/>
                      </a:lnTo>
                      <a:lnTo>
                        <a:pt x="164009" y="22624"/>
                      </a:lnTo>
                      <a:lnTo>
                        <a:pt x="164009" y="90490"/>
                      </a:lnTo>
                      <a:cubicBezTo>
                        <a:pt x="164009" y="96737"/>
                        <a:pt x="169073" y="101801"/>
                        <a:pt x="175320" y="101801"/>
                      </a:cubicBezTo>
                      <a:lnTo>
                        <a:pt x="243185" y="101801"/>
                      </a:lnTo>
                      <a:lnTo>
                        <a:pt x="243185" y="124423"/>
                      </a:lnTo>
                      <a:cubicBezTo>
                        <a:pt x="243185" y="130670"/>
                        <a:pt x="248249" y="135734"/>
                        <a:pt x="254496" y="135734"/>
                      </a:cubicBezTo>
                      <a:cubicBezTo>
                        <a:pt x="260743" y="135734"/>
                        <a:pt x="265807" y="130670"/>
                        <a:pt x="265807" y="124423"/>
                      </a:cubicBezTo>
                      <a:lnTo>
                        <a:pt x="265807" y="90490"/>
                      </a:lnTo>
                      <a:cubicBezTo>
                        <a:pt x="265809" y="87489"/>
                        <a:pt x="264619" y="84610"/>
                        <a:pt x="262499" y="82487"/>
                      </a:cubicBezTo>
                      <a:lnTo>
                        <a:pt x="183322" y="3311"/>
                      </a:lnTo>
                      <a:cubicBezTo>
                        <a:pt x="181199" y="1190"/>
                        <a:pt x="178320" y="0"/>
                        <a:pt x="175320" y="2"/>
                      </a:cubicBezTo>
                      <a:lnTo>
                        <a:pt x="39588" y="2"/>
                      </a:lnTo>
                      <a:cubicBezTo>
                        <a:pt x="27095" y="2"/>
                        <a:pt x="16966" y="10131"/>
                        <a:pt x="16966" y="22624"/>
                      </a:cubicBezTo>
                      <a:lnTo>
                        <a:pt x="16966" y="124423"/>
                      </a:lnTo>
                      <a:cubicBezTo>
                        <a:pt x="16966" y="130670"/>
                        <a:pt x="22030" y="135734"/>
                        <a:pt x="28277" y="135734"/>
                      </a:cubicBezTo>
                      <a:close/>
                      <a:moveTo>
                        <a:pt x="186630" y="38615"/>
                      </a:moveTo>
                      <a:lnTo>
                        <a:pt x="227194" y="79179"/>
                      </a:lnTo>
                      <a:lnTo>
                        <a:pt x="186630" y="79179"/>
                      </a:ln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13" name="TextBox 13"/>
              <p:cNvSpPr txBox="1"/>
              <p:nvPr/>
            </p:nvSpPr>
            <p:spPr bwMode="auto">
              <a:xfrm>
                <a:off x="1315402" y="1789271"/>
                <a:ext cx="2144984" cy="2895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Текстовый документ</a:t>
                </a:r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 bwMode="auto">
              <a:xfrm>
                <a:off x="1319212" y="2088356"/>
                <a:ext cx="207418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архитектура и ход работы</a:t>
                </a:r>
                <a:endParaRPr/>
              </a:p>
            </p:txBody>
          </p:sp>
          <p:sp>
            <p:nvSpPr>
              <p:cNvPr id="15" name="Rectangle 15"/>
              <p:cNvSpPr/>
              <p:nvPr/>
            </p:nvSpPr>
            <p:spPr bwMode="auto">
              <a:xfrm>
                <a:off x="819150" y="2609850"/>
                <a:ext cx="2800350" cy="361950"/>
              </a:xfrm>
              <a:prstGeom prst="roundRect">
                <a:avLst>
                  <a:gd name="adj" fmla="val 31579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6" name="TextBox 16"/>
              <p:cNvSpPr txBox="1"/>
              <p:nvPr/>
            </p:nvSpPr>
            <p:spPr bwMode="auto">
              <a:xfrm>
                <a:off x="978218" y="2742724"/>
                <a:ext cx="1584031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00">
                    <a:solidFill>
                      <a:srgbClr val="1565C0"/>
                    </a:solidFill>
                    <a:latin typeface="Consolas"/>
                    <a:ea typeface="Microsoft YaHei"/>
                    <a:cs typeface="Consolas"/>
                  </a:rPr>
                  <a:t>docs/ARCHITECTURE.md</a:t>
                </a:r>
                <a:endParaRPr/>
              </a:p>
            </p:txBody>
          </p:sp>
        </p:grpSp>
        <p:grpSp>
          <p:nvGrpSpPr>
            <p:cNvPr id="26" name="Group 26"/>
            <p:cNvGrpSpPr/>
            <p:nvPr/>
          </p:nvGrpSpPr>
          <p:grpSpPr bwMode="auto">
            <a:xfrm>
              <a:off x="4381500" y="1504950"/>
              <a:ext cx="3429000" cy="1752599"/>
              <a:chOff x="4381500" y="1504950"/>
              <a:chExt cx="3429000" cy="1752599"/>
            </a:xfrm>
          </p:grpSpPr>
          <p:sp>
            <p:nvSpPr>
              <p:cNvPr id="18" name="Rectangle 18"/>
              <p:cNvSpPr/>
              <p:nvPr/>
            </p:nvSpPr>
            <p:spPr bwMode="auto">
              <a:xfrm>
                <a:off x="4381500" y="1504950"/>
                <a:ext cx="3429000" cy="1752599"/>
              </a:xfrm>
              <a:prstGeom prst="roundRect">
                <a:avLst>
                  <a:gd name="adj" fmla="val 978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21" name="Group 21"/>
              <p:cNvGrpSpPr/>
              <p:nvPr/>
            </p:nvGrpSpPr>
            <p:grpSpPr bwMode="auto">
              <a:xfrm>
                <a:off x="4701183" y="1866305"/>
                <a:ext cx="294084" cy="248841"/>
                <a:chOff x="4701183" y="1866305"/>
                <a:chExt cx="294084" cy="248841"/>
              </a:xfrm>
            </p:grpSpPr>
            <p:sp>
              <p:nvSpPr>
                <p:cNvPr id="19" name="Freeform 19"/>
                <p:cNvSpPr/>
                <p:nvPr/>
              </p:nvSpPr>
              <p:spPr bwMode="auto">
                <a:xfrm>
                  <a:off x="4712494" y="1877616"/>
                  <a:ext cx="271462" cy="2262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1462" h="226219" fill="norm" stroke="1" extrusionOk="0">
                      <a:moveTo>
                        <a:pt x="271462" y="11311"/>
                      </a:moveTo>
                      <a:lnTo>
                        <a:pt x="271462" y="226219"/>
                      </a:lnTo>
                      <a:lnTo>
                        <a:pt x="0" y="226219"/>
                      </a:lnTo>
                      <a:lnTo>
                        <a:pt x="0" y="0"/>
                      </a:lnTo>
                      <a:lnTo>
                        <a:pt x="260152" y="0"/>
                      </a:lnTo>
                      <a:cubicBezTo>
                        <a:pt x="266398" y="0"/>
                        <a:pt x="271462" y="5064"/>
                        <a:pt x="271462" y="11311"/>
                      </a:cubicBezTo>
                      <a:close/>
                    </a:path>
                  </a:pathLst>
                </a:custGeom>
                <a:solidFill>
                  <a:srgbClr val="2E7D3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0" name="Freeform 20"/>
                <p:cNvSpPr/>
                <p:nvPr/>
              </p:nvSpPr>
              <p:spPr bwMode="auto">
                <a:xfrm>
                  <a:off x="4701183" y="1866305"/>
                  <a:ext cx="294084" cy="2488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4084" h="248841" fill="norm" stroke="1" extrusionOk="0">
                      <a:moveTo>
                        <a:pt x="294084" y="237530"/>
                      </a:moveTo>
                      <a:cubicBezTo>
                        <a:pt x="294084" y="243777"/>
                        <a:pt x="289020" y="248841"/>
                        <a:pt x="282773" y="248841"/>
                      </a:cubicBezTo>
                      <a:lnTo>
                        <a:pt x="11311" y="248841"/>
                      </a:lnTo>
                      <a:cubicBezTo>
                        <a:pt x="5064" y="248841"/>
                        <a:pt x="0" y="243777"/>
                        <a:pt x="0" y="237530"/>
                      </a:cubicBezTo>
                      <a:lnTo>
                        <a:pt x="0" y="11311"/>
                      </a:lnTo>
                      <a:cubicBezTo>
                        <a:pt x="0" y="5064"/>
                        <a:pt x="5064" y="0"/>
                        <a:pt x="11311" y="0"/>
                      </a:cubicBezTo>
                      <a:cubicBezTo>
                        <a:pt x="17558" y="0"/>
                        <a:pt x="22622" y="5064"/>
                        <a:pt x="22622" y="11311"/>
                      </a:cubicBezTo>
                      <a:lnTo>
                        <a:pt x="22622" y="164984"/>
                      </a:lnTo>
                      <a:lnTo>
                        <a:pt x="93796" y="93796"/>
                      </a:lnTo>
                      <a:cubicBezTo>
                        <a:pt x="95918" y="91672"/>
                        <a:pt x="98796" y="90479"/>
                        <a:pt x="101798" y="90479"/>
                      </a:cubicBezTo>
                      <a:cubicBezTo>
                        <a:pt x="104800" y="90479"/>
                        <a:pt x="107679" y="91672"/>
                        <a:pt x="109801" y="93796"/>
                      </a:cubicBezTo>
                      <a:lnTo>
                        <a:pt x="147042" y="131051"/>
                      </a:lnTo>
                      <a:lnTo>
                        <a:pt x="221539" y="56555"/>
                      </a:lnTo>
                      <a:lnTo>
                        <a:pt x="192286" y="56555"/>
                      </a:lnTo>
                      <a:cubicBezTo>
                        <a:pt x="186039" y="56555"/>
                        <a:pt x="180975" y="51491"/>
                        <a:pt x="180975" y="45244"/>
                      </a:cubicBezTo>
                      <a:cubicBezTo>
                        <a:pt x="180975" y="38997"/>
                        <a:pt x="186039" y="33933"/>
                        <a:pt x="192286" y="33933"/>
                      </a:cubicBezTo>
                      <a:lnTo>
                        <a:pt x="248841" y="33933"/>
                      </a:lnTo>
                      <a:cubicBezTo>
                        <a:pt x="255087" y="33933"/>
                        <a:pt x="260152" y="38997"/>
                        <a:pt x="260152" y="45244"/>
                      </a:cubicBezTo>
                      <a:lnTo>
                        <a:pt x="260152" y="101798"/>
                      </a:lnTo>
                      <a:cubicBezTo>
                        <a:pt x="260152" y="108045"/>
                        <a:pt x="255087" y="113109"/>
                        <a:pt x="248841" y="113109"/>
                      </a:cubicBezTo>
                      <a:cubicBezTo>
                        <a:pt x="242594" y="113109"/>
                        <a:pt x="237530" y="108045"/>
                        <a:pt x="237530" y="101798"/>
                      </a:cubicBezTo>
                      <a:lnTo>
                        <a:pt x="237530" y="72546"/>
                      </a:lnTo>
                      <a:lnTo>
                        <a:pt x="155045" y="155045"/>
                      </a:lnTo>
                      <a:cubicBezTo>
                        <a:pt x="152923" y="157169"/>
                        <a:pt x="150044" y="158362"/>
                        <a:pt x="147042" y="158362"/>
                      </a:cubicBezTo>
                      <a:cubicBezTo>
                        <a:pt x="144040" y="158362"/>
                        <a:pt x="141161" y="157169"/>
                        <a:pt x="139040" y="155045"/>
                      </a:cubicBezTo>
                      <a:lnTo>
                        <a:pt x="101798" y="117789"/>
                      </a:lnTo>
                      <a:lnTo>
                        <a:pt x="22622" y="196966"/>
                      </a:lnTo>
                      <a:lnTo>
                        <a:pt x="22622" y="226219"/>
                      </a:lnTo>
                      <a:lnTo>
                        <a:pt x="282773" y="226219"/>
                      </a:lnTo>
                      <a:cubicBezTo>
                        <a:pt x="289020" y="226219"/>
                        <a:pt x="294084" y="231283"/>
                        <a:pt x="294084" y="237530"/>
                      </a:cubicBezTo>
                      <a:close/>
                    </a:path>
                  </a:pathLst>
                </a:custGeom>
                <a:solidFill>
                  <a:srgbClr val="2E7D3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22" name="TextBox 22"/>
              <p:cNvSpPr txBox="1"/>
              <p:nvPr/>
            </p:nvSpPr>
            <p:spPr bwMode="auto">
              <a:xfrm>
                <a:off x="5163502" y="1789271"/>
                <a:ext cx="1544033" cy="2895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Журнал опытов</a:t>
                </a:r>
                <a:endParaRPr/>
              </a:p>
            </p:txBody>
          </p:sp>
          <p:sp>
            <p:nvSpPr>
              <p:cNvPr id="23" name="TextBox 23"/>
              <p:cNvSpPr txBox="1"/>
              <p:nvPr/>
            </p:nvSpPr>
            <p:spPr bwMode="auto">
              <a:xfrm>
                <a:off x="5167312" y="2088356"/>
                <a:ext cx="2254925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метрики, параметры, run_id</a:t>
                </a:r>
                <a:endParaRPr/>
              </a:p>
            </p:txBody>
          </p:sp>
          <p:sp>
            <p:nvSpPr>
              <p:cNvPr id="24" name="Rectangle 24"/>
              <p:cNvSpPr/>
              <p:nvPr/>
            </p:nvSpPr>
            <p:spPr bwMode="auto">
              <a:xfrm>
                <a:off x="4667250" y="2609850"/>
                <a:ext cx="2800350" cy="361950"/>
              </a:xfrm>
              <a:prstGeom prst="roundRect">
                <a:avLst>
                  <a:gd name="adj" fmla="val 31579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5" name="TextBox 25"/>
              <p:cNvSpPr txBox="1"/>
              <p:nvPr/>
            </p:nvSpPr>
            <p:spPr bwMode="auto">
              <a:xfrm>
                <a:off x="4826318" y="2742724"/>
                <a:ext cx="1313474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00">
                    <a:solidFill>
                      <a:srgbClr val="2E7D32"/>
                    </a:solidFill>
                    <a:latin typeface="Consolas"/>
                    <a:ea typeface="Microsoft YaHei"/>
                    <a:cs typeface="Consolas"/>
                  </a:rPr>
                  <a:t>docs/ML_FLOW.md</a:t>
                </a: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 bwMode="auto">
            <a:xfrm>
              <a:off x="8229600" y="1504950"/>
              <a:ext cx="3763684" cy="1752599"/>
              <a:chOff x="8229600" y="1504950"/>
              <a:chExt cx="3763684" cy="1752599"/>
            </a:xfrm>
          </p:grpSpPr>
          <p:sp>
            <p:nvSpPr>
              <p:cNvPr id="27" name="Rectangle 27"/>
              <p:cNvSpPr/>
              <p:nvPr/>
            </p:nvSpPr>
            <p:spPr bwMode="auto">
              <a:xfrm>
                <a:off x="8229600" y="1504950"/>
                <a:ext cx="3429000" cy="1752599"/>
              </a:xfrm>
              <a:prstGeom prst="roundRect">
                <a:avLst>
                  <a:gd name="adj" fmla="val 978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30" name="Group 30"/>
              <p:cNvGrpSpPr/>
              <p:nvPr/>
            </p:nvGrpSpPr>
            <p:grpSpPr bwMode="auto">
              <a:xfrm>
                <a:off x="8559483" y="1865193"/>
                <a:ext cx="272574" cy="249961"/>
                <a:chOff x="8559483" y="1865193"/>
                <a:chExt cx="272574" cy="249961"/>
              </a:xfrm>
            </p:grpSpPr>
            <p:sp>
              <p:nvSpPr>
                <p:cNvPr id="28" name="Freeform 28"/>
                <p:cNvSpPr/>
                <p:nvPr/>
              </p:nvSpPr>
              <p:spPr bwMode="auto">
                <a:xfrm>
                  <a:off x="8696325" y="1900238"/>
                  <a:ext cx="124420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420" h="180975" fill="norm" stroke="1" extrusionOk="0">
                      <a:moveTo>
                        <a:pt x="124420" y="0"/>
                      </a:moveTo>
                      <a:lnTo>
                        <a:pt x="124420" y="180975"/>
                      </a:lnTo>
                      <a:lnTo>
                        <a:pt x="0" y="18097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04A0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29" name="Freeform 29"/>
                <p:cNvSpPr/>
                <p:nvPr/>
              </p:nvSpPr>
              <p:spPr bwMode="auto">
                <a:xfrm>
                  <a:off x="8559483" y="1865193"/>
                  <a:ext cx="272574" cy="2499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2574" h="249961" fill="norm" stroke="1" extrusionOk="0">
                      <a:moveTo>
                        <a:pt x="272574" y="125532"/>
                      </a:moveTo>
                      <a:cubicBezTo>
                        <a:pt x="272574" y="131778"/>
                        <a:pt x="267510" y="136842"/>
                        <a:pt x="261263" y="136842"/>
                      </a:cubicBezTo>
                      <a:lnTo>
                        <a:pt x="136842" y="136842"/>
                      </a:lnTo>
                      <a:cubicBezTo>
                        <a:pt x="130596" y="136842"/>
                        <a:pt x="125532" y="131778"/>
                        <a:pt x="125532" y="125532"/>
                      </a:cubicBezTo>
                      <a:cubicBezTo>
                        <a:pt x="125532" y="119285"/>
                        <a:pt x="130596" y="114221"/>
                        <a:pt x="136842" y="114221"/>
                      </a:cubicBezTo>
                      <a:lnTo>
                        <a:pt x="261263" y="114221"/>
                      </a:lnTo>
                      <a:cubicBezTo>
                        <a:pt x="267510" y="114221"/>
                        <a:pt x="272574" y="119285"/>
                        <a:pt x="272574" y="125532"/>
                      </a:cubicBezTo>
                      <a:close/>
                      <a:moveTo>
                        <a:pt x="136842" y="46355"/>
                      </a:moveTo>
                      <a:lnTo>
                        <a:pt x="261263" y="46355"/>
                      </a:lnTo>
                      <a:cubicBezTo>
                        <a:pt x="267510" y="46355"/>
                        <a:pt x="272574" y="41291"/>
                        <a:pt x="272574" y="35044"/>
                      </a:cubicBezTo>
                      <a:cubicBezTo>
                        <a:pt x="272574" y="28797"/>
                        <a:pt x="267510" y="23733"/>
                        <a:pt x="261263" y="23733"/>
                      </a:cubicBezTo>
                      <a:lnTo>
                        <a:pt x="136842" y="23733"/>
                      </a:lnTo>
                      <a:cubicBezTo>
                        <a:pt x="130596" y="23733"/>
                        <a:pt x="125532" y="28797"/>
                        <a:pt x="125532" y="35044"/>
                      </a:cubicBezTo>
                      <a:cubicBezTo>
                        <a:pt x="125532" y="41291"/>
                        <a:pt x="130596" y="46355"/>
                        <a:pt x="136842" y="46355"/>
                      </a:cubicBezTo>
                      <a:close/>
                      <a:moveTo>
                        <a:pt x="261263" y="204708"/>
                      </a:moveTo>
                      <a:lnTo>
                        <a:pt x="136842" y="204708"/>
                      </a:lnTo>
                      <a:cubicBezTo>
                        <a:pt x="130596" y="204708"/>
                        <a:pt x="125532" y="209772"/>
                        <a:pt x="125532" y="216019"/>
                      </a:cubicBezTo>
                      <a:cubicBezTo>
                        <a:pt x="125532" y="222266"/>
                        <a:pt x="130596" y="227330"/>
                        <a:pt x="136842" y="227330"/>
                      </a:cubicBezTo>
                      <a:lnTo>
                        <a:pt x="261263" y="227330"/>
                      </a:lnTo>
                      <a:cubicBezTo>
                        <a:pt x="267510" y="227330"/>
                        <a:pt x="272574" y="222266"/>
                        <a:pt x="272574" y="216019"/>
                      </a:cubicBezTo>
                      <a:cubicBezTo>
                        <a:pt x="272574" y="209772"/>
                        <a:pt x="267510" y="204708"/>
                        <a:pt x="261263" y="204708"/>
                      </a:cubicBezTo>
                      <a:close/>
                      <a:moveTo>
                        <a:pt x="72285" y="4420"/>
                      </a:moveTo>
                      <a:lnTo>
                        <a:pt x="35044" y="41675"/>
                      </a:lnTo>
                      <a:lnTo>
                        <a:pt x="20425" y="27042"/>
                      </a:lnTo>
                      <a:cubicBezTo>
                        <a:pt x="16005" y="22622"/>
                        <a:pt x="8839" y="22622"/>
                        <a:pt x="4420" y="27042"/>
                      </a:cubicBezTo>
                      <a:cubicBezTo>
                        <a:pt x="0" y="31461"/>
                        <a:pt x="0" y="38627"/>
                        <a:pt x="4420" y="43047"/>
                      </a:cubicBezTo>
                      <a:lnTo>
                        <a:pt x="27042" y="65668"/>
                      </a:lnTo>
                      <a:cubicBezTo>
                        <a:pt x="29163" y="67792"/>
                        <a:pt x="32042" y="68986"/>
                        <a:pt x="35044" y="68986"/>
                      </a:cubicBezTo>
                      <a:cubicBezTo>
                        <a:pt x="38046" y="68986"/>
                        <a:pt x="40925" y="67792"/>
                        <a:pt x="43047" y="65668"/>
                      </a:cubicBezTo>
                      <a:lnTo>
                        <a:pt x="88290" y="20425"/>
                      </a:lnTo>
                      <a:cubicBezTo>
                        <a:pt x="92710" y="16005"/>
                        <a:pt x="92710" y="8839"/>
                        <a:pt x="88290" y="4420"/>
                      </a:cubicBezTo>
                      <a:cubicBezTo>
                        <a:pt x="83871" y="0"/>
                        <a:pt x="76705" y="0"/>
                        <a:pt x="72285" y="4420"/>
                      </a:cubicBezTo>
                      <a:close/>
                      <a:moveTo>
                        <a:pt x="72285" y="94907"/>
                      </a:moveTo>
                      <a:lnTo>
                        <a:pt x="35044" y="132163"/>
                      </a:lnTo>
                      <a:lnTo>
                        <a:pt x="20425" y="117529"/>
                      </a:lnTo>
                      <a:cubicBezTo>
                        <a:pt x="16005" y="113109"/>
                        <a:pt x="8839" y="113109"/>
                        <a:pt x="4420" y="117529"/>
                      </a:cubicBezTo>
                      <a:cubicBezTo>
                        <a:pt x="0" y="121949"/>
                        <a:pt x="0" y="129114"/>
                        <a:pt x="4420" y="133534"/>
                      </a:cubicBezTo>
                      <a:lnTo>
                        <a:pt x="27042" y="156156"/>
                      </a:lnTo>
                      <a:cubicBezTo>
                        <a:pt x="29163" y="158280"/>
                        <a:pt x="32042" y="159473"/>
                        <a:pt x="35044" y="159473"/>
                      </a:cubicBezTo>
                      <a:cubicBezTo>
                        <a:pt x="38046" y="159473"/>
                        <a:pt x="40925" y="158280"/>
                        <a:pt x="43047" y="156156"/>
                      </a:cubicBezTo>
                      <a:lnTo>
                        <a:pt x="88290" y="110912"/>
                      </a:lnTo>
                      <a:cubicBezTo>
                        <a:pt x="92710" y="106492"/>
                        <a:pt x="92710" y="99327"/>
                        <a:pt x="88290" y="94907"/>
                      </a:cubicBezTo>
                      <a:cubicBezTo>
                        <a:pt x="83871" y="90488"/>
                        <a:pt x="76705" y="90488"/>
                        <a:pt x="72285" y="94907"/>
                      </a:cubicBezTo>
                      <a:close/>
                      <a:moveTo>
                        <a:pt x="72285" y="185395"/>
                      </a:moveTo>
                      <a:lnTo>
                        <a:pt x="35044" y="222650"/>
                      </a:lnTo>
                      <a:lnTo>
                        <a:pt x="20425" y="208017"/>
                      </a:lnTo>
                      <a:cubicBezTo>
                        <a:pt x="16005" y="203597"/>
                        <a:pt x="8839" y="203597"/>
                        <a:pt x="4420" y="208017"/>
                      </a:cubicBezTo>
                      <a:cubicBezTo>
                        <a:pt x="0" y="212436"/>
                        <a:pt x="0" y="219602"/>
                        <a:pt x="4420" y="224022"/>
                      </a:cubicBezTo>
                      <a:lnTo>
                        <a:pt x="27042" y="246643"/>
                      </a:lnTo>
                      <a:cubicBezTo>
                        <a:pt x="29163" y="248767"/>
                        <a:pt x="32042" y="249961"/>
                        <a:pt x="35044" y="249961"/>
                      </a:cubicBezTo>
                      <a:cubicBezTo>
                        <a:pt x="38046" y="249961"/>
                        <a:pt x="40925" y="248767"/>
                        <a:pt x="43047" y="246643"/>
                      </a:cubicBezTo>
                      <a:lnTo>
                        <a:pt x="88290" y="201400"/>
                      </a:lnTo>
                      <a:cubicBezTo>
                        <a:pt x="92710" y="196980"/>
                        <a:pt x="92710" y="189814"/>
                        <a:pt x="88290" y="185395"/>
                      </a:cubicBezTo>
                      <a:cubicBezTo>
                        <a:pt x="83871" y="180975"/>
                        <a:pt x="76705" y="180975"/>
                        <a:pt x="72285" y="185395"/>
                      </a:cubicBezTo>
                      <a:close/>
                    </a:path>
                  </a:pathLst>
                </a:custGeom>
                <a:solidFill>
                  <a:srgbClr val="D04A0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31" name="TextBox 31"/>
              <p:cNvSpPr txBox="1"/>
              <p:nvPr/>
            </p:nvSpPr>
            <p:spPr bwMode="auto">
              <a:xfrm>
                <a:off x="9011602" y="1789271"/>
                <a:ext cx="1784414" cy="2895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Правила проекта</a:t>
                </a:r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 bwMode="auto">
              <a:xfrm>
                <a:off x="9015412" y="2088356"/>
                <a:ext cx="2977872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PR, проверки, зоны ответственности</a:t>
                </a:r>
                <a:endParaRPr/>
              </a:p>
            </p:txBody>
          </p:sp>
          <p:sp>
            <p:nvSpPr>
              <p:cNvPr id="33" name="Rectangle 33"/>
              <p:cNvSpPr/>
              <p:nvPr/>
            </p:nvSpPr>
            <p:spPr bwMode="auto">
              <a:xfrm>
                <a:off x="8515350" y="2609850"/>
                <a:ext cx="2800350" cy="361950"/>
              </a:xfrm>
              <a:prstGeom prst="roundRect">
                <a:avLst>
                  <a:gd name="adj" fmla="val 31579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4" name="TextBox 34"/>
              <p:cNvSpPr txBox="1"/>
              <p:nvPr/>
            </p:nvSpPr>
            <p:spPr bwMode="auto">
              <a:xfrm>
                <a:off x="8674418" y="2742724"/>
                <a:ext cx="1626751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00">
                    <a:solidFill>
                      <a:srgbClr val="D04A02"/>
                    </a:solidFill>
                    <a:latin typeface="Consolas"/>
                    <a:ea typeface="Microsoft YaHei"/>
                    <a:cs typeface="Consolas"/>
                  </a:rPr>
                  <a:t>docs/project-rules.md</a:t>
                </a: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 bwMode="auto">
            <a:xfrm>
              <a:off x="533400" y="3581400"/>
              <a:ext cx="3451502" cy="1752599"/>
              <a:chOff x="533400" y="3581400"/>
              <a:chExt cx="3451502" cy="1752599"/>
            </a:xfrm>
          </p:grpSpPr>
          <p:sp>
            <p:nvSpPr>
              <p:cNvPr id="36" name="Rectangle 36"/>
              <p:cNvSpPr/>
              <p:nvPr/>
            </p:nvSpPr>
            <p:spPr bwMode="auto">
              <a:xfrm>
                <a:off x="533400" y="3581400"/>
                <a:ext cx="3429000" cy="1752599"/>
              </a:xfrm>
              <a:prstGeom prst="roundRect">
                <a:avLst>
                  <a:gd name="adj" fmla="val 978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39" name="Group 39"/>
              <p:cNvGrpSpPr/>
              <p:nvPr/>
            </p:nvGrpSpPr>
            <p:grpSpPr bwMode="auto">
              <a:xfrm>
                <a:off x="851517" y="3930610"/>
                <a:ext cx="285187" cy="283611"/>
                <a:chOff x="851517" y="3930610"/>
                <a:chExt cx="285187" cy="283611"/>
              </a:xfrm>
            </p:grpSpPr>
            <p:sp>
              <p:nvSpPr>
                <p:cNvPr id="37" name="Freeform 37"/>
                <p:cNvSpPr/>
                <p:nvPr/>
              </p:nvSpPr>
              <p:spPr bwMode="auto">
                <a:xfrm>
                  <a:off x="863638" y="3987998"/>
                  <a:ext cx="215663" cy="2156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5663" h="215663" fill="norm" stroke="1" extrusionOk="0">
                      <a:moveTo>
                        <a:pt x="57310" y="124420"/>
                      </a:moveTo>
                      <a:lnTo>
                        <a:pt x="91243" y="158353"/>
                      </a:lnTo>
                      <a:cubicBezTo>
                        <a:pt x="91243" y="158353"/>
                        <a:pt x="79932" y="203597"/>
                        <a:pt x="12066" y="203597"/>
                      </a:cubicBezTo>
                      <a:cubicBezTo>
                        <a:pt x="12066" y="135731"/>
                        <a:pt x="57310" y="124420"/>
                        <a:pt x="57310" y="124420"/>
                      </a:cubicBezTo>
                      <a:close/>
                      <a:moveTo>
                        <a:pt x="147797" y="0"/>
                      </a:moveTo>
                      <a:lnTo>
                        <a:pt x="60633" y="0"/>
                      </a:lnTo>
                      <a:cubicBezTo>
                        <a:pt x="57637" y="1"/>
                        <a:pt x="54764" y="1191"/>
                        <a:pt x="52644" y="3308"/>
                      </a:cubicBezTo>
                      <a:lnTo>
                        <a:pt x="4078" y="51875"/>
                      </a:lnTo>
                      <a:cubicBezTo>
                        <a:pt x="1054" y="54906"/>
                        <a:pt x="0" y="59384"/>
                        <a:pt x="1356" y="63446"/>
                      </a:cubicBezTo>
                      <a:cubicBezTo>
                        <a:pt x="2712" y="67507"/>
                        <a:pt x="6244" y="70455"/>
                        <a:pt x="10483" y="71061"/>
                      </a:cubicBezTo>
                      <a:lnTo>
                        <a:pt x="68621" y="79177"/>
                      </a:lnTo>
                      <a:close/>
                      <a:moveTo>
                        <a:pt x="136487" y="147042"/>
                      </a:moveTo>
                      <a:lnTo>
                        <a:pt x="144602" y="205180"/>
                      </a:lnTo>
                      <a:cubicBezTo>
                        <a:pt x="145209" y="209419"/>
                        <a:pt x="148156" y="212952"/>
                        <a:pt x="152217" y="214307"/>
                      </a:cubicBezTo>
                      <a:cubicBezTo>
                        <a:pt x="156279" y="215663"/>
                        <a:pt x="160757" y="214609"/>
                        <a:pt x="163788" y="211585"/>
                      </a:cubicBezTo>
                      <a:lnTo>
                        <a:pt x="212355" y="163019"/>
                      </a:lnTo>
                      <a:cubicBezTo>
                        <a:pt x="214472" y="160899"/>
                        <a:pt x="215662" y="158026"/>
                        <a:pt x="215663" y="155031"/>
                      </a:cubicBezTo>
                      <a:lnTo>
                        <a:pt x="215663" y="67866"/>
                      </a:ln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38" name="Freeform 38"/>
                <p:cNvSpPr/>
                <p:nvPr/>
              </p:nvSpPr>
              <p:spPr bwMode="auto">
                <a:xfrm>
                  <a:off x="851517" y="3930610"/>
                  <a:ext cx="285187" cy="2836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187" h="283611" fill="norm" stroke="1" extrusionOk="0">
                      <a:moveTo>
                        <a:pt x="114350" y="218485"/>
                      </a:moveTo>
                      <a:cubicBezTo>
                        <a:pt x="113798" y="220676"/>
                        <a:pt x="100013" y="272297"/>
                        <a:pt x="24188" y="272297"/>
                      </a:cubicBezTo>
                      <a:cubicBezTo>
                        <a:pt x="17941" y="272297"/>
                        <a:pt x="12877" y="267233"/>
                        <a:pt x="12877" y="260986"/>
                      </a:cubicBezTo>
                      <a:cubicBezTo>
                        <a:pt x="12877" y="185160"/>
                        <a:pt x="64497" y="171375"/>
                        <a:pt x="66688" y="170823"/>
                      </a:cubicBezTo>
                      <a:cubicBezTo>
                        <a:pt x="72752" y="169309"/>
                        <a:pt x="78895" y="172996"/>
                        <a:pt x="80410" y="179059"/>
                      </a:cubicBezTo>
                      <a:cubicBezTo>
                        <a:pt x="81925" y="185123"/>
                        <a:pt x="78238" y="191266"/>
                        <a:pt x="72174" y="192781"/>
                      </a:cubicBezTo>
                      <a:cubicBezTo>
                        <a:pt x="70902" y="193134"/>
                        <a:pt x="40475" y="202027"/>
                        <a:pt x="36036" y="249138"/>
                      </a:cubicBezTo>
                      <a:cubicBezTo>
                        <a:pt x="83146" y="244698"/>
                        <a:pt x="92053" y="214328"/>
                        <a:pt x="92421" y="212914"/>
                      </a:cubicBezTo>
                      <a:cubicBezTo>
                        <a:pt x="93982" y="206859"/>
                        <a:pt x="100158" y="203216"/>
                        <a:pt x="106213" y="204777"/>
                      </a:cubicBezTo>
                      <a:cubicBezTo>
                        <a:pt x="112269" y="206339"/>
                        <a:pt x="115912" y="212514"/>
                        <a:pt x="114350" y="218570"/>
                      </a:cubicBezTo>
                      <a:close/>
                      <a:moveTo>
                        <a:pt x="245840" y="123190"/>
                      </a:moveTo>
                      <a:lnTo>
                        <a:pt x="239095" y="129934"/>
                      </a:lnTo>
                      <a:lnTo>
                        <a:pt x="239095" y="212405"/>
                      </a:lnTo>
                      <a:cubicBezTo>
                        <a:pt x="239129" y="218429"/>
                        <a:pt x="236746" y="224215"/>
                        <a:pt x="232478" y="228467"/>
                      </a:cubicBezTo>
                      <a:lnTo>
                        <a:pt x="183955" y="276962"/>
                      </a:lnTo>
                      <a:cubicBezTo>
                        <a:pt x="179728" y="281219"/>
                        <a:pt x="173976" y="283611"/>
                        <a:pt x="167978" y="283608"/>
                      </a:cubicBezTo>
                      <a:cubicBezTo>
                        <a:pt x="165527" y="283607"/>
                        <a:pt x="163092" y="283211"/>
                        <a:pt x="160767" y="282434"/>
                      </a:cubicBezTo>
                      <a:cubicBezTo>
                        <a:pt x="152625" y="279741"/>
                        <a:pt x="146717" y="272660"/>
                        <a:pt x="145526" y="264167"/>
                      </a:cubicBezTo>
                      <a:lnTo>
                        <a:pt x="137933" y="209747"/>
                      </a:lnTo>
                      <a:lnTo>
                        <a:pt x="75426" y="147240"/>
                      </a:lnTo>
                      <a:lnTo>
                        <a:pt x="21035" y="139648"/>
                      </a:lnTo>
                      <a:cubicBezTo>
                        <a:pt x="12531" y="138455"/>
                        <a:pt x="5436" y="132551"/>
                        <a:pt x="2718" y="124406"/>
                      </a:cubicBezTo>
                      <a:cubicBezTo>
                        <a:pt x="0" y="116261"/>
                        <a:pt x="2128" y="107279"/>
                        <a:pt x="8211" y="101219"/>
                      </a:cubicBezTo>
                      <a:lnTo>
                        <a:pt x="56706" y="52695"/>
                      </a:lnTo>
                      <a:cubicBezTo>
                        <a:pt x="60958" y="48428"/>
                        <a:pt x="66744" y="46044"/>
                        <a:pt x="72768" y="46078"/>
                      </a:cubicBezTo>
                      <a:lnTo>
                        <a:pt x="155239" y="46078"/>
                      </a:lnTo>
                      <a:lnTo>
                        <a:pt x="161983" y="39334"/>
                      </a:lnTo>
                      <a:cubicBezTo>
                        <a:pt x="199705" y="1626"/>
                        <a:pt x="245161" y="0"/>
                        <a:pt x="262947" y="1060"/>
                      </a:cubicBezTo>
                      <a:cubicBezTo>
                        <a:pt x="274361" y="1754"/>
                        <a:pt x="283462" y="10855"/>
                        <a:pt x="284155" y="22268"/>
                      </a:cubicBezTo>
                      <a:cubicBezTo>
                        <a:pt x="285187" y="40012"/>
                        <a:pt x="283561" y="85468"/>
                        <a:pt x="245854" y="123190"/>
                      </a:cubicBezTo>
                      <a:close/>
                      <a:moveTo>
                        <a:pt x="24188" y="117252"/>
                      </a:moveTo>
                      <a:lnTo>
                        <a:pt x="76713" y="124576"/>
                      </a:lnTo>
                      <a:lnTo>
                        <a:pt x="132617" y="68700"/>
                      </a:lnTo>
                      <a:lnTo>
                        <a:pt x="72768" y="68700"/>
                      </a:lnTo>
                      <a:close/>
                      <a:moveTo>
                        <a:pt x="96747" y="136565"/>
                      </a:moveTo>
                      <a:lnTo>
                        <a:pt x="148608" y="188426"/>
                      </a:lnTo>
                      <a:lnTo>
                        <a:pt x="229835" y="107199"/>
                      </a:lnTo>
                      <a:cubicBezTo>
                        <a:pt x="251981" y="85202"/>
                        <a:pt x="263539" y="54705"/>
                        <a:pt x="261533" y="23555"/>
                      </a:cubicBezTo>
                      <a:cubicBezTo>
                        <a:pt x="230401" y="21623"/>
                        <a:pt x="199947" y="33200"/>
                        <a:pt x="177960" y="55325"/>
                      </a:cubicBezTo>
                      <a:close/>
                      <a:moveTo>
                        <a:pt x="216473" y="152556"/>
                      </a:moveTo>
                      <a:lnTo>
                        <a:pt x="160583" y="208446"/>
                      </a:lnTo>
                      <a:lnTo>
                        <a:pt x="167935" y="260986"/>
                      </a:lnTo>
                      <a:lnTo>
                        <a:pt x="216473" y="212405"/>
                      </a:ln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40" name="TextBox 40"/>
              <p:cNvSpPr txBox="1"/>
              <p:nvPr/>
            </p:nvSpPr>
            <p:spPr bwMode="auto">
              <a:xfrm>
                <a:off x="1315402" y="3865721"/>
                <a:ext cx="1554960" cy="2895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Демо и release</a:t>
                </a:r>
                <a:endParaRPr/>
              </a:p>
            </p:txBody>
          </p:sp>
          <p:sp>
            <p:nvSpPr>
              <p:cNvPr id="41" name="TextBox 41"/>
              <p:cNvSpPr txBox="1"/>
              <p:nvPr/>
            </p:nvSpPr>
            <p:spPr bwMode="auto">
              <a:xfrm>
                <a:off x="1319212" y="4164806"/>
                <a:ext cx="2665690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запуск демонстрации и inference</a:t>
                </a:r>
                <a:endParaRPr/>
              </a:p>
            </p:txBody>
          </p:sp>
          <p:sp>
            <p:nvSpPr>
              <p:cNvPr id="42" name="Rectangle 42"/>
              <p:cNvSpPr/>
              <p:nvPr/>
            </p:nvSpPr>
            <p:spPr bwMode="auto">
              <a:xfrm>
                <a:off x="819150" y="4686300"/>
                <a:ext cx="2800350" cy="361950"/>
              </a:xfrm>
              <a:prstGeom prst="roundRect">
                <a:avLst>
                  <a:gd name="adj" fmla="val 31579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43" name="TextBox 43"/>
              <p:cNvSpPr txBox="1"/>
              <p:nvPr/>
            </p:nvSpPr>
            <p:spPr bwMode="auto">
              <a:xfrm>
                <a:off x="978218" y="4819174"/>
                <a:ext cx="1662351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00">
                    <a:solidFill>
                      <a:srgbClr val="1565C0"/>
                    </a:solidFill>
                    <a:latin typeface="Consolas"/>
                    <a:ea typeface="Microsoft YaHei"/>
                    <a:cs typeface="Consolas"/>
                  </a:rPr>
                  <a:t>demo/app.py · rc1.yaml</a:t>
                </a:r>
                <a:endParaRPr/>
              </a:p>
            </p:txBody>
          </p:sp>
        </p:grpSp>
        <p:grpSp>
          <p:nvGrpSpPr>
            <p:cNvPr id="53" name="Group 53"/>
            <p:cNvGrpSpPr/>
            <p:nvPr/>
          </p:nvGrpSpPr>
          <p:grpSpPr bwMode="auto">
            <a:xfrm>
              <a:off x="4381500" y="3581400"/>
              <a:ext cx="3429000" cy="1752599"/>
              <a:chOff x="4381500" y="3581400"/>
              <a:chExt cx="3429000" cy="1752599"/>
            </a:xfrm>
          </p:grpSpPr>
          <p:sp>
            <p:nvSpPr>
              <p:cNvPr id="45" name="Rectangle 45"/>
              <p:cNvSpPr/>
              <p:nvPr/>
            </p:nvSpPr>
            <p:spPr bwMode="auto">
              <a:xfrm>
                <a:off x="4381500" y="3581400"/>
                <a:ext cx="3429000" cy="1752599"/>
              </a:xfrm>
              <a:prstGeom prst="roundRect">
                <a:avLst>
                  <a:gd name="adj" fmla="val 978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48" name="Group 48"/>
              <p:cNvGrpSpPr/>
              <p:nvPr/>
            </p:nvGrpSpPr>
            <p:grpSpPr bwMode="auto">
              <a:xfrm>
                <a:off x="4712494" y="3920130"/>
                <a:ext cx="261584" cy="271468"/>
                <a:chOff x="4712494" y="3920130"/>
                <a:chExt cx="261584" cy="271468"/>
              </a:xfrm>
            </p:grpSpPr>
            <p:sp>
              <p:nvSpPr>
                <p:cNvPr id="46" name="Freeform 46"/>
                <p:cNvSpPr/>
                <p:nvPr/>
              </p:nvSpPr>
              <p:spPr bwMode="auto">
                <a:xfrm>
                  <a:off x="4882158" y="3931444"/>
                  <a:ext cx="79177" cy="79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177" h="79177" fill="norm" stroke="1" extrusionOk="0">
                      <a:moveTo>
                        <a:pt x="79177" y="79177"/>
                      </a:moveTo>
                      <a:lnTo>
                        <a:pt x="0" y="7917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E7D32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47" name="Freeform 47"/>
                <p:cNvSpPr/>
                <p:nvPr/>
              </p:nvSpPr>
              <p:spPr bwMode="auto">
                <a:xfrm>
                  <a:off x="4712494" y="3920130"/>
                  <a:ext cx="261584" cy="271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584" h="271468" fill="norm" stroke="1" extrusionOk="0">
                      <a:moveTo>
                        <a:pt x="22622" y="220566"/>
                      </a:moveTo>
                      <a:cubicBezTo>
                        <a:pt x="22622" y="236118"/>
                        <a:pt x="32773" y="248843"/>
                        <a:pt x="45244" y="248843"/>
                      </a:cubicBezTo>
                      <a:cubicBezTo>
                        <a:pt x="50760" y="248719"/>
                        <a:pt x="55983" y="246338"/>
                        <a:pt x="59693" y="242254"/>
                      </a:cubicBezTo>
                      <a:cubicBezTo>
                        <a:pt x="64030" y="237838"/>
                        <a:pt x="71111" y="237727"/>
                        <a:pt x="75584" y="242006"/>
                      </a:cubicBezTo>
                      <a:cubicBezTo>
                        <a:pt x="80056" y="246285"/>
                        <a:pt x="80259" y="253364"/>
                        <a:pt x="76038" y="257892"/>
                      </a:cubicBezTo>
                      <a:cubicBezTo>
                        <a:pt x="68078" y="266460"/>
                        <a:pt x="56939" y="271370"/>
                        <a:pt x="45244" y="271465"/>
                      </a:cubicBezTo>
                      <a:cubicBezTo>
                        <a:pt x="20289" y="271465"/>
                        <a:pt x="0" y="248631"/>
                        <a:pt x="0" y="220566"/>
                      </a:cubicBezTo>
                      <a:cubicBezTo>
                        <a:pt x="0" y="192500"/>
                        <a:pt x="20289" y="169666"/>
                        <a:pt x="45244" y="169666"/>
                      </a:cubicBezTo>
                      <a:cubicBezTo>
                        <a:pt x="56939" y="169761"/>
                        <a:pt x="68078" y="174671"/>
                        <a:pt x="76038" y="183240"/>
                      </a:cubicBezTo>
                      <a:cubicBezTo>
                        <a:pt x="80259" y="187767"/>
                        <a:pt x="80056" y="194846"/>
                        <a:pt x="75584" y="199125"/>
                      </a:cubicBezTo>
                      <a:cubicBezTo>
                        <a:pt x="71111" y="203404"/>
                        <a:pt x="64030" y="203294"/>
                        <a:pt x="59693" y="198877"/>
                      </a:cubicBezTo>
                      <a:cubicBezTo>
                        <a:pt x="55983" y="194794"/>
                        <a:pt x="50760" y="192412"/>
                        <a:pt x="45244" y="192288"/>
                      </a:cubicBezTo>
                      <a:cubicBezTo>
                        <a:pt x="32773" y="192288"/>
                        <a:pt x="22622" y="205013"/>
                        <a:pt x="22622" y="220566"/>
                      </a:cubicBezTo>
                      <a:close/>
                      <a:moveTo>
                        <a:pt x="135166" y="208279"/>
                      </a:moveTo>
                      <a:cubicBezTo>
                        <a:pt x="129510" y="206639"/>
                        <a:pt x="123657" y="204957"/>
                        <a:pt x="120391" y="202850"/>
                      </a:cubicBezTo>
                      <a:cubicBezTo>
                        <a:pt x="118623" y="201705"/>
                        <a:pt x="118652" y="201436"/>
                        <a:pt x="118807" y="200164"/>
                      </a:cubicBezTo>
                      <a:cubicBezTo>
                        <a:pt x="118857" y="198079"/>
                        <a:pt x="119910" y="196147"/>
                        <a:pt x="121635" y="194975"/>
                      </a:cubicBezTo>
                      <a:cubicBezTo>
                        <a:pt x="128139" y="190563"/>
                        <a:pt x="143324" y="192529"/>
                        <a:pt x="149672" y="194183"/>
                      </a:cubicBezTo>
                      <a:cubicBezTo>
                        <a:pt x="155716" y="195799"/>
                        <a:pt x="161926" y="192210"/>
                        <a:pt x="163542" y="186166"/>
                      </a:cubicBezTo>
                      <a:cubicBezTo>
                        <a:pt x="165158" y="180122"/>
                        <a:pt x="161569" y="173913"/>
                        <a:pt x="155525" y="172296"/>
                      </a:cubicBezTo>
                      <a:cubicBezTo>
                        <a:pt x="152528" y="171519"/>
                        <a:pt x="125834" y="164916"/>
                        <a:pt x="109094" y="176198"/>
                      </a:cubicBezTo>
                      <a:cubicBezTo>
                        <a:pt x="101927" y="181008"/>
                        <a:pt x="97266" y="188751"/>
                        <a:pt x="96369" y="197336"/>
                      </a:cubicBezTo>
                      <a:cubicBezTo>
                        <a:pt x="93541" y="219788"/>
                        <a:pt x="115668" y="226193"/>
                        <a:pt x="128888" y="230010"/>
                      </a:cubicBezTo>
                      <a:cubicBezTo>
                        <a:pt x="145939" y="234945"/>
                        <a:pt x="147438" y="236967"/>
                        <a:pt x="146957" y="240742"/>
                      </a:cubicBezTo>
                      <a:cubicBezTo>
                        <a:pt x="146519" y="244149"/>
                        <a:pt x="145176" y="245464"/>
                        <a:pt x="143932" y="246298"/>
                      </a:cubicBezTo>
                      <a:cubicBezTo>
                        <a:pt x="137428" y="250624"/>
                        <a:pt x="122483" y="248504"/>
                        <a:pt x="116291" y="246807"/>
                      </a:cubicBezTo>
                      <a:cubicBezTo>
                        <a:pt x="110262" y="245124"/>
                        <a:pt x="104011" y="248647"/>
                        <a:pt x="102329" y="254675"/>
                      </a:cubicBezTo>
                      <a:cubicBezTo>
                        <a:pt x="100646" y="260703"/>
                        <a:pt x="104169" y="266954"/>
                        <a:pt x="110197" y="268637"/>
                      </a:cubicBezTo>
                      <a:cubicBezTo>
                        <a:pt x="117209" y="270474"/>
                        <a:pt x="124425" y="271424"/>
                        <a:pt x="131673" y="271465"/>
                      </a:cubicBezTo>
                      <a:cubicBezTo>
                        <a:pt x="139902" y="271465"/>
                        <a:pt x="149064" y="270051"/>
                        <a:pt x="156402" y="265159"/>
                      </a:cubicBezTo>
                      <a:cubicBezTo>
                        <a:pt x="163736" y="260286"/>
                        <a:pt x="168503" y="252386"/>
                        <a:pt x="169395" y="243626"/>
                      </a:cubicBezTo>
                      <a:cubicBezTo>
                        <a:pt x="172492" y="219152"/>
                        <a:pt x="149149" y="212323"/>
                        <a:pt x="135166" y="208279"/>
                      </a:cubicBezTo>
                      <a:close/>
                      <a:moveTo>
                        <a:pt x="252644" y="170331"/>
                      </a:moveTo>
                      <a:cubicBezTo>
                        <a:pt x="249818" y="169319"/>
                        <a:pt x="246707" y="169472"/>
                        <a:pt x="243994" y="170756"/>
                      </a:cubicBezTo>
                      <a:cubicBezTo>
                        <a:pt x="241281" y="172039"/>
                        <a:pt x="239190" y="174348"/>
                        <a:pt x="238180" y="177174"/>
                      </a:cubicBezTo>
                      <a:lnTo>
                        <a:pt x="220563" y="226518"/>
                      </a:lnTo>
                      <a:lnTo>
                        <a:pt x="202932" y="177174"/>
                      </a:lnTo>
                      <a:cubicBezTo>
                        <a:pt x="200832" y="171290"/>
                        <a:pt x="194359" y="168223"/>
                        <a:pt x="188476" y="170324"/>
                      </a:cubicBezTo>
                      <a:cubicBezTo>
                        <a:pt x="182592" y="172424"/>
                        <a:pt x="179525" y="178897"/>
                        <a:pt x="181625" y="184781"/>
                      </a:cubicBezTo>
                      <a:lnTo>
                        <a:pt x="209903" y="263957"/>
                      </a:lnTo>
                      <a:cubicBezTo>
                        <a:pt x="211509" y="268461"/>
                        <a:pt x="215774" y="271468"/>
                        <a:pt x="220556" y="271468"/>
                      </a:cubicBezTo>
                      <a:cubicBezTo>
                        <a:pt x="225338" y="271468"/>
                        <a:pt x="229603" y="268461"/>
                        <a:pt x="231210" y="263957"/>
                      </a:cubicBezTo>
                      <a:lnTo>
                        <a:pt x="259487" y="184781"/>
                      </a:lnTo>
                      <a:cubicBezTo>
                        <a:pt x="261584" y="178901"/>
                        <a:pt x="258522" y="172434"/>
                        <a:pt x="252644" y="170331"/>
                      </a:cubicBezTo>
                      <a:close/>
                      <a:moveTo>
                        <a:pt x="260152" y="90490"/>
                      </a:moveTo>
                      <a:lnTo>
                        <a:pt x="260152" y="124423"/>
                      </a:lnTo>
                      <a:cubicBezTo>
                        <a:pt x="260152" y="130670"/>
                        <a:pt x="255087" y="135734"/>
                        <a:pt x="248841" y="135734"/>
                      </a:cubicBezTo>
                      <a:cubicBezTo>
                        <a:pt x="242594" y="135734"/>
                        <a:pt x="237530" y="130670"/>
                        <a:pt x="237530" y="124423"/>
                      </a:cubicBezTo>
                      <a:lnTo>
                        <a:pt x="237530" y="101801"/>
                      </a:lnTo>
                      <a:lnTo>
                        <a:pt x="169664" y="101801"/>
                      </a:lnTo>
                      <a:cubicBezTo>
                        <a:pt x="163417" y="101801"/>
                        <a:pt x="158353" y="96737"/>
                        <a:pt x="158353" y="90490"/>
                      </a:cubicBezTo>
                      <a:lnTo>
                        <a:pt x="158353" y="22624"/>
                      </a:lnTo>
                      <a:lnTo>
                        <a:pt x="33933" y="22624"/>
                      </a:lnTo>
                      <a:lnTo>
                        <a:pt x="33933" y="124423"/>
                      </a:lnTo>
                      <a:cubicBezTo>
                        <a:pt x="33933" y="130670"/>
                        <a:pt x="28869" y="135734"/>
                        <a:pt x="22622" y="135734"/>
                      </a:cubicBezTo>
                      <a:cubicBezTo>
                        <a:pt x="16375" y="135734"/>
                        <a:pt x="11311" y="130670"/>
                        <a:pt x="11311" y="124423"/>
                      </a:cubicBezTo>
                      <a:lnTo>
                        <a:pt x="11311" y="22624"/>
                      </a:lnTo>
                      <a:cubicBezTo>
                        <a:pt x="11311" y="10131"/>
                        <a:pt x="21439" y="2"/>
                        <a:pt x="33933" y="2"/>
                      </a:cubicBezTo>
                      <a:lnTo>
                        <a:pt x="169664" y="2"/>
                      </a:lnTo>
                      <a:cubicBezTo>
                        <a:pt x="172665" y="0"/>
                        <a:pt x="175544" y="1190"/>
                        <a:pt x="177667" y="3311"/>
                      </a:cubicBezTo>
                      <a:lnTo>
                        <a:pt x="256843" y="82487"/>
                      </a:lnTo>
                      <a:cubicBezTo>
                        <a:pt x="258964" y="84610"/>
                        <a:pt x="260154" y="87489"/>
                        <a:pt x="260152" y="90490"/>
                      </a:cubicBezTo>
                      <a:close/>
                      <a:moveTo>
                        <a:pt x="221539" y="79179"/>
                      </a:moveTo>
                      <a:lnTo>
                        <a:pt x="180975" y="38615"/>
                      </a:lnTo>
                      <a:lnTo>
                        <a:pt x="180975" y="79179"/>
                      </a:lnTo>
                      <a:close/>
                    </a:path>
                  </a:pathLst>
                </a:custGeom>
                <a:solidFill>
                  <a:srgbClr val="2E7D32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49" name="TextBox 49"/>
              <p:cNvSpPr txBox="1"/>
              <p:nvPr/>
            </p:nvSpPr>
            <p:spPr bwMode="auto">
              <a:xfrm>
                <a:off x="5163502" y="3865721"/>
                <a:ext cx="1544033" cy="2895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Файл отправки</a:t>
                </a:r>
                <a:endParaRPr/>
              </a:p>
            </p:txBody>
          </p:sp>
          <p:sp>
            <p:nvSpPr>
              <p:cNvPr id="50" name="TextBox 50"/>
              <p:cNvSpPr txBox="1"/>
              <p:nvPr/>
            </p:nvSpPr>
            <p:spPr bwMode="auto">
              <a:xfrm>
                <a:off x="5167312" y="4164806"/>
                <a:ext cx="2608183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ровно `image_id_ext,Predicted`</a:t>
                </a:r>
                <a:endParaRPr/>
              </a:p>
            </p:txBody>
          </p:sp>
          <p:sp>
            <p:nvSpPr>
              <p:cNvPr id="51" name="Rectangle 51"/>
              <p:cNvSpPr/>
              <p:nvPr/>
            </p:nvSpPr>
            <p:spPr bwMode="auto">
              <a:xfrm>
                <a:off x="4667250" y="4686300"/>
                <a:ext cx="2800350" cy="361950"/>
              </a:xfrm>
              <a:prstGeom prst="roundRect">
                <a:avLst>
                  <a:gd name="adj" fmla="val 31579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52" name="TextBox 52"/>
              <p:cNvSpPr txBox="1"/>
              <p:nvPr/>
            </p:nvSpPr>
            <p:spPr bwMode="auto">
              <a:xfrm>
                <a:off x="4826318" y="4819174"/>
                <a:ext cx="2025467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00">
                    <a:solidFill>
                      <a:srgbClr val="2E7D32"/>
                    </a:solidFill>
                    <a:latin typeface="Consolas"/>
                    <a:ea typeface="Microsoft YaHei"/>
                    <a:cs typeface="Consolas"/>
                  </a:rPr>
                  <a:t>releases/rc1/submission.csv</a:t>
                </a:r>
                <a:endParaRPr/>
              </a:p>
            </p:txBody>
          </p:sp>
        </p:grpSp>
        <p:grpSp>
          <p:nvGrpSpPr>
            <p:cNvPr id="62" name="Group 62"/>
            <p:cNvGrpSpPr/>
            <p:nvPr/>
          </p:nvGrpSpPr>
          <p:grpSpPr bwMode="auto">
            <a:xfrm>
              <a:off x="8229600" y="3581400"/>
              <a:ext cx="3429000" cy="1752599"/>
              <a:chOff x="8229600" y="3581400"/>
              <a:chExt cx="3429000" cy="1752599"/>
            </a:xfrm>
          </p:grpSpPr>
          <p:sp>
            <p:nvSpPr>
              <p:cNvPr id="54" name="Rectangle 54"/>
              <p:cNvSpPr/>
              <p:nvPr/>
            </p:nvSpPr>
            <p:spPr bwMode="auto">
              <a:xfrm>
                <a:off x="8229600" y="3581400"/>
                <a:ext cx="3429000" cy="1752599"/>
              </a:xfrm>
              <a:prstGeom prst="roundRect">
                <a:avLst>
                  <a:gd name="adj" fmla="val 978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grpSp>
            <p:nvGrpSpPr>
              <p:cNvPr id="57" name="Group 57"/>
              <p:cNvGrpSpPr/>
              <p:nvPr/>
            </p:nvGrpSpPr>
            <p:grpSpPr bwMode="auto">
              <a:xfrm>
                <a:off x="8541548" y="3920127"/>
                <a:ext cx="301825" cy="301825"/>
                <a:chOff x="8541548" y="3920127"/>
                <a:chExt cx="301825" cy="301825"/>
              </a:xfrm>
            </p:grpSpPr>
            <p:sp>
              <p:nvSpPr>
                <p:cNvPr id="55" name="Freeform 55"/>
                <p:cNvSpPr/>
                <p:nvPr/>
              </p:nvSpPr>
              <p:spPr bwMode="auto">
                <a:xfrm>
                  <a:off x="8554338" y="3925188"/>
                  <a:ext cx="283975" cy="283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975" h="283975" fill="norm" stroke="1" extrusionOk="0">
                      <a:moveTo>
                        <a:pt x="257840" y="122109"/>
                      </a:moveTo>
                      <a:lnTo>
                        <a:pt x="122109" y="257840"/>
                      </a:lnTo>
                      <a:cubicBezTo>
                        <a:pt x="95544" y="283975"/>
                        <a:pt x="52875" y="283801"/>
                        <a:pt x="26524" y="257451"/>
                      </a:cubicBezTo>
                      <a:cubicBezTo>
                        <a:pt x="174" y="231100"/>
                        <a:pt x="0" y="188431"/>
                        <a:pt x="26135" y="161866"/>
                      </a:cubicBezTo>
                      <a:lnTo>
                        <a:pt x="161866" y="26135"/>
                      </a:lnTo>
                      <a:cubicBezTo>
                        <a:pt x="188431" y="0"/>
                        <a:pt x="231100" y="174"/>
                        <a:pt x="257451" y="26524"/>
                      </a:cubicBezTo>
                      <a:cubicBezTo>
                        <a:pt x="283801" y="52875"/>
                        <a:pt x="283975" y="95544"/>
                        <a:pt x="257840" y="122109"/>
                      </a:cubicBezTo>
                      <a:close/>
                    </a:path>
                  </a:pathLst>
                </a:custGeom>
                <a:solidFill>
                  <a:srgbClr val="1565C0">
                    <a:alpha val="20000"/>
                  </a:srgbClr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  <p:sp>
              <p:nvSpPr>
                <p:cNvPr id="56" name="Freeform 56"/>
                <p:cNvSpPr/>
                <p:nvPr/>
              </p:nvSpPr>
              <p:spPr bwMode="auto">
                <a:xfrm>
                  <a:off x="8541548" y="3920127"/>
                  <a:ext cx="301825" cy="301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825" h="301825" fill="norm" stroke="1" extrusionOk="0">
                      <a:moveTo>
                        <a:pt x="208023" y="93802"/>
                      </a:moveTo>
                      <a:cubicBezTo>
                        <a:pt x="210147" y="95923"/>
                        <a:pt x="211340" y="98802"/>
                        <a:pt x="211340" y="101804"/>
                      </a:cubicBezTo>
                      <a:cubicBezTo>
                        <a:pt x="211340" y="104806"/>
                        <a:pt x="210147" y="107685"/>
                        <a:pt x="208023" y="109807"/>
                      </a:cubicBezTo>
                      <a:lnTo>
                        <a:pt x="117535" y="200294"/>
                      </a:lnTo>
                      <a:cubicBezTo>
                        <a:pt x="113116" y="204714"/>
                        <a:pt x="105950" y="204714"/>
                        <a:pt x="101530" y="200294"/>
                      </a:cubicBezTo>
                      <a:cubicBezTo>
                        <a:pt x="97111" y="195874"/>
                        <a:pt x="97111" y="188709"/>
                        <a:pt x="101530" y="184289"/>
                      </a:cubicBezTo>
                      <a:lnTo>
                        <a:pt x="192018" y="93802"/>
                      </a:lnTo>
                      <a:cubicBezTo>
                        <a:pt x="194140" y="91678"/>
                        <a:pt x="197018" y="90484"/>
                        <a:pt x="200020" y="90484"/>
                      </a:cubicBezTo>
                      <a:cubicBezTo>
                        <a:pt x="203022" y="90484"/>
                        <a:pt x="205901" y="91678"/>
                        <a:pt x="208023" y="93802"/>
                      </a:cubicBezTo>
                      <a:close/>
                      <a:moveTo>
                        <a:pt x="278631" y="23193"/>
                      </a:moveTo>
                      <a:cubicBezTo>
                        <a:pt x="263783" y="8343"/>
                        <a:pt x="243643" y="0"/>
                        <a:pt x="222642" y="0"/>
                      </a:cubicBezTo>
                      <a:cubicBezTo>
                        <a:pt x="201642" y="0"/>
                        <a:pt x="181502" y="8343"/>
                        <a:pt x="166653" y="23193"/>
                      </a:cubicBezTo>
                      <a:lnTo>
                        <a:pt x="124152" y="65680"/>
                      </a:lnTo>
                      <a:cubicBezTo>
                        <a:pt x="119733" y="70099"/>
                        <a:pt x="119733" y="77265"/>
                        <a:pt x="124152" y="81685"/>
                      </a:cubicBezTo>
                      <a:cubicBezTo>
                        <a:pt x="128572" y="86104"/>
                        <a:pt x="135738" y="86104"/>
                        <a:pt x="140157" y="81685"/>
                      </a:cubicBezTo>
                      <a:lnTo>
                        <a:pt x="182658" y="39269"/>
                      </a:lnTo>
                      <a:cubicBezTo>
                        <a:pt x="204812" y="17602"/>
                        <a:pt x="240275" y="17797"/>
                        <a:pt x="262189" y="39707"/>
                      </a:cubicBezTo>
                      <a:cubicBezTo>
                        <a:pt x="284102" y="61616"/>
                        <a:pt x="284304" y="97080"/>
                        <a:pt x="262641" y="119237"/>
                      </a:cubicBezTo>
                      <a:lnTo>
                        <a:pt x="220126" y="161738"/>
                      </a:lnTo>
                      <a:cubicBezTo>
                        <a:pt x="215706" y="166154"/>
                        <a:pt x="215703" y="173316"/>
                        <a:pt x="220119" y="177736"/>
                      </a:cubicBezTo>
                      <a:cubicBezTo>
                        <a:pt x="224534" y="182156"/>
                        <a:pt x="231697" y="182159"/>
                        <a:pt x="236116" y="177743"/>
                      </a:cubicBezTo>
                      <a:lnTo>
                        <a:pt x="278631" y="135171"/>
                      </a:lnTo>
                      <a:cubicBezTo>
                        <a:pt x="293482" y="120323"/>
                        <a:pt x="301825" y="100183"/>
                        <a:pt x="301825" y="79182"/>
                      </a:cubicBezTo>
                      <a:cubicBezTo>
                        <a:pt x="301825" y="58182"/>
                        <a:pt x="293482" y="38042"/>
                        <a:pt x="278631" y="23193"/>
                      </a:cubicBezTo>
                      <a:close/>
                      <a:moveTo>
                        <a:pt x="169396" y="212397"/>
                      </a:moveTo>
                      <a:lnTo>
                        <a:pt x="126895" y="254898"/>
                      </a:lnTo>
                      <a:cubicBezTo>
                        <a:pt x="112662" y="269450"/>
                        <a:pt x="91706" y="275231"/>
                        <a:pt x="72025" y="270035"/>
                      </a:cubicBezTo>
                      <a:cubicBezTo>
                        <a:pt x="52344" y="264838"/>
                        <a:pt x="36974" y="249465"/>
                        <a:pt x="31780" y="229783"/>
                      </a:cubicBezTo>
                      <a:cubicBezTo>
                        <a:pt x="26587" y="210100"/>
                        <a:pt x="32372" y="189146"/>
                        <a:pt x="46927" y="174915"/>
                      </a:cubicBezTo>
                      <a:lnTo>
                        <a:pt x="89414" y="132429"/>
                      </a:lnTo>
                      <a:cubicBezTo>
                        <a:pt x="93833" y="128009"/>
                        <a:pt x="93833" y="120843"/>
                        <a:pt x="89414" y="116424"/>
                      </a:cubicBezTo>
                      <a:cubicBezTo>
                        <a:pt x="84994" y="112004"/>
                        <a:pt x="77828" y="112004"/>
                        <a:pt x="73409" y="116424"/>
                      </a:cubicBezTo>
                      <a:lnTo>
                        <a:pt x="30922" y="158924"/>
                      </a:lnTo>
                      <a:cubicBezTo>
                        <a:pt x="0" y="189846"/>
                        <a:pt x="0" y="239981"/>
                        <a:pt x="30922" y="270903"/>
                      </a:cubicBezTo>
                      <a:cubicBezTo>
                        <a:pt x="61844" y="301825"/>
                        <a:pt x="111978" y="301825"/>
                        <a:pt x="142900" y="270903"/>
                      </a:cubicBezTo>
                      <a:lnTo>
                        <a:pt x="185401" y="228388"/>
                      </a:lnTo>
                      <a:cubicBezTo>
                        <a:pt x="189817" y="223968"/>
                        <a:pt x="189814" y="216806"/>
                        <a:pt x="185394" y="212390"/>
                      </a:cubicBezTo>
                      <a:cubicBezTo>
                        <a:pt x="180974" y="207974"/>
                        <a:pt x="173812" y="207977"/>
                        <a:pt x="169396" y="212397"/>
                      </a:cubicBezTo>
                      <a:close/>
                    </a:path>
                  </a:pathLst>
                </a:custGeom>
                <a:solidFill>
                  <a:srgbClr val="1565C0"/>
                </a:solidFill>
                <a:ln>
                  <a:noFill/>
                </a:ln>
                <a:effectLst>
                  <a:outerShdw blurRad="76200" dist="28575" dir="5400000" algn="ctr" rotWithShape="0">
                    <a:srgbClr val="0F2A44">
                      <a:alpha val="5250"/>
                    </a:srgbClr>
                  </a:outerShdw>
                </a:effectLst>
              </p:spPr>
            </p:sp>
          </p:grpSp>
          <p:sp>
            <p:nvSpPr>
              <p:cNvPr id="58" name="TextBox 58"/>
              <p:cNvSpPr txBox="1"/>
              <p:nvPr/>
            </p:nvSpPr>
            <p:spPr bwMode="auto">
              <a:xfrm>
                <a:off x="9011602" y="3865721"/>
                <a:ext cx="1664223" cy="2895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4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Доп. материалы</a:t>
                </a:r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 bwMode="auto">
              <a:xfrm>
                <a:off x="9015412" y="4164806"/>
                <a:ext cx="2378154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150">
                    <a:solidFill>
                      <a:srgbClr val="64748B"/>
                    </a:solidFill>
                    <a:latin typeface="Arial"/>
                    <a:ea typeface="Microsoft YaHei"/>
                    <a:cs typeface="Arial"/>
                  </a:rPr>
                  <a:t>таблицы, Figma, репозиторий</a:t>
                </a:r>
                <a:endParaRPr/>
              </a:p>
            </p:txBody>
          </p:sp>
          <p:sp>
            <p:nvSpPr>
              <p:cNvPr id="60" name="Rectangle 60"/>
              <p:cNvSpPr/>
              <p:nvPr/>
            </p:nvSpPr>
            <p:spPr bwMode="auto">
              <a:xfrm>
                <a:off x="8515350" y="4686300"/>
                <a:ext cx="2800350" cy="361950"/>
              </a:xfrm>
              <a:prstGeom prst="roundRect">
                <a:avLst>
                  <a:gd name="adj" fmla="val 31579"/>
                </a:avLst>
              </a:prstGeom>
              <a:solidFill>
                <a:srgbClr val="F8FAFC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61" name="TextBox 61"/>
              <p:cNvSpPr txBox="1"/>
              <p:nvPr/>
            </p:nvSpPr>
            <p:spPr bwMode="auto">
              <a:xfrm>
                <a:off x="8674418" y="4819174"/>
                <a:ext cx="1676591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00">
                    <a:solidFill>
                      <a:srgbClr val="1565C0"/>
                    </a:solidFill>
                    <a:latin typeface="Consolas"/>
                    <a:ea typeface="Microsoft YaHei"/>
                    <a:cs typeface="Consolas"/>
                  </a:rPr>
                  <a:t>вставить финальные URL</a:t>
                </a:r>
                <a:endParaRPr/>
              </a:p>
            </p:txBody>
          </p:sp>
        </p:grpSp>
      </p:grpSp>
      <p:sp>
        <p:nvSpPr>
          <p:cNvPr id="5" name="TextBox 5"/>
          <p:cNvSpPr txBox="1"/>
          <p:nvPr/>
        </p:nvSpPr>
        <p:spPr bwMode="auto">
          <a:xfrm rot="0" flipH="0" flipV="0">
            <a:off x="501015" y="248601"/>
            <a:ext cx="11198354" cy="7775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Все результаты и ход работы задокументированы: код, архитектура, MLflow, правила и демо</a:t>
            </a:r>
            <a:endParaRPr/>
          </a:p>
        </p:txBody>
      </p:sp>
      <p:sp>
        <p:nvSpPr>
          <p:cNvPr id="71" name="TextBox 71"/>
          <p:cNvSpPr txBox="1"/>
          <p:nvPr/>
        </p:nvSpPr>
        <p:spPr bwMode="auto">
          <a:xfrm rot="0" flipH="0" flipV="0">
            <a:off x="11827644" y="13118782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12 /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 bwMode="auto"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 bwMode="auto">
            <a:xfrm>
              <a:off x="0" y="0"/>
              <a:ext cx="12192000" cy="66675"/>
            </a:xfrm>
            <a:prstGeom prst="rect">
              <a:avLst/>
            </a:prstGeom>
            <a:gradFill>
              <a:gsLst>
                <a:gs pos="0">
                  <a:srgbClr val="0F2A44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</p:sp>
      </p:grpSp>
      <p:sp>
        <p:nvSpPr>
          <p:cNvPr id="5" name="TextBox 5"/>
          <p:cNvSpPr txBox="1"/>
          <p:nvPr/>
        </p:nvSpPr>
        <p:spPr bwMode="auto">
          <a:xfrm rot="0" flipH="0" flipV="0">
            <a:off x="501014" y="248601"/>
            <a:ext cx="11484104" cy="7775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550" b="1">
                <a:solidFill>
                  <a:srgbClr val="0F2A44"/>
                </a:solidFill>
                <a:latin typeface="Georgia"/>
                <a:ea typeface="SimSun"/>
                <a:cs typeface="Georgia"/>
              </a:rPr>
              <a:t>Команда закрыла полный цикл: данные, модели, качество, inference, документация и защита</a:t>
            </a:r>
            <a:endParaRPr/>
          </a:p>
        </p:txBody>
      </p:sp>
      <p:sp>
        <p:nvSpPr>
          <p:cNvPr id="62" name="TextBox 62"/>
          <p:cNvSpPr txBox="1"/>
          <p:nvPr/>
        </p:nvSpPr>
        <p:spPr bwMode="auto">
          <a:xfrm rot="0" flipH="0" flipV="0">
            <a:off x="11827644" y="13118782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85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13 / 13</a:t>
            </a:r>
            <a:endParaRPr/>
          </a:p>
        </p:txBody>
      </p:sp>
      <p:grpSp>
        <p:nvGrpSpPr>
          <p:cNvPr id="1850107349" name="Group 58"/>
          <p:cNvGrpSpPr/>
          <p:nvPr/>
        </p:nvGrpSpPr>
        <p:grpSpPr bwMode="auto">
          <a:xfrm>
            <a:off x="533399" y="2169795"/>
            <a:ext cx="11125199" cy="2628899"/>
            <a:chOff x="0" y="0"/>
            <a:chExt cx="11125199" cy="2628899"/>
          </a:xfrm>
        </p:grpSpPr>
        <p:grpSp>
          <p:nvGrpSpPr>
            <p:cNvPr id="1035585496" name="Group 15"/>
            <p:cNvGrpSpPr/>
            <p:nvPr/>
          </p:nvGrpSpPr>
          <p:grpSpPr bwMode="auto">
            <a:xfrm>
              <a:off x="0" y="0"/>
              <a:ext cx="3429000" cy="1181099"/>
              <a:chOff x="0" y="0"/>
              <a:chExt cx="3429000" cy="1181099"/>
            </a:xfrm>
          </p:grpSpPr>
          <p:sp>
            <p:nvSpPr>
              <p:cNvPr id="2055060476" name="Rectangle 9"/>
              <p:cNvSpPr/>
              <p:nvPr/>
            </p:nvSpPr>
            <p:spPr bwMode="auto">
              <a:xfrm>
                <a:off x="0" y="0"/>
                <a:ext cx="3429000" cy="1181099"/>
              </a:xfrm>
              <a:prstGeom prst="roundRect">
                <a:avLst>
                  <a:gd name="adj" fmla="val 1290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89576312" name="Ellipse 10"/>
              <p:cNvSpPr/>
              <p:nvPr/>
            </p:nvSpPr>
            <p:spPr bwMode="auto">
              <a:xfrm>
                <a:off x="190500" y="304799"/>
                <a:ext cx="571500" cy="571500"/>
              </a:xfrm>
              <a:prstGeom prst="ellipse">
                <a:avLst/>
              </a:prstGeom>
              <a:solidFill>
                <a:srgbClr val="EAF3FB"/>
              </a:solidFill>
              <a:ln w="9525">
                <a:solidFill>
                  <a:srgbClr val="1565C0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400207791" name="TextBox 11"/>
              <p:cNvSpPr txBox="1"/>
              <p:nvPr/>
            </p:nvSpPr>
            <p:spPr bwMode="auto">
              <a:xfrm>
                <a:off x="325764" y="507682"/>
                <a:ext cx="301332" cy="2518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6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ДС</a:t>
                </a:r>
                <a:endParaRPr/>
              </a:p>
            </p:txBody>
          </p:sp>
          <p:sp>
            <p:nvSpPr>
              <p:cNvPr id="584882367" name="TextBox 12"/>
              <p:cNvSpPr txBox="1"/>
              <p:nvPr/>
            </p:nvSpPr>
            <p:spPr bwMode="auto">
              <a:xfrm>
                <a:off x="916305" y="235268"/>
                <a:ext cx="1563334" cy="2061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Давид Сухашвили</a:t>
                </a:r>
                <a:endParaRPr/>
              </a:p>
            </p:txBody>
          </p:sp>
          <p:sp>
            <p:nvSpPr>
              <p:cNvPr id="304987334" name="TextBox 13"/>
              <p:cNvSpPr txBox="1"/>
              <p:nvPr/>
            </p:nvSpPr>
            <p:spPr bwMode="auto">
              <a:xfrm>
                <a:off x="920115" y="515302"/>
                <a:ext cx="2068922" cy="16037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руководитель, модель, защита</a:t>
                </a:r>
                <a:endParaRPr/>
              </a:p>
            </p:txBody>
          </p:sp>
        </p:grpSp>
        <p:grpSp>
          <p:nvGrpSpPr>
            <p:cNvPr id="2021680517" name="Group 22"/>
            <p:cNvGrpSpPr/>
            <p:nvPr/>
          </p:nvGrpSpPr>
          <p:grpSpPr bwMode="auto">
            <a:xfrm>
              <a:off x="3848099" y="0"/>
              <a:ext cx="3429000" cy="1181099"/>
              <a:chOff x="0" y="0"/>
              <a:chExt cx="3429000" cy="1181099"/>
            </a:xfrm>
          </p:grpSpPr>
          <p:sp>
            <p:nvSpPr>
              <p:cNvPr id="1496039643" name="Rectangle 16"/>
              <p:cNvSpPr/>
              <p:nvPr/>
            </p:nvSpPr>
            <p:spPr bwMode="auto">
              <a:xfrm>
                <a:off x="0" y="0"/>
                <a:ext cx="3429000" cy="1181099"/>
              </a:xfrm>
              <a:prstGeom prst="roundRect">
                <a:avLst>
                  <a:gd name="adj" fmla="val 1290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3623837" name="Ellipse 17"/>
              <p:cNvSpPr/>
              <p:nvPr/>
            </p:nvSpPr>
            <p:spPr bwMode="auto">
              <a:xfrm>
                <a:off x="190500" y="304799"/>
                <a:ext cx="571500" cy="571500"/>
              </a:xfrm>
              <a:prstGeom prst="ellipse">
                <a:avLst/>
              </a:prstGeom>
              <a:solidFill>
                <a:srgbClr val="EAF7EE"/>
              </a:solidFill>
              <a:ln w="9525">
                <a:solidFill>
                  <a:srgbClr val="2E7D32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160801787" name="TextBox 18"/>
              <p:cNvSpPr txBox="1"/>
              <p:nvPr/>
            </p:nvSpPr>
            <p:spPr bwMode="auto">
              <a:xfrm>
                <a:off x="336405" y="507682"/>
                <a:ext cx="280049" cy="2518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6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АТ</a:t>
                </a:r>
                <a:endParaRPr/>
              </a:p>
            </p:txBody>
          </p:sp>
          <p:sp>
            <p:nvSpPr>
              <p:cNvPr id="1926313151" name="TextBox 19"/>
              <p:cNvSpPr txBox="1"/>
              <p:nvPr/>
            </p:nvSpPr>
            <p:spPr bwMode="auto">
              <a:xfrm>
                <a:off x="916305" y="235268"/>
                <a:ext cx="1566854" cy="2061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Алексей Тепляков</a:t>
                </a:r>
                <a:endParaRPr/>
              </a:p>
            </p:txBody>
          </p:sp>
          <p:sp>
            <p:nvSpPr>
              <p:cNvPr id="944982033" name="TextBox 20"/>
              <p:cNvSpPr txBox="1"/>
              <p:nvPr/>
            </p:nvSpPr>
            <p:spPr bwMode="auto">
              <a:xfrm>
                <a:off x="920115" y="515302"/>
                <a:ext cx="1917537" cy="16037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данные и первичный анализ</a:t>
                </a:r>
                <a:endParaRPr/>
              </a:p>
            </p:txBody>
          </p:sp>
        </p:grpSp>
        <p:grpSp>
          <p:nvGrpSpPr>
            <p:cNvPr id="1819472512" name="Group 29"/>
            <p:cNvGrpSpPr/>
            <p:nvPr/>
          </p:nvGrpSpPr>
          <p:grpSpPr bwMode="auto">
            <a:xfrm>
              <a:off x="7696199" y="0"/>
              <a:ext cx="3429000" cy="1181099"/>
              <a:chOff x="0" y="0"/>
              <a:chExt cx="3429000" cy="1181099"/>
            </a:xfrm>
          </p:grpSpPr>
          <p:sp>
            <p:nvSpPr>
              <p:cNvPr id="1354520060" name="Rectangle 23"/>
              <p:cNvSpPr/>
              <p:nvPr/>
            </p:nvSpPr>
            <p:spPr bwMode="auto">
              <a:xfrm>
                <a:off x="0" y="0"/>
                <a:ext cx="3429000" cy="1181099"/>
              </a:xfrm>
              <a:prstGeom prst="roundRect">
                <a:avLst>
                  <a:gd name="adj" fmla="val 1290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339693434" name="Ellipse 24"/>
              <p:cNvSpPr/>
              <p:nvPr/>
            </p:nvSpPr>
            <p:spPr bwMode="auto">
              <a:xfrm>
                <a:off x="190500" y="304799"/>
                <a:ext cx="571500" cy="571500"/>
              </a:xfrm>
              <a:prstGeom prst="ellipse">
                <a:avLst/>
              </a:prstGeom>
              <a:solidFill>
                <a:srgbClr val="EAF3FB"/>
              </a:solidFill>
              <a:ln w="9525">
                <a:solidFill>
                  <a:srgbClr val="1565C0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4942161" name="TextBox 25"/>
              <p:cNvSpPr txBox="1"/>
              <p:nvPr/>
            </p:nvSpPr>
            <p:spPr bwMode="auto">
              <a:xfrm>
                <a:off x="326020" y="507682"/>
                <a:ext cx="300820" cy="2518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6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ЛЦ</a:t>
                </a:r>
                <a:endParaRPr/>
              </a:p>
            </p:txBody>
          </p:sp>
          <p:sp>
            <p:nvSpPr>
              <p:cNvPr id="451332023" name="TextBox 26"/>
              <p:cNvSpPr txBox="1"/>
              <p:nvPr/>
            </p:nvSpPr>
            <p:spPr bwMode="auto">
              <a:xfrm>
                <a:off x="916305" y="235268"/>
                <a:ext cx="1202105" cy="2061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Лина Цаплева</a:t>
                </a:r>
                <a:endParaRPr/>
              </a:p>
            </p:txBody>
          </p:sp>
          <p:sp>
            <p:nvSpPr>
              <p:cNvPr id="623440847" name="TextBox 27"/>
              <p:cNvSpPr txBox="1"/>
              <p:nvPr/>
            </p:nvSpPr>
            <p:spPr bwMode="auto">
              <a:xfrm>
                <a:off x="920115" y="515302"/>
                <a:ext cx="1286085" cy="16037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опыты с моделями</a:t>
                </a:r>
                <a:endParaRPr/>
              </a:p>
            </p:txBody>
          </p:sp>
        </p:grpSp>
        <p:grpSp>
          <p:nvGrpSpPr>
            <p:cNvPr id="1266536176" name="Group 36"/>
            <p:cNvGrpSpPr/>
            <p:nvPr/>
          </p:nvGrpSpPr>
          <p:grpSpPr bwMode="auto">
            <a:xfrm>
              <a:off x="0" y="1447800"/>
              <a:ext cx="3429000" cy="1181099"/>
              <a:chOff x="0" y="0"/>
              <a:chExt cx="3429000" cy="1181099"/>
            </a:xfrm>
          </p:grpSpPr>
          <p:sp>
            <p:nvSpPr>
              <p:cNvPr id="1029174981" name="Rectangle 30"/>
              <p:cNvSpPr/>
              <p:nvPr/>
            </p:nvSpPr>
            <p:spPr bwMode="auto">
              <a:xfrm>
                <a:off x="0" y="0"/>
                <a:ext cx="3429000" cy="1181099"/>
              </a:xfrm>
              <a:prstGeom prst="roundRect">
                <a:avLst>
                  <a:gd name="adj" fmla="val 1290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963215105" name="Ellipse 31"/>
              <p:cNvSpPr/>
              <p:nvPr/>
            </p:nvSpPr>
            <p:spPr bwMode="auto">
              <a:xfrm>
                <a:off x="190500" y="304800"/>
                <a:ext cx="571500" cy="571500"/>
              </a:xfrm>
              <a:prstGeom prst="ellipse">
                <a:avLst/>
              </a:prstGeom>
              <a:solidFill>
                <a:srgbClr val="FFF4ED"/>
              </a:solidFill>
              <a:ln w="9525">
                <a:solidFill>
                  <a:srgbClr val="D04A02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2007005188" name="TextBox 32"/>
              <p:cNvSpPr txBox="1"/>
              <p:nvPr/>
            </p:nvSpPr>
            <p:spPr bwMode="auto">
              <a:xfrm>
                <a:off x="325764" y="507681"/>
                <a:ext cx="301332" cy="2518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650" b="1">
                    <a:solidFill>
                      <a:srgbClr val="D04A02"/>
                    </a:solidFill>
                    <a:latin typeface="Arial"/>
                    <a:ea typeface="Microsoft YaHei"/>
                    <a:cs typeface="Arial"/>
                  </a:rPr>
                  <a:t>ДВ</a:t>
                </a:r>
                <a:endParaRPr/>
              </a:p>
            </p:txBody>
          </p:sp>
          <p:sp>
            <p:nvSpPr>
              <p:cNvPr id="1232876256" name="TextBox 33"/>
              <p:cNvSpPr txBox="1"/>
              <p:nvPr/>
            </p:nvSpPr>
            <p:spPr bwMode="auto">
              <a:xfrm>
                <a:off x="916305" y="235267"/>
                <a:ext cx="1323076" cy="2061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Дарья Вдовина</a:t>
                </a:r>
                <a:endParaRPr/>
              </a:p>
            </p:txBody>
          </p:sp>
          <p:sp>
            <p:nvSpPr>
              <p:cNvPr id="415324113" name="TextBox 34"/>
              <p:cNvSpPr txBox="1"/>
              <p:nvPr/>
            </p:nvSpPr>
            <p:spPr bwMode="auto">
              <a:xfrm>
                <a:off x="920115" y="515302"/>
                <a:ext cx="1084894" cy="16037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 b="1">
                    <a:solidFill>
                      <a:srgbClr val="D04A02"/>
                    </a:solidFill>
                    <a:latin typeface="Arial"/>
                    <a:ea typeface="Microsoft YaHei"/>
                    <a:cs typeface="Arial"/>
                  </a:rPr>
                  <a:t>оценка качества</a:t>
                </a:r>
                <a:endParaRPr/>
              </a:p>
            </p:txBody>
          </p:sp>
        </p:grpSp>
        <p:grpSp>
          <p:nvGrpSpPr>
            <p:cNvPr id="1971657600" name="Group 43"/>
            <p:cNvGrpSpPr/>
            <p:nvPr/>
          </p:nvGrpSpPr>
          <p:grpSpPr bwMode="auto">
            <a:xfrm>
              <a:off x="3848099" y="1447800"/>
              <a:ext cx="3429000" cy="1181099"/>
              <a:chOff x="0" y="0"/>
              <a:chExt cx="3429000" cy="1181099"/>
            </a:xfrm>
          </p:grpSpPr>
          <p:sp>
            <p:nvSpPr>
              <p:cNvPr id="1714472276" name="Rectangle 37"/>
              <p:cNvSpPr/>
              <p:nvPr/>
            </p:nvSpPr>
            <p:spPr bwMode="auto">
              <a:xfrm>
                <a:off x="0" y="0"/>
                <a:ext cx="3429000" cy="1181099"/>
              </a:xfrm>
              <a:prstGeom prst="roundRect">
                <a:avLst>
                  <a:gd name="adj" fmla="val 1290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598246677" name="Ellipse 38"/>
              <p:cNvSpPr/>
              <p:nvPr/>
            </p:nvSpPr>
            <p:spPr bwMode="auto">
              <a:xfrm>
                <a:off x="190500" y="304800"/>
                <a:ext cx="571500" cy="571500"/>
              </a:xfrm>
              <a:prstGeom prst="ellipse">
                <a:avLst/>
              </a:prstGeom>
              <a:solidFill>
                <a:srgbClr val="EAF3FB"/>
              </a:solidFill>
              <a:ln w="9525">
                <a:solidFill>
                  <a:srgbClr val="1565C0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1709144007" name="TextBox 39"/>
              <p:cNvSpPr txBox="1"/>
              <p:nvPr/>
            </p:nvSpPr>
            <p:spPr bwMode="auto">
              <a:xfrm>
                <a:off x="324843" y="507681"/>
                <a:ext cx="303173" cy="2518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6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МК</a:t>
                </a:r>
                <a:endParaRPr/>
              </a:p>
            </p:txBody>
          </p:sp>
          <p:sp>
            <p:nvSpPr>
              <p:cNvPr id="1355055728" name="TextBox 40"/>
              <p:cNvSpPr txBox="1"/>
              <p:nvPr/>
            </p:nvSpPr>
            <p:spPr bwMode="auto">
              <a:xfrm>
                <a:off x="916305" y="235267"/>
                <a:ext cx="1579661" cy="2061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Михаил Калмыков</a:t>
                </a:r>
                <a:endParaRPr/>
              </a:p>
            </p:txBody>
          </p:sp>
          <p:sp>
            <p:nvSpPr>
              <p:cNvPr id="1085812207" name="TextBox 41"/>
              <p:cNvSpPr txBox="1"/>
              <p:nvPr/>
            </p:nvSpPr>
            <p:spPr bwMode="auto">
              <a:xfrm>
                <a:off x="920115" y="515302"/>
                <a:ext cx="1661321" cy="16037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 b="1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inference, сервер, Docker</a:t>
                </a:r>
                <a:endParaRPr/>
              </a:p>
            </p:txBody>
          </p:sp>
        </p:grpSp>
        <p:grpSp>
          <p:nvGrpSpPr>
            <p:cNvPr id="1233600608" name="Group 50"/>
            <p:cNvGrpSpPr/>
            <p:nvPr/>
          </p:nvGrpSpPr>
          <p:grpSpPr bwMode="auto">
            <a:xfrm>
              <a:off x="7696199" y="1447800"/>
              <a:ext cx="3429000" cy="1181099"/>
              <a:chOff x="0" y="0"/>
              <a:chExt cx="3429000" cy="1181099"/>
            </a:xfrm>
          </p:grpSpPr>
          <p:sp>
            <p:nvSpPr>
              <p:cNvPr id="239497547" name="Rectangle 44"/>
              <p:cNvSpPr/>
              <p:nvPr/>
            </p:nvSpPr>
            <p:spPr bwMode="auto">
              <a:xfrm>
                <a:off x="0" y="0"/>
                <a:ext cx="3429000" cy="1181099"/>
              </a:xfrm>
              <a:prstGeom prst="roundRect">
                <a:avLst>
                  <a:gd name="adj" fmla="val 12903"/>
                </a:avLst>
              </a:prstGeom>
              <a:solidFill>
                <a:srgbClr val="FFFFFF"/>
              </a:solidFill>
              <a:ln w="9525">
                <a:solidFill>
                  <a:srgbClr val="D8E1EA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848005436" name="Ellipse 45"/>
              <p:cNvSpPr/>
              <p:nvPr/>
            </p:nvSpPr>
            <p:spPr bwMode="auto">
              <a:xfrm>
                <a:off x="190500" y="304800"/>
                <a:ext cx="571500" cy="571500"/>
              </a:xfrm>
              <a:prstGeom prst="ellipse">
                <a:avLst/>
              </a:prstGeom>
              <a:solidFill>
                <a:srgbClr val="EAF7EE"/>
              </a:solidFill>
              <a:ln w="9525">
                <a:solidFill>
                  <a:srgbClr val="2E7D32"/>
                </a:solidFill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</p:sp>
          <p:sp>
            <p:nvSpPr>
              <p:cNvPr id="907710163" name="TextBox 46"/>
              <p:cNvSpPr txBox="1"/>
              <p:nvPr/>
            </p:nvSpPr>
            <p:spPr bwMode="auto">
              <a:xfrm>
                <a:off x="329397" y="507681"/>
                <a:ext cx="294065" cy="2518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defRPr/>
                </a:pPr>
                <a:r>
                  <a:rPr lang="zh-CN" sz="16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ГМ</a:t>
                </a:r>
                <a:endParaRPr/>
              </a:p>
            </p:txBody>
          </p:sp>
          <p:sp>
            <p:nvSpPr>
              <p:cNvPr id="1961900542" name="TextBox 47"/>
              <p:cNvSpPr txBox="1"/>
              <p:nvPr/>
            </p:nvSpPr>
            <p:spPr bwMode="auto">
              <a:xfrm>
                <a:off x="916305" y="235267"/>
                <a:ext cx="1313032" cy="2061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350" b="1">
                    <a:solidFill>
                      <a:srgbClr val="111827"/>
                    </a:solidFill>
                    <a:latin typeface="Arial"/>
                    <a:ea typeface="Microsoft YaHei"/>
                    <a:cs typeface="Arial"/>
                  </a:rPr>
                  <a:t>Глеб Медведев</a:t>
                </a:r>
                <a:endParaRPr/>
              </a:p>
            </p:txBody>
          </p:sp>
          <p:sp>
            <p:nvSpPr>
              <p:cNvPr id="1753102412" name="TextBox 48"/>
              <p:cNvSpPr txBox="1"/>
              <p:nvPr/>
            </p:nvSpPr>
            <p:spPr bwMode="auto">
              <a:xfrm>
                <a:off x="920115" y="515302"/>
                <a:ext cx="1437276" cy="16037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28575" dir="5400000" algn="ctr" rotWithShape="0">
                  <a:srgbClr val="0F2A44">
                    <a:alpha val="525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defRPr/>
                </a:pPr>
                <a:r>
                  <a:rPr lang="zh-CN" sz="1050" b="1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документация и демо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400" advClick="1">
        <p:fade thruBlk="0"/>
      </p:transition>
    </mc:Choice>
    <mc:Fallback>
      <p:transition spd="med" advClick="1">
        <p:fade thruBlk="0"/>
      </p:transition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R7-Office/2024.1.1.375</Application>
  <DocSecurity>0</DocSecurity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dc:identifier/>
  <dc:language/>
  <cp:lastModifiedBy>Давид Сухашвили</cp:lastModifiedBy>
  <cp:revision>2</cp:revision>
  <dcterms:created xsi:type="dcterms:W3CDTF">2013-01-27T09:14:16Z</dcterms:created>
  <dcterms:modified xsi:type="dcterms:W3CDTF">2026-05-16T17:26:16Z</dcterms:modified>
  <cp:category/>
  <cp:contentStatus/>
  <cp:version/>
</cp:coreProperties>
</file>